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x="18288000" cy="10287000"/>
  <p:notesSz cx="6858000" cy="9144000"/>
  <p:embeddedFontLst>
    <p:embeddedFont>
      <p:font typeface="Calibri (MS) Bold" charset="1" panose="020F0702030404030204"/>
      <p:regular r:id="rId58"/>
    </p:embeddedFont>
    <p:embeddedFont>
      <p:font typeface="Calibri (MS)" charset="1" panose="020F0502020204030204"/>
      <p:regular r:id="rId59"/>
    </p:embeddedFont>
    <p:embeddedFont>
      <p:font typeface="Arimo" charset="1" panose="020B0604020202020204"/>
      <p:regular r:id="rId60"/>
    </p:embeddedFont>
    <p:embeddedFont>
      <p:font typeface="Poppins Bold" charset="1" panose="00000800000000000000"/>
      <p:regular r:id="rId61"/>
    </p:embeddedFont>
    <p:embeddedFont>
      <p:font typeface="Poppins" charset="1" panose="00000500000000000000"/>
      <p:regular r:id="rId62"/>
    </p:embeddedFont>
    <p:embeddedFont>
      <p:font typeface="Poppins Bold Italics" charset="1" panose="00000800000000000000"/>
      <p:regular r:id="rId63"/>
    </p:embeddedFont>
    <p:embeddedFont>
      <p:font typeface="Poppins Italics" charset="1" panose="00000500000000000000"/>
      <p:regular r:id="rId6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fonts/font58.fntdata" Type="http://schemas.openxmlformats.org/officeDocument/2006/relationships/font"/><Relationship Id="rId59" Target="fonts/font59.fntdata" Type="http://schemas.openxmlformats.org/officeDocument/2006/relationships/font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61" Target="fonts/font61.fntdata" Type="http://schemas.openxmlformats.org/officeDocument/2006/relationships/font"/><Relationship Id="rId62" Target="fonts/font62.fntdata" Type="http://schemas.openxmlformats.org/officeDocument/2006/relationships/font"/><Relationship Id="rId63" Target="fonts/font63.fntdata" Type="http://schemas.openxmlformats.org/officeDocument/2006/relationships/font"/><Relationship Id="rId64" Target="fonts/font64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jpeg" Type="http://schemas.openxmlformats.org/officeDocument/2006/relationships/image"/><Relationship Id="rId8" Target="../media/VAHPM5crRp8.mp4" Type="http://schemas.openxmlformats.org/officeDocument/2006/relationships/video"/><Relationship Id="rId9" Target="../media/VAHPM5crRp8.mp4" Type="http://schemas.microsoft.com/office/2007/relationships/media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7.png" Type="http://schemas.openxmlformats.org/officeDocument/2006/relationships/imag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3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1.jpeg" Type="http://schemas.openxmlformats.org/officeDocument/2006/relationships/image"/><Relationship Id="rId5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68720" y="2927756"/>
            <a:ext cx="20722427" cy="753543"/>
            <a:chOff x="0" y="0"/>
            <a:chExt cx="20132523" cy="7320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32529" cy="732092"/>
            </a:xfrm>
            <a:custGeom>
              <a:avLst/>
              <a:gdLst/>
              <a:ahLst/>
              <a:cxnLst/>
              <a:rect r="r" b="b" t="t" l="l"/>
              <a:pathLst>
                <a:path h="732092" w="20132529">
                  <a:moveTo>
                    <a:pt x="0" y="0"/>
                  </a:moveTo>
                  <a:lnTo>
                    <a:pt x="20132529" y="0"/>
                  </a:lnTo>
                  <a:lnTo>
                    <a:pt x="20132529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32523" cy="7797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b="true" sz="2101">
                  <a:solidFill>
                    <a:srgbClr val="D32F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SOCIAL MEDIA STRATEGY   ·   CREATIVE PROPOSAL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868720" y="6113540"/>
            <a:ext cx="19823744" cy="720863"/>
            <a:chOff x="0" y="0"/>
            <a:chExt cx="20132523" cy="7320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32529" cy="732092"/>
            </a:xfrm>
            <a:custGeom>
              <a:avLst/>
              <a:gdLst/>
              <a:ahLst/>
              <a:cxnLst/>
              <a:rect r="r" b="b" t="t" l="l"/>
              <a:pathLst>
                <a:path h="732092" w="20132529">
                  <a:moveTo>
                    <a:pt x="0" y="0"/>
                  </a:moveTo>
                  <a:lnTo>
                    <a:pt x="20132529" y="0"/>
                  </a:lnTo>
                  <a:lnTo>
                    <a:pt x="20132529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0132523" cy="7797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unified social strategy for three brands, one group.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868720" y="7030917"/>
            <a:ext cx="9745970" cy="1433227"/>
            <a:chOff x="0" y="0"/>
            <a:chExt cx="12994627" cy="1910969"/>
          </a:xfrm>
        </p:grpSpPr>
        <p:sp>
          <p:nvSpPr>
            <p:cNvPr name="Freeform 9" id="9" descr="/tmp/build/brands_strip.png"/>
            <p:cNvSpPr/>
            <p:nvPr/>
          </p:nvSpPr>
          <p:spPr>
            <a:xfrm flipH="false" flipV="false" rot="0">
              <a:off x="0" y="0"/>
              <a:ext cx="12994640" cy="1910969"/>
            </a:xfrm>
            <a:custGeom>
              <a:avLst/>
              <a:gdLst/>
              <a:ahLst/>
              <a:cxnLst/>
              <a:rect r="r" b="b" t="t" l="l"/>
              <a:pathLst>
                <a:path h="1910969" w="12994640">
                  <a:moveTo>
                    <a:pt x="469900" y="0"/>
                  </a:moveTo>
                  <a:lnTo>
                    <a:pt x="12524740" y="0"/>
                  </a:lnTo>
                  <a:cubicBezTo>
                    <a:pt x="12649365" y="0"/>
                    <a:pt x="12768886" y="49507"/>
                    <a:pt x="12857010" y="137631"/>
                  </a:cubicBezTo>
                  <a:cubicBezTo>
                    <a:pt x="12945133" y="225754"/>
                    <a:pt x="12994640" y="345275"/>
                    <a:pt x="12994640" y="469900"/>
                  </a:cubicBezTo>
                  <a:lnTo>
                    <a:pt x="12994640" y="1441069"/>
                  </a:lnTo>
                  <a:cubicBezTo>
                    <a:pt x="12994640" y="1700588"/>
                    <a:pt x="12784258" y="1910969"/>
                    <a:pt x="12524740" y="1910969"/>
                  </a:cubicBezTo>
                  <a:lnTo>
                    <a:pt x="469900" y="1910969"/>
                  </a:lnTo>
                  <a:cubicBezTo>
                    <a:pt x="345275" y="1910969"/>
                    <a:pt x="225754" y="1861462"/>
                    <a:pt x="137631" y="1773338"/>
                  </a:cubicBezTo>
                  <a:cubicBezTo>
                    <a:pt x="49507" y="1685215"/>
                    <a:pt x="0" y="1565694"/>
                    <a:pt x="0" y="1441069"/>
                  </a:cubicBezTo>
                  <a:lnTo>
                    <a:pt x="0" y="469900"/>
                  </a:lnTo>
                  <a:cubicBezTo>
                    <a:pt x="0" y="210381"/>
                    <a:pt x="210381" y="0"/>
                    <a:pt x="4699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-1120140"/>
            <a:ext cx="4319997" cy="12527280"/>
            <a:chOff x="0" y="0"/>
            <a:chExt cx="5759996" cy="16703040"/>
          </a:xfrm>
        </p:grpSpPr>
        <p:sp>
          <p:nvSpPr>
            <p:cNvPr name="Freeform 11" id="11" descr="A letter e with rainbow colors  Description automatically generated"/>
            <p:cNvSpPr/>
            <p:nvPr/>
          </p:nvSpPr>
          <p:spPr>
            <a:xfrm flipH="false" flipV="false" rot="0">
              <a:off x="0" y="0"/>
              <a:ext cx="5759958" cy="16703039"/>
            </a:xfrm>
            <a:custGeom>
              <a:avLst/>
              <a:gdLst/>
              <a:ahLst/>
              <a:cxnLst/>
              <a:rect r="r" b="b" t="t" l="l"/>
              <a:pathLst>
                <a:path h="16703039" w="5759958">
                  <a:moveTo>
                    <a:pt x="0" y="0"/>
                  </a:moveTo>
                  <a:lnTo>
                    <a:pt x="5759958" y="0"/>
                  </a:lnTo>
                  <a:lnTo>
                    <a:pt x="5759958" y="16703039"/>
                  </a:lnTo>
                  <a:lnTo>
                    <a:pt x="0" y="16703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9999"/>
              </a:blip>
              <a:stretch>
                <a:fillRect l="-42373" t="12993" r="-42374" b="904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1440" y="9864652"/>
            <a:ext cx="413711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Emotion MENA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87470" y="0"/>
            <a:ext cx="2333816" cy="98982"/>
          </a:xfrm>
          <a:custGeom>
            <a:avLst/>
            <a:gdLst/>
            <a:ahLst/>
            <a:cxnLst/>
            <a:rect r="r" b="b" t="t" l="l"/>
            <a:pathLst>
              <a:path h="98982" w="2333816">
                <a:moveTo>
                  <a:pt x="0" y="0"/>
                </a:moveTo>
                <a:lnTo>
                  <a:pt x="2333815" y="0"/>
                </a:lnTo>
                <a:lnTo>
                  <a:pt x="2333815" y="98982"/>
                </a:lnTo>
                <a:lnTo>
                  <a:pt x="0" y="989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52509" r="0" b="-5252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-19050" y="0"/>
            <a:ext cx="4319997" cy="10287000"/>
            <a:chOff x="0" y="0"/>
            <a:chExt cx="5759996" cy="13716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759996" cy="13716000"/>
              <a:chOff x="0" y="0"/>
              <a:chExt cx="5759996" cy="13716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759958" cy="137160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0" w="5759958">
                    <a:moveTo>
                      <a:pt x="0" y="0"/>
                    </a:moveTo>
                    <a:lnTo>
                      <a:pt x="5759958" y="0"/>
                    </a:lnTo>
                    <a:lnTo>
                      <a:pt x="5759958" y="13716000"/>
                    </a:lnTo>
                    <a:lnTo>
                      <a:pt x="0" y="13716000"/>
                    </a:lnTo>
                    <a:close/>
                  </a:path>
                </a:pathLst>
              </a:custGeom>
              <a:solidFill>
                <a:srgbClr val="1C1B27"/>
              </a:solidFill>
            </p:spPr>
          </p:sp>
        </p:grpSp>
        <p:pic>
          <p:nvPicPr>
            <p:cNvPr name="Picture 17" id="17" descr="A black rectangular object with a white circle  Description automatically generated">
              <a:hlinkClick action="ppaction://media"/>
            </p:cNvPr>
            <p:cNvPicPr>
              <a:picLocks noChangeAspect="true"/>
            </p:cNvPicPr>
            <p:nvPr>
              <a:videoFile r:link="rId8"/>
              <p:extLst>
                <p:ext uri="{DAA4B4D4-6D71-4841-9C94-3DE7FCFB9230}">
                  <p14:media xmlns:p14="http://schemas.microsoft.com/office/powerpoint/2010/main" r:embed="rId9"/>
                </p:ext>
              </p:extLst>
            </p:nvPr>
          </p:nvPicPr>
          <p:blipFill>
            <a:blip r:embed="rId7"/>
            <a:srcRect l="24457" t="0" r="20315" b="657"/>
            <a:stretch>
              <a:fillRect/>
            </a:stretch>
          </p:blipFill>
          <p:spPr>
            <a:xfrm flipH="false" flipV="false" rot="0">
              <a:off x="1075360" y="5482399"/>
              <a:ext cx="3363760" cy="3403600"/>
            </a:xfrm>
            <a:prstGeom prst="rect">
              <a:avLst/>
            </a:prstGeom>
          </p:spPr>
        </p:pic>
        <p:grpSp>
          <p:nvGrpSpPr>
            <p:cNvPr name="Group 18" id="18"/>
            <p:cNvGrpSpPr/>
            <p:nvPr/>
          </p:nvGrpSpPr>
          <p:grpSpPr>
            <a:xfrm rot="0">
              <a:off x="1036396" y="5463349"/>
              <a:ext cx="3441700" cy="3441700"/>
              <a:chOff x="0" y="0"/>
              <a:chExt cx="3441700" cy="34417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441700" cy="3441700"/>
              </a:xfrm>
              <a:custGeom>
                <a:avLst/>
                <a:gdLst/>
                <a:ahLst/>
                <a:cxnLst/>
                <a:rect r="r" b="b" t="t" l="l"/>
                <a:pathLst>
                  <a:path h="3441700" w="3441700">
                    <a:moveTo>
                      <a:pt x="0" y="1720850"/>
                    </a:moveTo>
                    <a:cubicBezTo>
                      <a:pt x="0" y="770509"/>
                      <a:pt x="770509" y="0"/>
                      <a:pt x="1720850" y="0"/>
                    </a:cubicBezTo>
                    <a:cubicBezTo>
                      <a:pt x="2671191" y="0"/>
                      <a:pt x="3441700" y="770509"/>
                      <a:pt x="3441700" y="1720850"/>
                    </a:cubicBezTo>
                    <a:cubicBezTo>
                      <a:pt x="3441700" y="2671191"/>
                      <a:pt x="2671191" y="3441700"/>
                      <a:pt x="1720850" y="3441700"/>
                    </a:cubicBezTo>
                    <a:cubicBezTo>
                      <a:pt x="770509" y="3441700"/>
                      <a:pt x="0" y="2671191"/>
                      <a:pt x="0" y="1720850"/>
                    </a:cubicBez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8303" t="0" r="-78303" b="0"/>
                </a:stretch>
              </a:blip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</p:grpSp>
      </p:grpSp>
      <p:sp>
        <p:nvSpPr>
          <p:cNvPr name="TextBox 20" id="20"/>
          <p:cNvSpPr txBox="true"/>
          <p:nvPr/>
        </p:nvSpPr>
        <p:spPr>
          <a:xfrm rot="0">
            <a:off x="4868720" y="3634368"/>
            <a:ext cx="14800247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5"/>
              </a:lnSpc>
            </a:pPr>
            <a:r>
              <a:rPr lang="en-US" sz="7287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Taajeer Automotiv</a:t>
            </a:r>
            <a:r>
              <a:rPr lang="en-US" sz="7287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 Social Media Strategy &amp; Creative Proposal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411437" y="9705127"/>
            <a:ext cx="1378512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808080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©Emotion Group All rights reserved. 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808080"/>
                </a:solidFill>
                <a:latin typeface="Calibri (MS)"/>
                <a:ea typeface="Calibri (MS)"/>
                <a:cs typeface="Calibri (MS)"/>
                <a:sym typeface="Calibri (MS)"/>
              </a:rPr>
              <a:t>This design is the property of Emotion Group and may not be used, reproduced, or distributed without permission. Unauthorized use of this design may result in legal action.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868720" y="1670456"/>
            <a:ext cx="14800247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5"/>
              </a:lnSpc>
            </a:pPr>
            <a:r>
              <a:rPr lang="en-US" b="true" sz="7287">
                <a:solidFill>
                  <a:srgbClr val="E4562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JULY 2026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736181" y="1647560"/>
            <a:ext cx="17846752" cy="1235405"/>
            <a:chOff x="0" y="0"/>
            <a:chExt cx="23795669" cy="16472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795676" cy="1647211"/>
            </a:xfrm>
            <a:custGeom>
              <a:avLst/>
              <a:gdLst/>
              <a:ahLst/>
              <a:cxnLst/>
              <a:rect r="r" b="b" t="t" l="l"/>
              <a:pathLst>
                <a:path h="1647211" w="23795676">
                  <a:moveTo>
                    <a:pt x="0" y="0"/>
                  </a:moveTo>
                  <a:lnTo>
                    <a:pt x="23795676" y="0"/>
                  </a:lnTo>
                  <a:lnTo>
                    <a:pt x="23795676" y="1647211"/>
                  </a:lnTo>
                  <a:lnTo>
                    <a:pt x="0" y="16472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150" r="15394" b="-188149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14300"/>
              <a:ext cx="23795669" cy="17615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4"/>
                </a:lnSpc>
              </a:pPr>
              <a:r>
                <a:rPr lang="en-US" sz="5103" b="true">
                  <a:solidFill>
                    <a:srgbClr val="141A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What's inside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697110" y="3130615"/>
            <a:ext cx="6451559" cy="686336"/>
            <a:chOff x="0" y="0"/>
            <a:chExt cx="8602078" cy="9151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02080" cy="915119"/>
            </a:xfrm>
            <a:custGeom>
              <a:avLst/>
              <a:gdLst/>
              <a:ahLst/>
              <a:cxnLst/>
              <a:rect r="r" b="b" t="t" l="l"/>
              <a:pathLst>
                <a:path h="915119" w="8602080">
                  <a:moveTo>
                    <a:pt x="0" y="0"/>
                  </a:moveTo>
                  <a:lnTo>
                    <a:pt x="8602080" y="0"/>
                  </a:lnTo>
                  <a:lnTo>
                    <a:pt x="8602080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158" r="0" b="-13315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602078" cy="962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141A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Overview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713742" y="3136590"/>
            <a:ext cx="8510568" cy="686336"/>
            <a:chOff x="0" y="0"/>
            <a:chExt cx="11347425" cy="9151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47425" cy="915119"/>
            </a:xfrm>
            <a:custGeom>
              <a:avLst/>
              <a:gdLst/>
              <a:ahLst/>
              <a:cxnLst/>
              <a:rect r="r" b="b" t="t" l="l"/>
              <a:pathLst>
                <a:path h="915119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613" r="0" b="-1916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1347425" cy="953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5C68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Portfolio map, market moment &amp; the strategic thesis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697110" y="4133499"/>
            <a:ext cx="6451559" cy="686336"/>
            <a:chOff x="0" y="0"/>
            <a:chExt cx="8602078" cy="9151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602080" cy="915119"/>
            </a:xfrm>
            <a:custGeom>
              <a:avLst/>
              <a:gdLst/>
              <a:ahLst/>
              <a:cxnLst/>
              <a:rect r="r" b="b" t="t" l="l"/>
              <a:pathLst>
                <a:path h="915119" w="8602080">
                  <a:moveTo>
                    <a:pt x="0" y="0"/>
                  </a:moveTo>
                  <a:lnTo>
                    <a:pt x="8602080" y="0"/>
                  </a:lnTo>
                  <a:lnTo>
                    <a:pt x="8602080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158" r="0" b="-13315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602078" cy="962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141A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Research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713742" y="4113906"/>
            <a:ext cx="8510568" cy="686336"/>
            <a:chOff x="0" y="0"/>
            <a:chExt cx="11347425" cy="91511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47425" cy="915119"/>
            </a:xfrm>
            <a:custGeom>
              <a:avLst/>
              <a:gdLst/>
              <a:ahLst/>
              <a:cxnLst/>
              <a:rect r="r" b="b" t="t" l="l"/>
              <a:pathLst>
                <a:path h="915119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613" r="0" b="-19161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1347425" cy="953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5C68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Audit, listening, competitors &amp; benchmarks — per brand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697110" y="5234134"/>
            <a:ext cx="6451559" cy="686336"/>
            <a:chOff x="0" y="0"/>
            <a:chExt cx="8602078" cy="91511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602080" cy="915119"/>
            </a:xfrm>
            <a:custGeom>
              <a:avLst/>
              <a:gdLst/>
              <a:ahLst/>
              <a:cxnLst/>
              <a:rect r="r" b="b" t="t" l="l"/>
              <a:pathLst>
                <a:path h="915119" w="8602080">
                  <a:moveTo>
                    <a:pt x="0" y="0"/>
                  </a:moveTo>
                  <a:lnTo>
                    <a:pt x="8602080" y="0"/>
                  </a:lnTo>
                  <a:lnTo>
                    <a:pt x="8602080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158" r="0" b="-13315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8602078" cy="962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141A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Approach &amp; Methodology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713742" y="5234134"/>
            <a:ext cx="8510568" cy="686336"/>
            <a:chOff x="0" y="0"/>
            <a:chExt cx="11347425" cy="91511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347425" cy="915119"/>
            </a:xfrm>
            <a:custGeom>
              <a:avLst/>
              <a:gdLst/>
              <a:ahLst/>
              <a:cxnLst/>
              <a:rect r="r" b="b" t="t" l="l"/>
              <a:pathLst>
                <a:path h="915119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613" r="0" b="-19161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1347425" cy="953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5C68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we work: one model, three priorities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697110" y="6330046"/>
            <a:ext cx="6451559" cy="686336"/>
            <a:chOff x="0" y="0"/>
            <a:chExt cx="8602078" cy="91511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602080" cy="915119"/>
            </a:xfrm>
            <a:custGeom>
              <a:avLst/>
              <a:gdLst/>
              <a:ahLst/>
              <a:cxnLst/>
              <a:rect r="r" b="b" t="t" l="l"/>
              <a:pathLst>
                <a:path h="915119" w="8602080">
                  <a:moveTo>
                    <a:pt x="0" y="0"/>
                  </a:moveTo>
                  <a:lnTo>
                    <a:pt x="8602080" y="0"/>
                  </a:lnTo>
                  <a:lnTo>
                    <a:pt x="8602080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158" r="0" b="-13315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8602078" cy="962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141A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 Audience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713742" y="6330046"/>
            <a:ext cx="8510568" cy="686336"/>
            <a:chOff x="0" y="0"/>
            <a:chExt cx="11347425" cy="91511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347425" cy="915119"/>
            </a:xfrm>
            <a:custGeom>
              <a:avLst/>
              <a:gdLst/>
              <a:ahLst/>
              <a:cxnLst/>
              <a:rect r="r" b="b" t="t" l="l"/>
              <a:pathLst>
                <a:path h="915119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613" r="0" b="-19161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1347425" cy="953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5C68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Who each brand is really talking to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697110" y="7435405"/>
            <a:ext cx="6451559" cy="686336"/>
            <a:chOff x="0" y="0"/>
            <a:chExt cx="8602078" cy="91511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602080" cy="915119"/>
            </a:xfrm>
            <a:custGeom>
              <a:avLst/>
              <a:gdLst/>
              <a:ahLst/>
              <a:cxnLst/>
              <a:rect r="r" b="b" t="t" l="l"/>
              <a:pathLst>
                <a:path h="915119" w="8602080">
                  <a:moveTo>
                    <a:pt x="0" y="0"/>
                  </a:moveTo>
                  <a:lnTo>
                    <a:pt x="8602080" y="0"/>
                  </a:lnTo>
                  <a:lnTo>
                    <a:pt x="8602080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158" r="0" b="-13315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8602078" cy="962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141A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Social Media Strategy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713742" y="7435405"/>
            <a:ext cx="8510568" cy="686336"/>
            <a:chOff x="0" y="0"/>
            <a:chExt cx="11347425" cy="91511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347425" cy="915119"/>
            </a:xfrm>
            <a:custGeom>
              <a:avLst/>
              <a:gdLst/>
              <a:ahLst/>
              <a:cxnLst/>
              <a:rect r="r" b="b" t="t" l="l"/>
              <a:pathLst>
                <a:path h="915119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613" r="0" b="-19161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1347425" cy="953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5C68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Archetypes, positioning, pillars &amp; tone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697110" y="8536040"/>
            <a:ext cx="6451559" cy="686336"/>
            <a:chOff x="0" y="0"/>
            <a:chExt cx="8602078" cy="91511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602080" cy="915119"/>
            </a:xfrm>
            <a:custGeom>
              <a:avLst/>
              <a:gdLst/>
              <a:ahLst/>
              <a:cxnLst/>
              <a:rect r="r" b="b" t="t" l="l"/>
              <a:pathLst>
                <a:path h="915119" w="8602080">
                  <a:moveTo>
                    <a:pt x="0" y="0"/>
                  </a:moveTo>
                  <a:lnTo>
                    <a:pt x="8602080" y="0"/>
                  </a:lnTo>
                  <a:lnTo>
                    <a:pt x="8602080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158" r="0" b="-13315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8602078" cy="962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141A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Channels Strategy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713742" y="8536040"/>
            <a:ext cx="8510568" cy="686336"/>
            <a:chOff x="0" y="0"/>
            <a:chExt cx="11347425" cy="91511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347425" cy="915119"/>
            </a:xfrm>
            <a:custGeom>
              <a:avLst/>
              <a:gdLst/>
              <a:ahLst/>
              <a:cxnLst/>
              <a:rect r="r" b="b" t="t" l="l"/>
              <a:pathLst>
                <a:path h="915119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613" r="0" b="-19161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1347425" cy="953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5C68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platform, every brand, mapped</a:t>
              </a: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2736181" y="657362"/>
            <a:ext cx="606417" cy="744243"/>
          </a:xfrm>
          <a:custGeom>
            <a:avLst/>
            <a:gdLst/>
            <a:ahLst/>
            <a:cxnLst/>
            <a:rect r="r" b="b" t="t" l="l"/>
            <a:pathLst>
              <a:path h="744243" w="606417">
                <a:moveTo>
                  <a:pt x="0" y="0"/>
                </a:moveTo>
                <a:lnTo>
                  <a:pt x="606417" y="0"/>
                </a:lnTo>
                <a:lnTo>
                  <a:pt x="606417" y="744243"/>
                </a:lnTo>
                <a:lnTo>
                  <a:pt x="0" y="7442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90" t="0" r="-11599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3617277" y="556228"/>
            <a:ext cx="4008686" cy="738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2"/>
              </a:lnSpc>
            </a:pPr>
            <a:r>
              <a:rPr lang="en-US" b="true" sz="3909">
                <a:solidFill>
                  <a:srgbClr val="D42E2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TABLE OF CONTENT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147837" y="2927040"/>
            <a:ext cx="646956" cy="96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5"/>
              </a:lnSpc>
            </a:pPr>
            <a:r>
              <a:rPr lang="en-US" sz="5025" b="true">
                <a:solidFill>
                  <a:srgbClr val="D42E2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147837" y="3961506"/>
            <a:ext cx="646956" cy="96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5"/>
              </a:lnSpc>
            </a:pPr>
            <a:r>
              <a:rPr lang="en-US" sz="5025" b="true">
                <a:solidFill>
                  <a:srgbClr val="D42E2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147837" y="4988660"/>
            <a:ext cx="646956" cy="96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5"/>
              </a:lnSpc>
            </a:pPr>
            <a:r>
              <a:rPr lang="en-US" sz="5025" b="true">
                <a:solidFill>
                  <a:srgbClr val="D42E2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147837" y="6089296"/>
            <a:ext cx="646956" cy="96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5"/>
              </a:lnSpc>
            </a:pPr>
            <a:r>
              <a:rPr lang="en-US" sz="5025" b="true">
                <a:solidFill>
                  <a:srgbClr val="D42E2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147837" y="7189931"/>
            <a:ext cx="646956" cy="96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5"/>
              </a:lnSpc>
            </a:pPr>
            <a:r>
              <a:rPr lang="en-US" sz="5025" b="true">
                <a:solidFill>
                  <a:srgbClr val="D42E2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147837" y="8290566"/>
            <a:ext cx="646956" cy="96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5"/>
              </a:lnSpc>
            </a:pPr>
            <a:r>
              <a:rPr lang="en-US" sz="5025" b="true">
                <a:solidFill>
                  <a:srgbClr val="D42E2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0" y="32097"/>
            <a:ext cx="2175243" cy="10287000"/>
            <a:chOff x="0" y="0"/>
            <a:chExt cx="2900324" cy="137160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900299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900299">
                  <a:moveTo>
                    <a:pt x="0" y="0"/>
                  </a:moveTo>
                  <a:lnTo>
                    <a:pt x="2900299" y="0"/>
                  </a:lnTo>
                  <a:lnTo>
                    <a:pt x="2900299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B27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0" y="-1362104"/>
            <a:ext cx="2160003" cy="12960589"/>
            <a:chOff x="0" y="0"/>
            <a:chExt cx="2880004" cy="17280785"/>
          </a:xfrm>
        </p:grpSpPr>
        <p:sp>
          <p:nvSpPr>
            <p:cNvPr name="Freeform 53" id="53" descr="A letter e with rainbow colors  Description automatically generated"/>
            <p:cNvSpPr/>
            <p:nvPr/>
          </p:nvSpPr>
          <p:spPr>
            <a:xfrm flipH="false" flipV="false" rot="0">
              <a:off x="0" y="0"/>
              <a:ext cx="2879979" cy="17280786"/>
            </a:xfrm>
            <a:custGeom>
              <a:avLst/>
              <a:gdLst/>
              <a:ahLst/>
              <a:cxnLst/>
              <a:rect r="r" b="b" t="t" l="l"/>
              <a:pathLst>
                <a:path h="17280786" w="2879979">
                  <a:moveTo>
                    <a:pt x="0" y="0"/>
                  </a:moveTo>
                  <a:lnTo>
                    <a:pt x="2879979" y="0"/>
                  </a:lnTo>
                  <a:lnTo>
                    <a:pt x="2879979" y="17280786"/>
                  </a:lnTo>
                  <a:lnTo>
                    <a:pt x="0" y="17280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19999"/>
              </a:blip>
              <a:stretch>
                <a:fillRect l="-187283" t="0" r="-229224" b="-5337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0" y="4087966"/>
            <a:ext cx="2175243" cy="2175243"/>
            <a:chOff x="0" y="0"/>
            <a:chExt cx="3960000" cy="3960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959987" cy="3960114"/>
            </a:xfrm>
            <a:custGeom>
              <a:avLst/>
              <a:gdLst/>
              <a:ahLst/>
              <a:cxnLst/>
              <a:rect r="r" b="b" t="t" l="l"/>
              <a:pathLst>
                <a:path h="3960114" w="3959987">
                  <a:moveTo>
                    <a:pt x="0" y="1980057"/>
                  </a:moveTo>
                  <a:cubicBezTo>
                    <a:pt x="0" y="886460"/>
                    <a:pt x="886460" y="0"/>
                    <a:pt x="1980057" y="0"/>
                  </a:cubicBezTo>
                  <a:cubicBezTo>
                    <a:pt x="3073654" y="0"/>
                    <a:pt x="3959987" y="886460"/>
                    <a:pt x="3959987" y="1980057"/>
                  </a:cubicBezTo>
                  <a:cubicBezTo>
                    <a:pt x="3959987" y="3073654"/>
                    <a:pt x="3073527" y="3960114"/>
                    <a:pt x="1979930" y="3960114"/>
                  </a:cubicBezTo>
                  <a:cubicBezTo>
                    <a:pt x="886333" y="3960114"/>
                    <a:pt x="0" y="3073527"/>
                    <a:pt x="0" y="19800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56" id="56"/>
          <p:cNvSpPr/>
          <p:nvPr/>
        </p:nvSpPr>
        <p:spPr>
          <a:xfrm flipH="false" flipV="false" rot="0">
            <a:off x="143963" y="4231929"/>
            <a:ext cx="1887317" cy="1887317"/>
          </a:xfrm>
          <a:custGeom>
            <a:avLst/>
            <a:gdLst/>
            <a:ahLst/>
            <a:cxnLst/>
            <a:rect r="r" b="b" t="t" l="l"/>
            <a:pathLst>
              <a:path h="1887317" w="1887317">
                <a:moveTo>
                  <a:pt x="0" y="0"/>
                </a:moveTo>
                <a:lnTo>
                  <a:pt x="1887317" y="0"/>
                </a:lnTo>
                <a:lnTo>
                  <a:pt x="1887317" y="1887317"/>
                </a:lnTo>
                <a:lnTo>
                  <a:pt x="0" y="18873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06356" y="-55238"/>
            <a:ext cx="1964426" cy="160068"/>
          </a:xfrm>
          <a:custGeom>
            <a:avLst/>
            <a:gdLst/>
            <a:ahLst/>
            <a:cxnLst/>
            <a:rect r="r" b="b" t="t" l="l"/>
            <a:pathLst>
              <a:path h="160068" w="1964426">
                <a:moveTo>
                  <a:pt x="0" y="0"/>
                </a:moveTo>
                <a:lnTo>
                  <a:pt x="1964427" y="0"/>
                </a:lnTo>
                <a:lnTo>
                  <a:pt x="1964427" y="160068"/>
                </a:lnTo>
                <a:lnTo>
                  <a:pt x="0" y="1600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3030931" y="9709766"/>
            <a:ext cx="15165629" cy="43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808080"/>
                </a:solidFill>
                <a:latin typeface="Arimo"/>
                <a:ea typeface="Arimo"/>
                <a:cs typeface="Arimo"/>
                <a:sym typeface="Arimo"/>
              </a:rPr>
              <a:t>Copyright ©Emotion Group All rights reserved. 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808080"/>
                </a:solidFill>
                <a:latin typeface="Arimo"/>
                <a:ea typeface="Arimo"/>
                <a:cs typeface="Arimo"/>
                <a:sym typeface="Arimo"/>
              </a:rPr>
              <a:t>This design is the property of Emotion Group and may not be used, reproduced, or distributed without permission. Unauthorized use of this design may result in legal action.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033695" y="-308391"/>
            <a:ext cx="5856875" cy="520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028"/>
              </a:lnSpc>
            </a:pPr>
            <a:r>
              <a:rPr lang="en-US" b="true" sz="30023">
                <a:solidFill>
                  <a:srgbClr val="ECE9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5628" y="3981605"/>
            <a:ext cx="22438387" cy="2076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61"/>
              </a:lnSpc>
            </a:pPr>
            <a:r>
              <a:rPr lang="en-US" sz="120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Overview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25628" y="8773825"/>
            <a:ext cx="6588824" cy="968950"/>
            <a:chOff x="0" y="0"/>
            <a:chExt cx="8785098" cy="1291933"/>
          </a:xfrm>
        </p:grpSpPr>
        <p:sp>
          <p:nvSpPr>
            <p:cNvPr name="Freeform 6" id="6" descr="/tmp/build/brands_strip.png"/>
            <p:cNvSpPr/>
            <p:nvPr/>
          </p:nvSpPr>
          <p:spPr>
            <a:xfrm flipH="false" flipV="false" rot="0">
              <a:off x="0" y="0"/>
              <a:ext cx="8785098" cy="1291971"/>
            </a:xfrm>
            <a:custGeom>
              <a:avLst/>
              <a:gdLst/>
              <a:ahLst/>
              <a:cxnLst/>
              <a:rect r="r" b="b" t="t" l="l"/>
              <a:pathLst>
                <a:path h="1291971" w="8785098">
                  <a:moveTo>
                    <a:pt x="330200" y="0"/>
                  </a:moveTo>
                  <a:lnTo>
                    <a:pt x="8454898" y="0"/>
                  </a:lnTo>
                  <a:cubicBezTo>
                    <a:pt x="8637262" y="0"/>
                    <a:pt x="8785098" y="147836"/>
                    <a:pt x="8785098" y="330200"/>
                  </a:cubicBezTo>
                  <a:lnTo>
                    <a:pt x="8785098" y="961771"/>
                  </a:lnTo>
                  <a:cubicBezTo>
                    <a:pt x="8785098" y="1049346"/>
                    <a:pt x="8750309" y="1133333"/>
                    <a:pt x="8688384" y="1195258"/>
                  </a:cubicBezTo>
                  <a:cubicBezTo>
                    <a:pt x="8626460" y="1257182"/>
                    <a:pt x="8542472" y="1291971"/>
                    <a:pt x="8454898" y="1291971"/>
                  </a:cubicBezTo>
                  <a:lnTo>
                    <a:pt x="330200" y="1291971"/>
                  </a:lnTo>
                  <a:cubicBezTo>
                    <a:pt x="147836" y="1291971"/>
                    <a:pt x="0" y="1144135"/>
                    <a:pt x="0" y="961771"/>
                  </a:cubicBezTo>
                  <a:lnTo>
                    <a:pt x="0" y="330200"/>
                  </a:lnTo>
                  <a:cubicBezTo>
                    <a:pt x="0" y="147836"/>
                    <a:pt x="147836" y="0"/>
                    <a:pt x="3302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23608" y="2252671"/>
            <a:ext cx="2859182" cy="1629053"/>
          </a:xfrm>
          <a:custGeom>
            <a:avLst/>
            <a:gdLst/>
            <a:ahLst/>
            <a:cxnLst/>
            <a:rect r="r" b="b" t="t" l="l"/>
            <a:pathLst>
              <a:path h="1629053" w="2859182">
                <a:moveTo>
                  <a:pt x="0" y="0"/>
                </a:moveTo>
                <a:lnTo>
                  <a:pt x="2859182" y="0"/>
                </a:lnTo>
                <a:lnTo>
                  <a:pt x="2859182" y="1629053"/>
                </a:lnTo>
                <a:lnTo>
                  <a:pt x="0" y="16290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2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7157" y="1862099"/>
            <a:ext cx="16883872" cy="1065886"/>
            <a:chOff x="0" y="0"/>
            <a:chExt cx="22511830" cy="14211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11827" cy="1421182"/>
            </a:xfrm>
            <a:custGeom>
              <a:avLst/>
              <a:gdLst/>
              <a:ahLst/>
              <a:cxnLst/>
              <a:rect r="r" b="b" t="t" l="l"/>
              <a:pathLst>
                <a:path h="1421182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421182"/>
                  </a:lnTo>
                  <a:lnTo>
                    <a:pt x="0" y="14211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2285" r="0" b="-25500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2511830" cy="1497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Three brands, one group, zero shared content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34685" y="2738704"/>
            <a:ext cx="16289188" cy="32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876">
                <a:solidFill>
                  <a:srgbClr val="5C6879"/>
                </a:solidFill>
                <a:latin typeface="Calibri (MS)"/>
                <a:ea typeface="Calibri (MS)"/>
                <a:cs typeface="Calibri (MS)"/>
                <a:sym typeface="Calibri (MS)"/>
              </a:rPr>
              <a:t>Taajeer Group runs three separate accounts as if they were three unrelated companies — while two share the same hotline.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15794" y="3632845"/>
            <a:ext cx="5422059" cy="137265"/>
            <a:chOff x="0" y="0"/>
            <a:chExt cx="7229412" cy="1830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29348" cy="183007"/>
            </a:xfrm>
            <a:custGeom>
              <a:avLst/>
              <a:gdLst/>
              <a:ahLst/>
              <a:cxnLst/>
              <a:rect r="r" b="b" t="t" l="l"/>
              <a:pathLst>
                <a:path h="183007" w="7229348">
                  <a:moveTo>
                    <a:pt x="0" y="0"/>
                  </a:moveTo>
                  <a:lnTo>
                    <a:pt x="7229348" y="0"/>
                  </a:lnTo>
                  <a:lnTo>
                    <a:pt x="7229348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55573" y="4788390"/>
            <a:ext cx="4598451" cy="411802"/>
            <a:chOff x="0" y="0"/>
            <a:chExt cx="6131268" cy="5490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31270" cy="549066"/>
            </a:xfrm>
            <a:custGeom>
              <a:avLst/>
              <a:gdLst/>
              <a:ahLst/>
              <a:cxnLst/>
              <a:rect r="r" b="b" t="t" l="l"/>
              <a:pathLst>
                <a:path h="549066" w="6131270">
                  <a:moveTo>
                    <a:pt x="0" y="0"/>
                  </a:moveTo>
                  <a:lnTo>
                    <a:pt x="6131270" y="0"/>
                  </a:lnTo>
                  <a:lnTo>
                    <a:pt x="6131270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7583" r="0" b="-16758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6131268" cy="5776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3C63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@bestune_sa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45515" y="5270516"/>
            <a:ext cx="4562608" cy="19069"/>
            <a:chOff x="0" y="0"/>
            <a:chExt cx="6083478" cy="254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083427" cy="25400"/>
            </a:xfrm>
            <a:custGeom>
              <a:avLst/>
              <a:gdLst/>
              <a:ahLst/>
              <a:cxnLst/>
              <a:rect r="r" b="b" t="t" l="l"/>
              <a:pathLst>
                <a:path h="25400" w="6083427">
                  <a:moveTo>
                    <a:pt x="0" y="0"/>
                  </a:moveTo>
                  <a:lnTo>
                    <a:pt x="6083427" y="25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4616753" r="0" b="-4616853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246489" y="5452396"/>
            <a:ext cx="4415571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A28"/>
                </a:solidFill>
                <a:latin typeface="Calibri (MS)"/>
                <a:ea typeface="Calibri (MS)"/>
                <a:cs typeface="Calibri (MS)"/>
                <a:sym typeface="Calibri (MS)"/>
              </a:rPr>
              <a:t>FAW passenger-vehicle franchise (SUVs, sedans).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6489" y="6413259"/>
            <a:ext cx="4415571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C6879"/>
                </a:solidFill>
                <a:latin typeface="Calibri (MS)"/>
                <a:ea typeface="Calibri (MS)"/>
                <a:cs typeface="Calibri (MS)"/>
                <a:sym typeface="Calibri (MS)"/>
              </a:rPr>
              <a:t>The portfolio's largest account.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55049" y="7201795"/>
            <a:ext cx="4598451" cy="549069"/>
            <a:chOff x="0" y="0"/>
            <a:chExt cx="6131268" cy="7320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31270" cy="732092"/>
            </a:xfrm>
            <a:custGeom>
              <a:avLst/>
              <a:gdLst/>
              <a:ahLst/>
              <a:cxnLst/>
              <a:rect r="r" b="b" t="t" l="l"/>
              <a:pathLst>
                <a:path h="732092" w="6131270">
                  <a:moveTo>
                    <a:pt x="0" y="0"/>
                  </a:moveTo>
                  <a:lnTo>
                    <a:pt x="6131270" y="0"/>
                  </a:lnTo>
                  <a:lnTo>
                    <a:pt x="613127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187" r="0" b="-11318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6131268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 b="true">
                  <a:solidFill>
                    <a:srgbClr val="3C63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32K followers · 2,217 posts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467294" y="3632845"/>
            <a:ext cx="5422059" cy="137265"/>
            <a:chOff x="0" y="0"/>
            <a:chExt cx="7229412" cy="1830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29348" cy="183007"/>
            </a:xfrm>
            <a:custGeom>
              <a:avLst/>
              <a:gdLst/>
              <a:ahLst/>
              <a:cxnLst/>
              <a:rect r="r" b="b" t="t" l="l"/>
              <a:pathLst>
                <a:path h="183007" w="7229348">
                  <a:moveTo>
                    <a:pt x="0" y="0"/>
                  </a:moveTo>
                  <a:lnTo>
                    <a:pt x="7229348" y="0"/>
                  </a:lnTo>
                  <a:lnTo>
                    <a:pt x="7229348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906549" y="4788390"/>
            <a:ext cx="4598451" cy="411802"/>
            <a:chOff x="0" y="0"/>
            <a:chExt cx="6131268" cy="5490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31270" cy="549066"/>
            </a:xfrm>
            <a:custGeom>
              <a:avLst/>
              <a:gdLst/>
              <a:ahLst/>
              <a:cxnLst/>
              <a:rect r="r" b="b" t="t" l="l"/>
              <a:pathLst>
                <a:path h="549066" w="6131270">
                  <a:moveTo>
                    <a:pt x="0" y="0"/>
                  </a:moveTo>
                  <a:lnTo>
                    <a:pt x="6131270" y="0"/>
                  </a:lnTo>
                  <a:lnTo>
                    <a:pt x="6131270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7583" r="0" b="-16758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6131268" cy="5776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1B8A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@212_saudi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897014" y="5270516"/>
            <a:ext cx="4562608" cy="19069"/>
            <a:chOff x="0" y="0"/>
            <a:chExt cx="6083478" cy="2542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83427" cy="25400"/>
            </a:xfrm>
            <a:custGeom>
              <a:avLst/>
              <a:gdLst/>
              <a:ahLst/>
              <a:cxnLst/>
              <a:rect r="r" b="b" t="t" l="l"/>
              <a:pathLst>
                <a:path h="25400" w="6083427">
                  <a:moveTo>
                    <a:pt x="0" y="0"/>
                  </a:moveTo>
                  <a:lnTo>
                    <a:pt x="6083427" y="25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4616753" r="0" b="-4616853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6997989" y="5452396"/>
            <a:ext cx="4415571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A28"/>
                </a:solidFill>
                <a:latin typeface="Calibri (MS)"/>
                <a:ea typeface="Calibri (MS)"/>
                <a:cs typeface="Calibri (MS)"/>
                <a:sym typeface="Calibri (MS)"/>
              </a:rPr>
              <a:t>BAW retro off-road 4x4 franchise.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97989" y="6413259"/>
            <a:ext cx="4415571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C6879"/>
                </a:solidFill>
                <a:latin typeface="Calibri (MS)"/>
                <a:ea typeface="Calibri (MS)"/>
                <a:cs typeface="Calibri (MS)"/>
                <a:sym typeface="Calibri (MS)"/>
              </a:rPr>
              <a:t>The newest account, the strongest story.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906549" y="7201795"/>
            <a:ext cx="4598451" cy="549069"/>
            <a:chOff x="0" y="0"/>
            <a:chExt cx="6131268" cy="7320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131270" cy="732092"/>
            </a:xfrm>
            <a:custGeom>
              <a:avLst/>
              <a:gdLst/>
              <a:ahLst/>
              <a:cxnLst/>
              <a:rect r="r" b="b" t="t" l="l"/>
              <a:pathLst>
                <a:path h="732092" w="6131270">
                  <a:moveTo>
                    <a:pt x="0" y="0"/>
                  </a:moveTo>
                  <a:lnTo>
                    <a:pt x="6131270" y="0"/>
                  </a:lnTo>
                  <a:lnTo>
                    <a:pt x="613127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187" r="0" b="-11318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6131268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 b="true">
                  <a:solidFill>
                    <a:srgbClr val="1B8A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Smallest footprint · richest heritage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218784" y="3632845"/>
            <a:ext cx="5422059" cy="137265"/>
            <a:chOff x="0" y="0"/>
            <a:chExt cx="7229412" cy="1830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229348" cy="183007"/>
            </a:xfrm>
            <a:custGeom>
              <a:avLst/>
              <a:gdLst/>
              <a:ahLst/>
              <a:cxnLst/>
              <a:rect r="r" b="b" t="t" l="l"/>
              <a:pathLst>
                <a:path h="183007" w="7229348">
                  <a:moveTo>
                    <a:pt x="0" y="0"/>
                  </a:moveTo>
                  <a:lnTo>
                    <a:pt x="7229348" y="0"/>
                  </a:lnTo>
                  <a:lnTo>
                    <a:pt x="7229348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658039" y="4788390"/>
            <a:ext cx="4598451" cy="411802"/>
            <a:chOff x="0" y="0"/>
            <a:chExt cx="6131268" cy="54906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131270" cy="549066"/>
            </a:xfrm>
            <a:custGeom>
              <a:avLst/>
              <a:gdLst/>
              <a:ahLst/>
              <a:cxnLst/>
              <a:rect r="r" b="b" t="t" l="l"/>
              <a:pathLst>
                <a:path h="549066" w="6131270">
                  <a:moveTo>
                    <a:pt x="0" y="0"/>
                  </a:moveTo>
                  <a:lnTo>
                    <a:pt x="6131270" y="0"/>
                  </a:lnTo>
                  <a:lnTo>
                    <a:pt x="6131270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7583" r="0" b="-16758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6131268" cy="5776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1892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@motorsouq_sa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648514" y="5270516"/>
            <a:ext cx="4562608" cy="19069"/>
            <a:chOff x="0" y="0"/>
            <a:chExt cx="6083478" cy="2542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083427" cy="25400"/>
            </a:xfrm>
            <a:custGeom>
              <a:avLst/>
              <a:gdLst/>
              <a:ahLst/>
              <a:cxnLst/>
              <a:rect r="r" b="b" t="t" l="l"/>
              <a:pathLst>
                <a:path h="25400" w="6083427">
                  <a:moveTo>
                    <a:pt x="0" y="0"/>
                  </a:moveTo>
                  <a:lnTo>
                    <a:pt x="6083427" y="25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4616753" r="0" b="-4616853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2749479" y="5452396"/>
            <a:ext cx="4415571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A28"/>
                </a:solidFill>
                <a:latin typeface="Calibri (MS)"/>
                <a:ea typeface="Calibri (MS)"/>
                <a:cs typeface="Calibri (MS)"/>
                <a:sym typeface="Calibri (MS)"/>
              </a:rPr>
              <a:t>Multi-brand dealer — 7 physical branches.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749479" y="6413259"/>
            <a:ext cx="4415571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C6879"/>
                </a:solidFill>
                <a:latin typeface="Calibri (MS)"/>
                <a:ea typeface="Calibri (MS)"/>
                <a:cs typeface="Calibri (MS)"/>
                <a:sym typeface="Calibri (MS)"/>
              </a:rPr>
              <a:t>A sales channel, not a brand voice.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658039" y="7201795"/>
            <a:ext cx="4598451" cy="549069"/>
            <a:chOff x="0" y="0"/>
            <a:chExt cx="6131268" cy="7320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131270" cy="732092"/>
            </a:xfrm>
            <a:custGeom>
              <a:avLst/>
              <a:gdLst/>
              <a:ahLst/>
              <a:cxnLst/>
              <a:rect r="r" b="b" t="t" l="l"/>
              <a:pathLst>
                <a:path h="732092" w="6131270">
                  <a:moveTo>
                    <a:pt x="0" y="0"/>
                  </a:moveTo>
                  <a:lnTo>
                    <a:pt x="6131270" y="0"/>
                  </a:lnTo>
                  <a:lnTo>
                    <a:pt x="613127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187" r="0" b="-11318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6131268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 b="true">
                  <a:solidFill>
                    <a:srgbClr val="1892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78K on X · near-zero engagement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6883872" y="9718519"/>
            <a:ext cx="686333" cy="411802"/>
            <a:chOff x="0" y="0"/>
            <a:chExt cx="915111" cy="54906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5115" cy="549066"/>
            </a:xfrm>
            <a:custGeom>
              <a:avLst/>
              <a:gdLst/>
              <a:ahLst/>
              <a:cxnLst/>
              <a:rect r="r" b="b" t="t" l="l"/>
              <a:pathLst>
                <a:path h="549066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-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915111" cy="5681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716059" y="579437"/>
            <a:ext cx="780732" cy="958177"/>
          </a:xfrm>
          <a:custGeom>
            <a:avLst/>
            <a:gdLst/>
            <a:ahLst/>
            <a:cxnLst/>
            <a:rect r="r" b="b" t="t" l="l"/>
            <a:pathLst>
              <a:path h="958177" w="780732">
                <a:moveTo>
                  <a:pt x="0" y="0"/>
                </a:moveTo>
                <a:lnTo>
                  <a:pt x="780732" y="0"/>
                </a:lnTo>
                <a:lnTo>
                  <a:pt x="780732" y="958176"/>
                </a:lnTo>
                <a:lnTo>
                  <a:pt x="0" y="9581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90" t="0" r="-11599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582924" y="471425"/>
            <a:ext cx="5340565" cy="964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6"/>
              </a:lnSpc>
            </a:pPr>
            <a:r>
              <a:rPr lang="en-US" b="true" sz="5032">
                <a:solidFill>
                  <a:srgbClr val="D42E2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OVERVIEW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6748540" y="4050471"/>
            <a:ext cx="1463098" cy="584127"/>
          </a:xfrm>
          <a:custGeom>
            <a:avLst/>
            <a:gdLst/>
            <a:ahLst/>
            <a:cxnLst/>
            <a:rect r="r" b="b" t="t" l="l"/>
            <a:pathLst>
              <a:path h="584127" w="1463098">
                <a:moveTo>
                  <a:pt x="0" y="0"/>
                </a:moveTo>
                <a:lnTo>
                  <a:pt x="1463098" y="0"/>
                </a:lnTo>
                <a:lnTo>
                  <a:pt x="1463098" y="584127"/>
                </a:lnTo>
                <a:lnTo>
                  <a:pt x="0" y="5841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5856" r="0" b="-74619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2495600" y="3967003"/>
            <a:ext cx="2058363" cy="751063"/>
          </a:xfrm>
          <a:custGeom>
            <a:avLst/>
            <a:gdLst/>
            <a:ahLst/>
            <a:cxnLst/>
            <a:rect r="r" b="b" t="t" l="l"/>
            <a:pathLst>
              <a:path h="751063" w="2058363">
                <a:moveTo>
                  <a:pt x="0" y="0"/>
                </a:moveTo>
                <a:lnTo>
                  <a:pt x="2058363" y="0"/>
                </a:lnTo>
                <a:lnTo>
                  <a:pt x="2058363" y="751063"/>
                </a:lnTo>
                <a:lnTo>
                  <a:pt x="0" y="7510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749" t="-39199" r="-16653" b="-54037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989524" y="3967003"/>
            <a:ext cx="1702890" cy="737919"/>
          </a:xfrm>
          <a:custGeom>
            <a:avLst/>
            <a:gdLst/>
            <a:ahLst/>
            <a:cxnLst/>
            <a:rect r="r" b="b" t="t" l="l"/>
            <a:pathLst>
              <a:path h="737919" w="1702890">
                <a:moveTo>
                  <a:pt x="0" y="0"/>
                </a:moveTo>
                <a:lnTo>
                  <a:pt x="1702890" y="0"/>
                </a:lnTo>
                <a:lnTo>
                  <a:pt x="1702890" y="737919"/>
                </a:lnTo>
                <a:lnTo>
                  <a:pt x="0" y="737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1561186" y="9646339"/>
            <a:ext cx="15165629" cy="43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808080"/>
                </a:solidFill>
                <a:latin typeface="Arimo"/>
                <a:ea typeface="Arimo"/>
                <a:cs typeface="Arimo"/>
                <a:sym typeface="Arimo"/>
              </a:rPr>
              <a:t>Copyright ©Emotion Group All rights reserved. 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808080"/>
                </a:solidFill>
                <a:latin typeface="Arimo"/>
                <a:ea typeface="Arimo"/>
                <a:cs typeface="Arimo"/>
                <a:sym typeface="Arimo"/>
              </a:rPr>
              <a:t>This design is the property of Emotion Group and may not be used, reproduced, or distributed without permission. Unauthorized use of this design may result in legal action.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11827" cy="1317766"/>
            </a:xfrm>
            <a:custGeom>
              <a:avLst/>
              <a:gdLst/>
              <a:ahLst/>
              <a:cxnLst/>
              <a:rect r="r" b="b" t="t" l="l"/>
              <a:pathLst>
                <a:path h="1317766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6"/>
                  </a:lnTo>
                  <a:lnTo>
                    <a:pt x="0" y="13177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511830" cy="1355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Chinese shift already happened. The content shift didn't.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73862" y="2076155"/>
            <a:ext cx="16289188" cy="309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8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The Saudi buyer no longer sees Chinese brands as a budget alternative — yet these brands still speak in the language of the spec sheet.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45436" y="2941711"/>
            <a:ext cx="6333353" cy="2569978"/>
            <a:chOff x="0" y="0"/>
            <a:chExt cx="8444471" cy="34266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444357" cy="3426517"/>
            </a:xfrm>
            <a:custGeom>
              <a:avLst/>
              <a:gdLst/>
              <a:ahLst/>
              <a:cxnLst/>
              <a:rect r="r" b="b" t="t" l="l"/>
              <a:pathLst>
                <a:path h="3426517" w="8444357">
                  <a:moveTo>
                    <a:pt x="0" y="195732"/>
                  </a:moveTo>
                  <a:cubicBezTo>
                    <a:pt x="0" y="87621"/>
                    <a:pt x="82550" y="0"/>
                    <a:pt x="184404" y="0"/>
                  </a:cubicBezTo>
                  <a:lnTo>
                    <a:pt x="8259953" y="0"/>
                  </a:lnTo>
                  <a:cubicBezTo>
                    <a:pt x="8361807" y="0"/>
                    <a:pt x="8444357" y="87621"/>
                    <a:pt x="8444357" y="195732"/>
                  </a:cubicBezTo>
                  <a:lnTo>
                    <a:pt x="8444357" y="3230785"/>
                  </a:lnTo>
                  <a:cubicBezTo>
                    <a:pt x="8444357" y="3338896"/>
                    <a:pt x="8361807" y="3426516"/>
                    <a:pt x="8259953" y="3426516"/>
                  </a:cubicBezTo>
                  <a:lnTo>
                    <a:pt x="184404" y="3426516"/>
                  </a:lnTo>
                  <a:cubicBezTo>
                    <a:pt x="82550" y="3426651"/>
                    <a:pt x="0" y="3339030"/>
                    <a:pt x="0" y="323078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66774" y="3253235"/>
            <a:ext cx="5490686" cy="1121623"/>
            <a:chOff x="0" y="0"/>
            <a:chExt cx="7320915" cy="14954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20920" cy="1495495"/>
            </a:xfrm>
            <a:custGeom>
              <a:avLst/>
              <a:gdLst/>
              <a:ahLst/>
              <a:cxnLst/>
              <a:rect r="r" b="b" t="t" l="l"/>
              <a:pathLst>
                <a:path h="1495495" w="7320920">
                  <a:moveTo>
                    <a:pt x="0" y="0"/>
                  </a:moveTo>
                  <a:lnTo>
                    <a:pt x="7320920" y="0"/>
                  </a:lnTo>
                  <a:lnTo>
                    <a:pt x="7320920" y="1495495"/>
                  </a:lnTo>
                  <a:lnTo>
                    <a:pt x="0" y="1495495"/>
                  </a:lnTo>
                  <a:close/>
                </a:path>
              </a:pathLst>
            </a:custGeom>
            <a:solidFill>
              <a:srgbClr val="ECE966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7320915" cy="15431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4"/>
                </a:lnSpc>
              </a:pPr>
              <a:r>
                <a:rPr lang="en-US" b="true" sz="4503">
                  <a:solidFill>
                    <a:srgbClr val="D42E2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5th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94225" y="4255284"/>
            <a:ext cx="5490686" cy="411802"/>
            <a:chOff x="0" y="0"/>
            <a:chExt cx="7320915" cy="5490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20920" cy="549066"/>
            </a:xfrm>
            <a:custGeom>
              <a:avLst/>
              <a:gdLst/>
              <a:ahLst/>
              <a:cxnLst/>
              <a:rect r="r" b="b" t="t" l="l"/>
              <a:pathLst>
                <a:path h="549066" w="7320920">
                  <a:moveTo>
                    <a:pt x="0" y="0"/>
                  </a:moveTo>
                  <a:lnTo>
                    <a:pt x="7320920" y="0"/>
                  </a:lnTo>
                  <a:lnTo>
                    <a:pt x="7320920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1" r="0" b="-20980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7320915" cy="5776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b="true" sz="1426" spc="150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LARGEST EXPORT MARKET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94225" y="4640570"/>
            <a:ext cx="5307806" cy="681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5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Saudi Arabia is now the world's 5th-largest market for Chinese cars — projected to cross 30%+ of new-car sales by end-2026.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45436" y="5549789"/>
            <a:ext cx="6333353" cy="2611745"/>
            <a:chOff x="0" y="0"/>
            <a:chExt cx="8444471" cy="34823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444357" cy="3482204"/>
            </a:xfrm>
            <a:custGeom>
              <a:avLst/>
              <a:gdLst/>
              <a:ahLst/>
              <a:cxnLst/>
              <a:rect r="r" b="b" t="t" l="l"/>
              <a:pathLst>
                <a:path h="3482204" w="8444357">
                  <a:moveTo>
                    <a:pt x="0" y="198913"/>
                  </a:moveTo>
                  <a:cubicBezTo>
                    <a:pt x="0" y="89045"/>
                    <a:pt x="82550" y="0"/>
                    <a:pt x="184404" y="0"/>
                  </a:cubicBezTo>
                  <a:lnTo>
                    <a:pt x="8259953" y="0"/>
                  </a:lnTo>
                  <a:cubicBezTo>
                    <a:pt x="8361807" y="0"/>
                    <a:pt x="8444357" y="89045"/>
                    <a:pt x="8444357" y="198913"/>
                  </a:cubicBezTo>
                  <a:lnTo>
                    <a:pt x="8444357" y="3283291"/>
                  </a:lnTo>
                  <a:cubicBezTo>
                    <a:pt x="8444357" y="3393159"/>
                    <a:pt x="8361807" y="3482204"/>
                    <a:pt x="8259953" y="3482204"/>
                  </a:cubicBezTo>
                  <a:lnTo>
                    <a:pt x="184404" y="3482204"/>
                  </a:lnTo>
                  <a:cubicBezTo>
                    <a:pt x="82550" y="3482340"/>
                    <a:pt x="0" y="3393296"/>
                    <a:pt x="0" y="328329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66774" y="5861314"/>
            <a:ext cx="5490686" cy="1121623"/>
            <a:chOff x="0" y="0"/>
            <a:chExt cx="7320915" cy="149549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20920" cy="1495495"/>
            </a:xfrm>
            <a:custGeom>
              <a:avLst/>
              <a:gdLst/>
              <a:ahLst/>
              <a:cxnLst/>
              <a:rect r="r" b="b" t="t" l="l"/>
              <a:pathLst>
                <a:path h="1495495" w="7320920">
                  <a:moveTo>
                    <a:pt x="0" y="0"/>
                  </a:moveTo>
                  <a:lnTo>
                    <a:pt x="7320920" y="0"/>
                  </a:lnTo>
                  <a:lnTo>
                    <a:pt x="7320920" y="1495495"/>
                  </a:lnTo>
                  <a:lnTo>
                    <a:pt x="0" y="14954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551" r="0" b="-3821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7320915" cy="15431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4"/>
                </a:lnSpc>
              </a:pPr>
              <a:r>
                <a:rPr lang="en-US" sz="4503" b="true">
                  <a:solidFill>
                    <a:srgbClr val="1878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APEAL '25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94225" y="6863363"/>
            <a:ext cx="5490686" cy="411802"/>
            <a:chOff x="0" y="0"/>
            <a:chExt cx="7320915" cy="54906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20920" cy="549066"/>
            </a:xfrm>
            <a:custGeom>
              <a:avLst/>
              <a:gdLst/>
              <a:ahLst/>
              <a:cxnLst/>
              <a:rect r="r" b="b" t="t" l="l"/>
              <a:pathLst>
                <a:path h="549066" w="7320920">
                  <a:moveTo>
                    <a:pt x="0" y="0"/>
                  </a:moveTo>
                  <a:lnTo>
                    <a:pt x="7320920" y="0"/>
                  </a:lnTo>
                  <a:lnTo>
                    <a:pt x="7320920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1" r="0" b="-20980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7320915" cy="5776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b="true" sz="1426" spc="150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DIRECT CROSS-SHOP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94225" y="7246591"/>
            <a:ext cx="5307806" cy="681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5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J.D. Power 2025 placed Chinese brands in direct competition with Japanese &amp; Korean rivals on design and cabin tech.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178218" y="2941711"/>
            <a:ext cx="10391988" cy="5219824"/>
            <a:chOff x="0" y="0"/>
            <a:chExt cx="13855984" cy="695976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855957" cy="6959815"/>
            </a:xfrm>
            <a:custGeom>
              <a:avLst/>
              <a:gdLst/>
              <a:ahLst/>
              <a:cxnLst/>
              <a:rect r="r" b="b" t="t" l="l"/>
              <a:pathLst>
                <a:path h="6959815" w="13855957">
                  <a:moveTo>
                    <a:pt x="0" y="198872"/>
                  </a:moveTo>
                  <a:cubicBezTo>
                    <a:pt x="0" y="89059"/>
                    <a:pt x="84263" y="0"/>
                    <a:pt x="188162" y="0"/>
                  </a:cubicBezTo>
                  <a:lnTo>
                    <a:pt x="13667795" y="0"/>
                  </a:lnTo>
                  <a:cubicBezTo>
                    <a:pt x="13771694" y="0"/>
                    <a:pt x="13855957" y="89059"/>
                    <a:pt x="13855957" y="198872"/>
                  </a:cubicBezTo>
                  <a:lnTo>
                    <a:pt x="13855957" y="6760949"/>
                  </a:lnTo>
                  <a:cubicBezTo>
                    <a:pt x="13855957" y="6870760"/>
                    <a:pt x="13771694" y="6959815"/>
                    <a:pt x="13667795" y="6959815"/>
                  </a:cubicBezTo>
                  <a:lnTo>
                    <a:pt x="188162" y="6959815"/>
                  </a:lnTo>
                  <a:cubicBezTo>
                    <a:pt x="84263" y="6959815"/>
                    <a:pt x="0" y="6870761"/>
                    <a:pt x="0" y="676094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7824235" y="3184598"/>
            <a:ext cx="9608706" cy="549069"/>
            <a:chOff x="0" y="0"/>
            <a:chExt cx="12811608" cy="7320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811609" cy="732092"/>
            </a:xfrm>
            <a:custGeom>
              <a:avLst/>
              <a:gdLst/>
              <a:ahLst/>
              <a:cxnLst/>
              <a:rect r="r" b="b" t="t" l="l"/>
              <a:pathLst>
                <a:path h="732092" w="12811609">
                  <a:moveTo>
                    <a:pt x="0" y="0"/>
                  </a:moveTo>
                  <a:lnTo>
                    <a:pt x="12811609" y="0"/>
                  </a:lnTo>
                  <a:lnTo>
                    <a:pt x="12811609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7" r="0" b="-29098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12811608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Weekly time spent per user — Saudi platforms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824235" y="3678765"/>
            <a:ext cx="9608706" cy="411802"/>
            <a:chOff x="0" y="0"/>
            <a:chExt cx="12811608" cy="54906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811609" cy="549066"/>
            </a:xfrm>
            <a:custGeom>
              <a:avLst/>
              <a:gdLst/>
              <a:ahLst/>
              <a:cxnLst/>
              <a:rect r="r" b="b" t="t" l="l"/>
              <a:pathLst>
                <a:path h="549066" w="12811609">
                  <a:moveTo>
                    <a:pt x="0" y="0"/>
                  </a:moveTo>
                  <a:lnTo>
                    <a:pt x="12811609" y="0"/>
                  </a:lnTo>
                  <a:lnTo>
                    <a:pt x="12811609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2" r="0" b="-40465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12811608" cy="5776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5C6879"/>
                  </a:solidFill>
                  <a:latin typeface="Poppins"/>
                  <a:ea typeface="Poppins"/>
                  <a:cs typeface="Poppins"/>
                  <a:sym typeface="Poppins"/>
                </a:rPr>
                <a:t>TikTok leads — where the category is decided, and where all three brands are dormant.</a:t>
              </a:r>
            </a:p>
          </p:txBody>
        </p:sp>
      </p:grpSp>
      <p:pic>
        <p:nvPicPr>
          <p:cNvPr name="Picture 33" id="3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255394" y="3144661"/>
            <a:ext cx="12229558" cy="5699761"/>
          </a:xfrm>
          <a:prstGeom prst="rect">
            <a:avLst/>
          </a:prstGeom>
        </p:spPr>
      </p:pic>
      <p:grpSp>
        <p:nvGrpSpPr>
          <p:cNvPr name="Group 34" id="34"/>
          <p:cNvGrpSpPr/>
          <p:nvPr/>
        </p:nvGrpSpPr>
        <p:grpSpPr>
          <a:xfrm rot="0">
            <a:off x="750108" y="8161534"/>
            <a:ext cx="16787784" cy="1098137"/>
            <a:chOff x="0" y="0"/>
            <a:chExt cx="22383712" cy="146418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383750" cy="1464183"/>
            </a:xfrm>
            <a:custGeom>
              <a:avLst/>
              <a:gdLst/>
              <a:ahLst/>
              <a:cxnLst/>
              <a:rect r="r" b="b" t="t" l="l"/>
              <a:pathLst>
                <a:path h="1464183" w="22383750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22219031" y="0"/>
                  </a:lnTo>
                  <a:cubicBezTo>
                    <a:pt x="22309964" y="0"/>
                    <a:pt x="22383750" y="73787"/>
                    <a:pt x="22383750" y="164719"/>
                  </a:cubicBezTo>
                  <a:lnTo>
                    <a:pt x="22383750" y="1299464"/>
                  </a:lnTo>
                  <a:cubicBezTo>
                    <a:pt x="22383750" y="1390396"/>
                    <a:pt x="22309964" y="1464183"/>
                    <a:pt x="22219031" y="1464183"/>
                  </a:cubicBezTo>
                  <a:lnTo>
                    <a:pt x="164719" y="1464183"/>
                  </a:lnTo>
                  <a:cubicBezTo>
                    <a:pt x="73787" y="1464183"/>
                    <a:pt x="0" y="1390396"/>
                    <a:pt x="0" y="1299464"/>
                  </a:cubicBezTo>
                  <a:close/>
                </a:path>
              </a:pathLst>
            </a:custGeom>
            <a:solidFill>
              <a:srgbClr val="D32F2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61912" y="8161534"/>
            <a:ext cx="15923000" cy="1098138"/>
            <a:chOff x="0" y="0"/>
            <a:chExt cx="21230666" cy="146418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230667" cy="1464185"/>
            </a:xfrm>
            <a:custGeom>
              <a:avLst/>
              <a:gdLst/>
              <a:ahLst/>
              <a:cxnLst/>
              <a:rect r="r" b="b" t="t" l="l"/>
              <a:pathLst>
                <a:path h="1464185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1464185"/>
                  </a:lnTo>
                  <a:lnTo>
                    <a:pt x="0" y="14641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2" r="0" b="-23253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21230666" cy="1483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takeaway:  </a:t>
              </a:r>
              <a:r>
                <a:rPr lang="en-US" sz="195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the shift in buying behaviour is complete. The shift in content has not begun. That gap is the opportunity.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6883872" y="9718519"/>
            <a:ext cx="686333" cy="411802"/>
            <a:chOff x="0" y="0"/>
            <a:chExt cx="915111" cy="54906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5115" cy="549066"/>
            </a:xfrm>
            <a:custGeom>
              <a:avLst/>
              <a:gdLst/>
              <a:ahLst/>
              <a:cxnLst/>
              <a:rect r="r" b="b" t="t" l="l"/>
              <a:pathLst>
                <a:path h="549066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-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915111" cy="5585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5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561186" y="9646339"/>
            <a:ext cx="1516562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808080"/>
                </a:solidFill>
                <a:latin typeface="Arimo"/>
                <a:ea typeface="Arimo"/>
                <a:cs typeface="Arimo"/>
                <a:sym typeface="Arimo"/>
              </a:rPr>
              <a:t>Copyright ©Emotion Group All rights reserved. 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808080"/>
                </a:solidFill>
                <a:latin typeface="Arimo"/>
                <a:ea typeface="Arimo"/>
                <a:cs typeface="Arimo"/>
                <a:sym typeface="Arimo"/>
              </a:rPr>
              <a:t>This design is the property of Emotion Group and may not be used, reproduced, or distributed without permission. Unauthorized use of this design may result in legal action.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Same group. Three completely different games.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86333" y="2140248"/>
            <a:ext cx="16289188" cy="62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8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The greatest risk in this portfolio is marketing all three brands in the same voice. They are not copies.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2171" y="4204196"/>
            <a:ext cx="4415571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2176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The family-trust game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11196" y="5056026"/>
            <a:ext cx="4562608" cy="19069"/>
            <a:chOff x="0" y="0"/>
            <a:chExt cx="6083478" cy="254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83427" cy="25400"/>
            </a:xfrm>
            <a:custGeom>
              <a:avLst/>
              <a:gdLst/>
              <a:ahLst/>
              <a:cxnLst/>
              <a:rect r="r" b="b" t="t" l="l"/>
              <a:pathLst>
                <a:path h="25400" w="6083427">
                  <a:moveTo>
                    <a:pt x="0" y="0"/>
                  </a:moveTo>
                  <a:lnTo>
                    <a:pt x="6083427" y="25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4616753" r="0" b="-4616853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212171" y="4689971"/>
            <a:ext cx="4415571" cy="2270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7"/>
              </a:lnSpc>
            </a:pPr>
            <a:r>
              <a:rPr lang="en-US" sz="17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SUVs and sedans for the family that cross-shops the Creta and Camry. The game: justify the price gap over the lower Chinese tier (SAR 83K vs 40–45K), anchored by a 5-yr / 150,000 km warranty and FAW's 68-year story.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63670" y="4204196"/>
            <a:ext cx="4415571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2176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The identity &amp; adventure game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862696" y="5056026"/>
            <a:ext cx="4562608" cy="19069"/>
            <a:chOff x="0" y="0"/>
            <a:chExt cx="6083478" cy="254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083427" cy="25400"/>
            </a:xfrm>
            <a:custGeom>
              <a:avLst/>
              <a:gdLst/>
              <a:ahLst/>
              <a:cxnLst/>
              <a:rect r="r" b="b" t="t" l="l"/>
              <a:pathLst>
                <a:path h="25400" w="6083427">
                  <a:moveTo>
                    <a:pt x="0" y="0"/>
                  </a:moveTo>
                  <a:lnTo>
                    <a:pt x="6083427" y="25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4616753" r="0" b="-4616853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6936215" y="4689971"/>
            <a:ext cx="4415571" cy="2270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7"/>
              </a:lnSpc>
            </a:pPr>
            <a:r>
              <a:rPr lang="en-US" sz="17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Not a family car — an enthusiast tool. It sells heritage (a 1960s military model) and off-road capability, not practicality. The game: own the retro off-roader conversation before Tank 300 locks it down.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73984" y="4220017"/>
            <a:ext cx="4415571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2176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Not a brand game at all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614196" y="5056026"/>
            <a:ext cx="4562608" cy="19069"/>
            <a:chOff x="0" y="0"/>
            <a:chExt cx="6083478" cy="254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83427" cy="25400"/>
            </a:xfrm>
            <a:custGeom>
              <a:avLst/>
              <a:gdLst/>
              <a:ahLst/>
              <a:cxnLst/>
              <a:rect r="r" b="b" t="t" l="l"/>
              <a:pathLst>
                <a:path h="25400" w="6083427">
                  <a:moveTo>
                    <a:pt x="0" y="0"/>
                  </a:moveTo>
                  <a:lnTo>
                    <a:pt x="6083427" y="25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4616753" r="0" b="-4616853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692129" y="4689971"/>
            <a:ext cx="4415571" cy="2270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7"/>
              </a:lnSpc>
            </a:pPr>
            <a:r>
              <a:rPr lang="en-US" sz="17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A retail entity. The game is different: not personality-building, but converting purchase intent into sales — and activating an under-used asset (7 branches) that feeds the sister brands.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50108" y="7608345"/>
            <a:ext cx="16787784" cy="1235402"/>
            <a:chOff x="0" y="0"/>
            <a:chExt cx="22383712" cy="16472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383750" cy="1647190"/>
            </a:xfrm>
            <a:custGeom>
              <a:avLst/>
              <a:gdLst/>
              <a:ahLst/>
              <a:cxnLst/>
              <a:rect r="r" b="b" t="t" l="l"/>
              <a:pathLst>
                <a:path h="1647190" w="22383750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22219031" y="0"/>
                  </a:lnTo>
                  <a:cubicBezTo>
                    <a:pt x="22309964" y="0"/>
                    <a:pt x="22383750" y="73787"/>
                    <a:pt x="22383750" y="164719"/>
                  </a:cubicBezTo>
                  <a:lnTo>
                    <a:pt x="22383750" y="1482471"/>
                  </a:lnTo>
                  <a:cubicBezTo>
                    <a:pt x="22383750" y="1573403"/>
                    <a:pt x="22309964" y="1647190"/>
                    <a:pt x="22219031" y="1647190"/>
                  </a:cubicBezTo>
                  <a:lnTo>
                    <a:pt x="164719" y="1647190"/>
                  </a:lnTo>
                  <a:cubicBezTo>
                    <a:pt x="73787" y="1647190"/>
                    <a:pt x="0" y="1573403"/>
                    <a:pt x="0" y="1482471"/>
                  </a:cubicBezTo>
                  <a:close/>
                </a:path>
              </a:pathLst>
            </a:custGeom>
            <a:solidFill>
              <a:srgbClr val="D32F2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61912" y="7608345"/>
            <a:ext cx="15923000" cy="1235405"/>
            <a:chOff x="0" y="0"/>
            <a:chExt cx="21230666" cy="164720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230667" cy="1647211"/>
            </a:xfrm>
            <a:custGeom>
              <a:avLst/>
              <a:gdLst/>
              <a:ahLst/>
              <a:cxnLst/>
              <a:rect r="r" b="b" t="t" l="l"/>
              <a:pathLst>
                <a:path h="1647211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1647211"/>
                  </a:lnTo>
                  <a:lnTo>
                    <a:pt x="0" y="1647211"/>
                  </a:lnTo>
                  <a:close/>
                </a:path>
              </a:pathLst>
            </a:custGeom>
            <a:solidFill>
              <a:srgbClr val="D32F26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21230666" cy="16757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4"/>
                </a:lnSpc>
              </a:pPr>
              <a:r>
                <a:rPr lang="en-US" b="true" sz="1876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insight:  </a:t>
              </a:r>
              <a:r>
                <a:rPr lang="en-US" sz="187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three games demand three content strategies. The adventure tone that fits 212 undermines the reassurance Bestune is built on. Unified in management — never in message.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6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561186" y="9646339"/>
            <a:ext cx="1516562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808080"/>
                </a:solidFill>
                <a:latin typeface="Arimo"/>
                <a:ea typeface="Arimo"/>
                <a:cs typeface="Arimo"/>
                <a:sym typeface="Arimo"/>
              </a:rPr>
              <a:t>Copyright ©Emotion Group All rights reserved. 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808080"/>
                </a:solidFill>
                <a:latin typeface="Arimo"/>
                <a:ea typeface="Arimo"/>
                <a:cs typeface="Arimo"/>
                <a:sym typeface="Arimo"/>
              </a:rPr>
              <a:t>This design is the property of Emotion Group and may not be used, reproduced, or distributed without permission. Unauthorized use of this design may result in legal action.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212171" y="3332927"/>
            <a:ext cx="1702890" cy="737919"/>
          </a:xfrm>
          <a:custGeom>
            <a:avLst/>
            <a:gdLst/>
            <a:ahLst/>
            <a:cxnLst/>
            <a:rect r="r" b="b" t="t" l="l"/>
            <a:pathLst>
              <a:path h="737919" w="1702890">
                <a:moveTo>
                  <a:pt x="0" y="0"/>
                </a:moveTo>
                <a:lnTo>
                  <a:pt x="1702890" y="0"/>
                </a:lnTo>
                <a:lnTo>
                  <a:pt x="1702890" y="737919"/>
                </a:lnTo>
                <a:lnTo>
                  <a:pt x="0" y="737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936215" y="3409823"/>
            <a:ext cx="1463098" cy="584127"/>
          </a:xfrm>
          <a:custGeom>
            <a:avLst/>
            <a:gdLst/>
            <a:ahLst/>
            <a:cxnLst/>
            <a:rect r="r" b="b" t="t" l="l"/>
            <a:pathLst>
              <a:path h="584127" w="1463098">
                <a:moveTo>
                  <a:pt x="0" y="0"/>
                </a:moveTo>
                <a:lnTo>
                  <a:pt x="1463098" y="0"/>
                </a:lnTo>
                <a:lnTo>
                  <a:pt x="1463098" y="584127"/>
                </a:lnTo>
                <a:lnTo>
                  <a:pt x="0" y="5841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5856" r="0" b="-74619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673984" y="3326355"/>
            <a:ext cx="2058363" cy="751063"/>
          </a:xfrm>
          <a:custGeom>
            <a:avLst/>
            <a:gdLst/>
            <a:ahLst/>
            <a:cxnLst/>
            <a:rect r="r" b="b" t="t" l="l"/>
            <a:pathLst>
              <a:path h="751063" w="2058363">
                <a:moveTo>
                  <a:pt x="0" y="0"/>
                </a:moveTo>
                <a:lnTo>
                  <a:pt x="2058363" y="0"/>
                </a:lnTo>
                <a:lnTo>
                  <a:pt x="2058363" y="751062"/>
                </a:lnTo>
                <a:lnTo>
                  <a:pt x="0" y="7510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749" t="-39199" r="-16653" b="-54037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851059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B8873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837333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B887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 · OVERVIEW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54971" y="1565433"/>
            <a:ext cx="16700992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This category is won on content, not spec sheets.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3603" y="2475771"/>
            <a:ext cx="15740120" cy="1054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2"/>
              </a:lnSpc>
            </a:pPr>
            <a:r>
              <a:rPr lang="en-US" sz="225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Every Chinese brand in the Saudi market says the same thing — price, warranty, specs. The winning brand won't be the one with the best specs; it will be the one with the best story.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80212" y="4373120"/>
            <a:ext cx="137265" cy="3225784"/>
            <a:chOff x="0" y="0"/>
            <a:chExt cx="183020" cy="43010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3007" cy="4300982"/>
            </a:xfrm>
            <a:custGeom>
              <a:avLst/>
              <a:gdLst/>
              <a:ahLst/>
              <a:cxnLst/>
              <a:rect r="r" b="b" t="t" l="l"/>
              <a:pathLst>
                <a:path h="430098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4300982"/>
                  </a:lnTo>
                  <a:lnTo>
                    <a:pt x="0" y="4300982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92016" y="4730013"/>
            <a:ext cx="4735716" cy="517709"/>
            <a:chOff x="0" y="0"/>
            <a:chExt cx="6314288" cy="6902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14293" cy="690284"/>
            </a:xfrm>
            <a:custGeom>
              <a:avLst/>
              <a:gdLst/>
              <a:ahLst/>
              <a:cxnLst/>
              <a:rect r="r" b="b" t="t" l="l"/>
              <a:pathLst>
                <a:path h="690284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690284"/>
                  </a:lnTo>
                  <a:lnTo>
                    <a:pt x="0" y="6902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37" r="0" b="-12463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6314288" cy="7093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b="true" sz="2101" spc="150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JETOUR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83456" y="5250849"/>
            <a:ext cx="4552836" cy="54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Won on content, not spec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3456" y="5978369"/>
            <a:ext cx="4484208" cy="143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165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Despite an entry price higher than several rivals, Jetour led Chinese-brand sales in the UAE in 2024 by selling a journey, not a car.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531712" y="4373120"/>
            <a:ext cx="137265" cy="3225784"/>
            <a:chOff x="0" y="0"/>
            <a:chExt cx="183020" cy="430104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3007" cy="4300982"/>
            </a:xfrm>
            <a:custGeom>
              <a:avLst/>
              <a:gdLst/>
              <a:ahLst/>
              <a:cxnLst/>
              <a:rect r="r" b="b" t="t" l="l"/>
              <a:pathLst>
                <a:path h="430098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4300982"/>
                  </a:lnTo>
                  <a:lnTo>
                    <a:pt x="0" y="4300982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943506" y="4730013"/>
            <a:ext cx="4735716" cy="480431"/>
            <a:chOff x="0" y="0"/>
            <a:chExt cx="6314288" cy="6405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14293" cy="640580"/>
            </a:xfrm>
            <a:custGeom>
              <a:avLst/>
              <a:gdLst/>
              <a:ahLst/>
              <a:cxnLst/>
              <a:rect r="r" b="b" t="t" l="l"/>
              <a:pathLst>
                <a:path h="640580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067" r="0" b="-14206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6314288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b="true" sz="2101" spc="150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TANK 300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034946" y="5250849"/>
            <a:ext cx="4552836" cy="54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Proof, not price ads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34946" y="5978369"/>
            <a:ext cx="4484208" cy="143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165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Tank is locking down the KSA off-road conversation through community content and desert capability — not price advertising.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283202" y="4373120"/>
            <a:ext cx="137265" cy="3225784"/>
            <a:chOff x="0" y="0"/>
            <a:chExt cx="183020" cy="430104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3007" cy="4300982"/>
            </a:xfrm>
            <a:custGeom>
              <a:avLst/>
              <a:gdLst/>
              <a:ahLst/>
              <a:cxnLst/>
              <a:rect r="r" b="b" t="t" l="l"/>
              <a:pathLst>
                <a:path h="430098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4300982"/>
                  </a:lnTo>
                  <a:lnTo>
                    <a:pt x="0" y="4300982"/>
                  </a:lnTo>
                  <a:close/>
                </a:path>
              </a:pathLst>
            </a:custGeom>
            <a:solidFill>
              <a:srgbClr val="B8873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695006" y="4730013"/>
            <a:ext cx="4735716" cy="480431"/>
            <a:chOff x="0" y="0"/>
            <a:chExt cx="6314288" cy="64057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14293" cy="640580"/>
            </a:xfrm>
            <a:custGeom>
              <a:avLst/>
              <a:gdLst/>
              <a:ahLst/>
              <a:cxnLst/>
              <a:rect r="r" b="b" t="t" l="l"/>
              <a:pathLst>
                <a:path h="640580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067" r="0" b="-14206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6314288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b="true" sz="2101" spc="150">
                  <a:solidFill>
                    <a:srgbClr val="B887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OUR THREE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786446" y="5250849"/>
            <a:ext cx="4552836" cy="54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Static in a video market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786446" y="5978369"/>
            <a:ext cx="4484208" cy="143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165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All three brands spend energy on static offer posts, in a market watching vertical video 34 hours a week. That gap is ours.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82422" y="8441931"/>
            <a:ext cx="16472068" cy="686333"/>
            <a:chOff x="0" y="0"/>
            <a:chExt cx="21962758" cy="9151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62759" cy="915115"/>
            </a:xfrm>
            <a:custGeom>
              <a:avLst/>
              <a:gdLst/>
              <a:ahLst/>
              <a:cxnLst/>
              <a:rect r="r" b="b" t="t" l="l"/>
              <a:pathLst>
                <a:path h="915115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1" r="0" b="-41764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21962758" cy="934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5C6879"/>
                  </a:solidFill>
                  <a:latin typeface="Poppins"/>
                  <a:ea typeface="Poppins"/>
                  <a:cs typeface="Poppins"/>
                  <a:sym typeface="Poppins"/>
                </a:rPr>
                <a:t>The strategy that follows rests on a single principle:  </a:t>
              </a:r>
              <a:r>
                <a:rPr lang="en-US" sz="2101" b="true">
                  <a:solidFill>
                    <a:srgbClr val="B887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stop selling specs, and start building three stories.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033695" y="34509"/>
            <a:ext cx="5856875" cy="623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028"/>
              </a:lnSpc>
            </a:pPr>
            <a:r>
              <a:rPr lang="en-US" sz="30023" b="true">
                <a:solidFill>
                  <a:srgbClr val="1B8A5A">
                    <a:alpha val="15686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23608" y="4323921"/>
            <a:ext cx="686333" cy="68637"/>
            <a:chOff x="0" y="0"/>
            <a:chExt cx="915111" cy="915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5162" cy="91567"/>
            </a:xfrm>
            <a:custGeom>
              <a:avLst/>
              <a:gdLst/>
              <a:ahLst/>
              <a:cxnLst/>
              <a:rect r="r" b="b" t="t" l="l"/>
              <a:pathLst>
                <a:path h="91567" w="915162">
                  <a:moveTo>
                    <a:pt x="0" y="0"/>
                  </a:moveTo>
                  <a:lnTo>
                    <a:pt x="915162" y="0"/>
                  </a:lnTo>
                  <a:lnTo>
                    <a:pt x="915162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3608" y="4529823"/>
            <a:ext cx="10981382" cy="549069"/>
            <a:chOff x="0" y="0"/>
            <a:chExt cx="14641843" cy="7320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1840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4641843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b="true" sz="1951" spc="750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SECTION TWO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77773" y="5067462"/>
            <a:ext cx="12857512" cy="1887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6"/>
              </a:lnSpc>
            </a:pPr>
            <a:r>
              <a:rPr lang="en-US" sz="690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54971" y="8922372"/>
            <a:ext cx="7137892" cy="905961"/>
            <a:chOff x="0" y="0"/>
            <a:chExt cx="9517190" cy="12079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17253" cy="1208024"/>
            </a:xfrm>
            <a:custGeom>
              <a:avLst/>
              <a:gdLst/>
              <a:ahLst/>
              <a:cxnLst/>
              <a:rect r="r" b="b" t="t" l="l"/>
              <a:pathLst>
                <a:path h="1208024" w="9517253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9370822" y="0"/>
                  </a:lnTo>
                  <a:cubicBezTo>
                    <a:pt x="9451721" y="0"/>
                    <a:pt x="9517253" y="65532"/>
                    <a:pt x="9517253" y="146431"/>
                  </a:cubicBezTo>
                  <a:lnTo>
                    <a:pt x="9517253" y="1061593"/>
                  </a:lnTo>
                  <a:cubicBezTo>
                    <a:pt x="9517253" y="1142492"/>
                    <a:pt x="9451721" y="1208024"/>
                    <a:pt x="9370822" y="1208024"/>
                  </a:cubicBezTo>
                  <a:lnTo>
                    <a:pt x="146431" y="1208024"/>
                  </a:lnTo>
                  <a:cubicBezTo>
                    <a:pt x="65532" y="1207897"/>
                    <a:pt x="0" y="1142365"/>
                    <a:pt x="0" y="106159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9500" y="9087088"/>
            <a:ext cx="6588824" cy="968950"/>
            <a:chOff x="0" y="0"/>
            <a:chExt cx="8785098" cy="1291933"/>
          </a:xfrm>
        </p:grpSpPr>
        <p:sp>
          <p:nvSpPr>
            <p:cNvPr name="Freeform 13" id="13" descr="/tmp/build/brands_strip.png"/>
            <p:cNvSpPr/>
            <p:nvPr/>
          </p:nvSpPr>
          <p:spPr>
            <a:xfrm flipH="false" flipV="false" rot="0">
              <a:off x="0" y="0"/>
              <a:ext cx="8785098" cy="1291971"/>
            </a:xfrm>
            <a:custGeom>
              <a:avLst/>
              <a:gdLst/>
              <a:ahLst/>
              <a:cxnLst/>
              <a:rect r="r" b="b" t="t" l="l"/>
              <a:pathLst>
                <a:path h="1291971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291971"/>
                  </a:lnTo>
                  <a:lnTo>
                    <a:pt x="0" y="1291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 · RESEARCH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Research overview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73862" y="2076155"/>
            <a:ext cx="16289188" cy="62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8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We map the landscape each brand operates in before building strategy — because the three fight three different battles, against three different opponents, for three different buyers.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2941711"/>
            <a:ext cx="5441118" cy="2078069"/>
            <a:chOff x="0" y="0"/>
            <a:chExt cx="7254824" cy="27707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54875" cy="2770886"/>
            </a:xfrm>
            <a:custGeom>
              <a:avLst/>
              <a:gdLst/>
              <a:ahLst/>
              <a:cxnLst/>
              <a:rect r="r" b="b" t="t" l="l"/>
              <a:pathLst>
                <a:path h="2770886" w="7254875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7070090" y="0"/>
                  </a:lnTo>
                  <a:cubicBezTo>
                    <a:pt x="7172072" y="0"/>
                    <a:pt x="7254875" y="82677"/>
                    <a:pt x="7254875" y="184785"/>
                  </a:cubicBezTo>
                  <a:lnTo>
                    <a:pt x="7254875" y="2586101"/>
                  </a:lnTo>
                  <a:cubicBezTo>
                    <a:pt x="7254875" y="2688082"/>
                    <a:pt x="7172198" y="2770886"/>
                    <a:pt x="7070090" y="2770886"/>
                  </a:cubicBezTo>
                  <a:lnTo>
                    <a:pt x="184785" y="2770886"/>
                  </a:lnTo>
                  <a:cubicBezTo>
                    <a:pt x="82677" y="2770759"/>
                    <a:pt x="0" y="2688082"/>
                    <a:pt x="0" y="258610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66774" y="3253235"/>
            <a:ext cx="1372676" cy="686333"/>
            <a:chOff x="0" y="0"/>
            <a:chExt cx="1830235" cy="9151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30230" cy="915115"/>
            </a:xfrm>
            <a:custGeom>
              <a:avLst/>
              <a:gdLst/>
              <a:ahLst/>
              <a:cxnLst/>
              <a:rect r="r" b="b" t="t" l="l"/>
              <a:pathLst>
                <a:path h="915115" w="1830230">
                  <a:moveTo>
                    <a:pt x="0" y="0"/>
                  </a:moveTo>
                  <a:lnTo>
                    <a:pt x="1830230" y="0"/>
                  </a:lnTo>
                  <a:lnTo>
                    <a:pt x="1830230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830235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 b="true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196274" y="3308137"/>
            <a:ext cx="3774853" cy="549069"/>
            <a:chOff x="0" y="0"/>
            <a:chExt cx="5033137" cy="7320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33132" cy="732092"/>
            </a:xfrm>
            <a:custGeom>
              <a:avLst/>
              <a:gdLst/>
              <a:ahLst/>
              <a:cxnLst/>
              <a:rect r="r" b="b" t="t" l="l"/>
              <a:pathLst>
                <a:path h="732092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5033137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Brand Audit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58214" y="4085577"/>
            <a:ext cx="4484208" cy="741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A full read of each brand's current social presence, content and tone.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496936" y="2941711"/>
            <a:ext cx="5441118" cy="2078069"/>
            <a:chOff x="0" y="0"/>
            <a:chExt cx="7254824" cy="277075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54875" cy="2770886"/>
            </a:xfrm>
            <a:custGeom>
              <a:avLst/>
              <a:gdLst/>
              <a:ahLst/>
              <a:cxnLst/>
              <a:rect r="r" b="b" t="t" l="l"/>
              <a:pathLst>
                <a:path h="2770886" w="7254875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7070090" y="0"/>
                  </a:lnTo>
                  <a:cubicBezTo>
                    <a:pt x="7172072" y="0"/>
                    <a:pt x="7254875" y="82677"/>
                    <a:pt x="7254875" y="184785"/>
                  </a:cubicBezTo>
                  <a:lnTo>
                    <a:pt x="7254875" y="2586101"/>
                  </a:lnTo>
                  <a:cubicBezTo>
                    <a:pt x="7254875" y="2688082"/>
                    <a:pt x="7172198" y="2770886"/>
                    <a:pt x="7070090" y="2770886"/>
                  </a:cubicBezTo>
                  <a:lnTo>
                    <a:pt x="184785" y="2770886"/>
                  </a:lnTo>
                  <a:cubicBezTo>
                    <a:pt x="82677" y="2770759"/>
                    <a:pt x="0" y="2688082"/>
                    <a:pt x="0" y="258610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918265" y="3253235"/>
            <a:ext cx="1372676" cy="686333"/>
            <a:chOff x="0" y="0"/>
            <a:chExt cx="1830235" cy="9151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30230" cy="915115"/>
            </a:xfrm>
            <a:custGeom>
              <a:avLst/>
              <a:gdLst/>
              <a:ahLst/>
              <a:cxnLst/>
              <a:rect r="r" b="b" t="t" l="l"/>
              <a:pathLst>
                <a:path h="915115" w="1830230">
                  <a:moveTo>
                    <a:pt x="0" y="0"/>
                  </a:moveTo>
                  <a:lnTo>
                    <a:pt x="1830230" y="0"/>
                  </a:lnTo>
                  <a:lnTo>
                    <a:pt x="1830230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830235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 b="true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947774" y="3308137"/>
            <a:ext cx="3774853" cy="549069"/>
            <a:chOff x="0" y="0"/>
            <a:chExt cx="5033137" cy="7320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33132" cy="732092"/>
            </a:xfrm>
            <a:custGeom>
              <a:avLst/>
              <a:gdLst/>
              <a:ahLst/>
              <a:cxnLst/>
              <a:rect r="r" b="b" t="t" l="l"/>
              <a:pathLst>
                <a:path h="732092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5033137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Social Listening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7009705" y="4085577"/>
            <a:ext cx="4484208" cy="741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What the market actually says about each brand and its rivals.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248436" y="2941711"/>
            <a:ext cx="5441118" cy="2078069"/>
            <a:chOff x="0" y="0"/>
            <a:chExt cx="7254824" cy="277075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254875" cy="2770886"/>
            </a:xfrm>
            <a:custGeom>
              <a:avLst/>
              <a:gdLst/>
              <a:ahLst/>
              <a:cxnLst/>
              <a:rect r="r" b="b" t="t" l="l"/>
              <a:pathLst>
                <a:path h="2770886" w="7254875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7070090" y="0"/>
                  </a:lnTo>
                  <a:cubicBezTo>
                    <a:pt x="7172072" y="0"/>
                    <a:pt x="7254875" y="82677"/>
                    <a:pt x="7254875" y="184785"/>
                  </a:cubicBezTo>
                  <a:lnTo>
                    <a:pt x="7254875" y="2586101"/>
                  </a:lnTo>
                  <a:cubicBezTo>
                    <a:pt x="7254875" y="2688082"/>
                    <a:pt x="7172198" y="2770886"/>
                    <a:pt x="7070090" y="2770886"/>
                  </a:cubicBezTo>
                  <a:lnTo>
                    <a:pt x="184785" y="2770886"/>
                  </a:lnTo>
                  <a:cubicBezTo>
                    <a:pt x="82677" y="2770759"/>
                    <a:pt x="0" y="2688082"/>
                    <a:pt x="0" y="258610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669764" y="3253235"/>
            <a:ext cx="1372676" cy="686333"/>
            <a:chOff x="0" y="0"/>
            <a:chExt cx="1830235" cy="9151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30230" cy="915115"/>
            </a:xfrm>
            <a:custGeom>
              <a:avLst/>
              <a:gdLst/>
              <a:ahLst/>
              <a:cxnLst/>
              <a:rect r="r" b="b" t="t" l="l"/>
              <a:pathLst>
                <a:path h="915115" w="1830230">
                  <a:moveTo>
                    <a:pt x="0" y="0"/>
                  </a:moveTo>
                  <a:lnTo>
                    <a:pt x="1830230" y="0"/>
                  </a:lnTo>
                  <a:lnTo>
                    <a:pt x="1830230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830235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 b="true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699274" y="3308137"/>
            <a:ext cx="3774853" cy="549069"/>
            <a:chOff x="0" y="0"/>
            <a:chExt cx="5033137" cy="7320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033132" cy="732092"/>
            </a:xfrm>
            <a:custGeom>
              <a:avLst/>
              <a:gdLst/>
              <a:ahLst/>
              <a:cxnLst/>
              <a:rect r="r" b="b" t="t" l="l"/>
              <a:pathLst>
                <a:path h="732092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5033137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Competitors &amp; Benchmarks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2761204" y="4085577"/>
            <a:ext cx="4484208" cy="741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Five players per brand — local reality and global aspiration.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754971" y="5353421"/>
            <a:ext cx="16787784" cy="988324"/>
            <a:chOff x="0" y="0"/>
            <a:chExt cx="22383712" cy="131776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383750" cy="1317752"/>
            </a:xfrm>
            <a:custGeom>
              <a:avLst/>
              <a:gdLst/>
              <a:ahLst/>
              <a:cxnLst/>
              <a:rect r="r" b="b" t="t" l="l"/>
              <a:pathLst>
                <a:path h="1317752" w="22383750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22200743" y="0"/>
                  </a:lnTo>
                  <a:cubicBezTo>
                    <a:pt x="22301834" y="0"/>
                    <a:pt x="22383750" y="81915"/>
                    <a:pt x="22383750" y="183007"/>
                  </a:cubicBezTo>
                  <a:lnTo>
                    <a:pt x="22383750" y="1134745"/>
                  </a:lnTo>
                  <a:cubicBezTo>
                    <a:pt x="22383750" y="1235837"/>
                    <a:pt x="22301834" y="1317752"/>
                    <a:pt x="22200743" y="1317752"/>
                  </a:cubicBezTo>
                  <a:lnTo>
                    <a:pt x="183007" y="1317752"/>
                  </a:lnTo>
                  <a:cubicBezTo>
                    <a:pt x="81915" y="1317752"/>
                    <a:pt x="0" y="1235837"/>
                    <a:pt x="0" y="1134745"/>
                  </a:cubicBezTo>
                  <a:close/>
                </a:path>
              </a:pathLst>
            </a:custGeom>
            <a:solidFill>
              <a:srgbClr val="F1F4F8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66774" y="5353421"/>
            <a:ext cx="15923000" cy="988324"/>
            <a:chOff x="0" y="0"/>
            <a:chExt cx="21230666" cy="131776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23066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925" r="0" b="-26392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21230666" cy="1336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5-per-brand model:  </a:t>
              </a:r>
              <a:r>
                <a:rPr lang="en-US" sz="1801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three local players a Saudi buyer actually cross-shops, plus two global references each brand should aspire to on content.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54971" y="6726098"/>
            <a:ext cx="150990" cy="823608"/>
            <a:chOff x="0" y="0"/>
            <a:chExt cx="201320" cy="109814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1295" cy="1098169"/>
            </a:xfrm>
            <a:custGeom>
              <a:avLst/>
              <a:gdLst/>
              <a:ahLst/>
              <a:cxnLst/>
              <a:rect r="r" b="b" t="t" l="l"/>
              <a:pathLst>
                <a:path h="1098169" w="201295">
                  <a:moveTo>
                    <a:pt x="0" y="0"/>
                  </a:moveTo>
                  <a:lnTo>
                    <a:pt x="201295" y="0"/>
                  </a:lnTo>
                  <a:lnTo>
                    <a:pt x="201295" y="1098169"/>
                  </a:lnTo>
                  <a:lnTo>
                    <a:pt x="0" y="1098169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70686" y="6726098"/>
            <a:ext cx="3157147" cy="823608"/>
            <a:chOff x="0" y="0"/>
            <a:chExt cx="4209529" cy="109814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209529" cy="1098138"/>
            </a:xfrm>
            <a:custGeom>
              <a:avLst/>
              <a:gdLst/>
              <a:ahLst/>
              <a:cxnLst/>
              <a:rect r="r" b="b" t="t" l="l"/>
              <a:pathLst>
                <a:path h="1098138" w="4209529">
                  <a:moveTo>
                    <a:pt x="0" y="0"/>
                  </a:moveTo>
                  <a:lnTo>
                    <a:pt x="4209529" y="0"/>
                  </a:lnTo>
                  <a:lnTo>
                    <a:pt x="4209529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4209529" cy="1117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BESTUNE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4392549" y="6794725"/>
            <a:ext cx="2745343" cy="301990"/>
            <a:chOff x="0" y="0"/>
            <a:chExt cx="3660458" cy="40265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660460" cy="402651"/>
            </a:xfrm>
            <a:custGeom>
              <a:avLst/>
              <a:gdLst/>
              <a:ahLst/>
              <a:cxnLst/>
              <a:rect r="r" b="b" t="t" l="l"/>
              <a:pathLst>
                <a:path h="402651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3660458" cy="42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b="true" sz="1125" spc="150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LOCAL / REGIONAL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4392549" y="7096716"/>
            <a:ext cx="7000627" cy="439255"/>
            <a:chOff x="0" y="0"/>
            <a:chExt cx="9334170" cy="58567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334172" cy="585674"/>
            </a:xfrm>
            <a:custGeom>
              <a:avLst/>
              <a:gdLst/>
              <a:ahLst/>
              <a:cxnLst/>
              <a:rect r="r" b="b" t="t" l="l"/>
              <a:pathLst>
                <a:path h="585674" w="9334172">
                  <a:moveTo>
                    <a:pt x="0" y="0"/>
                  </a:moveTo>
                  <a:lnTo>
                    <a:pt x="9334172" y="0"/>
                  </a:lnTo>
                  <a:lnTo>
                    <a:pt x="9334172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542" r="0" b="-26054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9334170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Changan · Geely · Toyota Saudi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667715" y="6794725"/>
            <a:ext cx="2745343" cy="301990"/>
            <a:chOff x="0" y="0"/>
            <a:chExt cx="3660458" cy="40265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660460" cy="402651"/>
            </a:xfrm>
            <a:custGeom>
              <a:avLst/>
              <a:gdLst/>
              <a:ahLst/>
              <a:cxnLst/>
              <a:rect r="r" b="b" t="t" l="l"/>
              <a:pathLst>
                <a:path h="402651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3660458" cy="42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b="true" sz="1125" spc="150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GLOBAL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667715" y="7096716"/>
            <a:ext cx="5765225" cy="439255"/>
            <a:chOff x="0" y="0"/>
            <a:chExt cx="7686967" cy="58567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686966" cy="585674"/>
            </a:xfrm>
            <a:custGeom>
              <a:avLst/>
              <a:gdLst/>
              <a:ahLst/>
              <a:cxnLst/>
              <a:rect r="r" b="b" t="t" l="l"/>
              <a:pathLst>
                <a:path h="585674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7686967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Rivian · Hongqi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61152" y="7622524"/>
            <a:ext cx="16353863" cy="19069"/>
            <a:chOff x="0" y="0"/>
            <a:chExt cx="21805151" cy="2542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805137" cy="25400"/>
            </a:xfrm>
            <a:custGeom>
              <a:avLst/>
              <a:gdLst/>
              <a:ahLst/>
              <a:cxnLst/>
              <a:rect r="r" b="b" t="t" l="l"/>
              <a:pathLst>
                <a:path h="25400" w="21805137">
                  <a:moveTo>
                    <a:pt x="0" y="0"/>
                  </a:moveTo>
                  <a:lnTo>
                    <a:pt x="21805137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6677280" r="0" b="-16677380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754971" y="7714421"/>
            <a:ext cx="150990" cy="823608"/>
            <a:chOff x="0" y="0"/>
            <a:chExt cx="201320" cy="109814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1295" cy="1098169"/>
            </a:xfrm>
            <a:custGeom>
              <a:avLst/>
              <a:gdLst/>
              <a:ahLst/>
              <a:cxnLst/>
              <a:rect r="r" b="b" t="t" l="l"/>
              <a:pathLst>
                <a:path h="1098169" w="201295">
                  <a:moveTo>
                    <a:pt x="0" y="0"/>
                  </a:moveTo>
                  <a:lnTo>
                    <a:pt x="201295" y="0"/>
                  </a:lnTo>
                  <a:lnTo>
                    <a:pt x="201295" y="1098169"/>
                  </a:lnTo>
                  <a:lnTo>
                    <a:pt x="0" y="1098169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70686" y="7714421"/>
            <a:ext cx="3157147" cy="823608"/>
            <a:chOff x="0" y="0"/>
            <a:chExt cx="4209529" cy="109814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209529" cy="1098138"/>
            </a:xfrm>
            <a:custGeom>
              <a:avLst/>
              <a:gdLst/>
              <a:ahLst/>
              <a:cxnLst/>
              <a:rect r="r" b="b" t="t" l="l"/>
              <a:pathLst>
                <a:path h="1098138" w="4209529">
                  <a:moveTo>
                    <a:pt x="0" y="0"/>
                  </a:moveTo>
                  <a:lnTo>
                    <a:pt x="4209529" y="0"/>
                  </a:lnTo>
                  <a:lnTo>
                    <a:pt x="4209529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4209529" cy="1117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212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392549" y="7783049"/>
            <a:ext cx="2745343" cy="301990"/>
            <a:chOff x="0" y="0"/>
            <a:chExt cx="3660458" cy="40265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660460" cy="402651"/>
            </a:xfrm>
            <a:custGeom>
              <a:avLst/>
              <a:gdLst/>
              <a:ahLst/>
              <a:cxnLst/>
              <a:rect r="r" b="b" t="t" l="l"/>
              <a:pathLst>
                <a:path h="402651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3660458" cy="42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b="true" sz="1125" spc="150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LOCAL / REGIONAL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392549" y="8085039"/>
            <a:ext cx="7000627" cy="439255"/>
            <a:chOff x="0" y="0"/>
            <a:chExt cx="9334170" cy="58567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334172" cy="585674"/>
            </a:xfrm>
            <a:custGeom>
              <a:avLst/>
              <a:gdLst/>
              <a:ahLst/>
              <a:cxnLst/>
              <a:rect r="r" b="b" t="t" l="l"/>
              <a:pathLst>
                <a:path h="585674" w="9334172">
                  <a:moveTo>
                    <a:pt x="0" y="0"/>
                  </a:moveTo>
                  <a:lnTo>
                    <a:pt x="9334172" y="0"/>
                  </a:lnTo>
                  <a:lnTo>
                    <a:pt x="9334172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542" r="0" b="-26054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9334170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Tank 300 · Petromin Jeep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1667715" y="7783049"/>
            <a:ext cx="2745343" cy="301990"/>
            <a:chOff x="0" y="0"/>
            <a:chExt cx="3660458" cy="40265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660460" cy="402651"/>
            </a:xfrm>
            <a:custGeom>
              <a:avLst/>
              <a:gdLst/>
              <a:ahLst/>
              <a:cxnLst/>
              <a:rect r="r" b="b" t="t" l="l"/>
              <a:pathLst>
                <a:path h="402651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3660458" cy="42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b="true" sz="1125" spc="150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GLOBAL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1667715" y="8085039"/>
            <a:ext cx="5765225" cy="439255"/>
            <a:chOff x="0" y="0"/>
            <a:chExt cx="7686967" cy="58567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686966" cy="585674"/>
            </a:xfrm>
            <a:custGeom>
              <a:avLst/>
              <a:gdLst/>
              <a:ahLst/>
              <a:cxnLst/>
              <a:rect r="r" b="b" t="t" l="l"/>
              <a:pathLst>
                <a:path h="585674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7686967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Jeep · Ineos · Defender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61152" y="8610848"/>
            <a:ext cx="16353863" cy="19069"/>
            <a:chOff x="0" y="0"/>
            <a:chExt cx="21805151" cy="2542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1805137" cy="25400"/>
            </a:xfrm>
            <a:custGeom>
              <a:avLst/>
              <a:gdLst/>
              <a:ahLst/>
              <a:cxnLst/>
              <a:rect r="r" b="b" t="t" l="l"/>
              <a:pathLst>
                <a:path h="25400" w="21805137">
                  <a:moveTo>
                    <a:pt x="0" y="0"/>
                  </a:moveTo>
                  <a:lnTo>
                    <a:pt x="21805137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6677280" r="0" b="-16677380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754971" y="8702745"/>
            <a:ext cx="150990" cy="823608"/>
            <a:chOff x="0" y="0"/>
            <a:chExt cx="201320" cy="109814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01295" cy="1098169"/>
            </a:xfrm>
            <a:custGeom>
              <a:avLst/>
              <a:gdLst/>
              <a:ahLst/>
              <a:cxnLst/>
              <a:rect r="r" b="b" t="t" l="l"/>
              <a:pathLst>
                <a:path h="1098169" w="201295">
                  <a:moveTo>
                    <a:pt x="0" y="0"/>
                  </a:moveTo>
                  <a:lnTo>
                    <a:pt x="201295" y="0"/>
                  </a:lnTo>
                  <a:lnTo>
                    <a:pt x="201295" y="1098169"/>
                  </a:lnTo>
                  <a:lnTo>
                    <a:pt x="0" y="1098169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070686" y="8702745"/>
            <a:ext cx="3157147" cy="823608"/>
            <a:chOff x="0" y="0"/>
            <a:chExt cx="4209529" cy="109814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209529" cy="1098138"/>
            </a:xfrm>
            <a:custGeom>
              <a:avLst/>
              <a:gdLst/>
              <a:ahLst/>
              <a:cxnLst/>
              <a:rect r="r" b="b" t="t" l="l"/>
              <a:pathLst>
                <a:path h="1098138" w="4209529">
                  <a:moveTo>
                    <a:pt x="0" y="0"/>
                  </a:moveTo>
                  <a:lnTo>
                    <a:pt x="4209529" y="0"/>
                  </a:lnTo>
                  <a:lnTo>
                    <a:pt x="4209529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4209529" cy="1117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MOTOR SOUQ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4392549" y="8771372"/>
            <a:ext cx="2745343" cy="301990"/>
            <a:chOff x="0" y="0"/>
            <a:chExt cx="3660458" cy="40265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660460" cy="402651"/>
            </a:xfrm>
            <a:custGeom>
              <a:avLst/>
              <a:gdLst/>
              <a:ahLst/>
              <a:cxnLst/>
              <a:rect r="r" b="b" t="t" l="l"/>
              <a:pathLst>
                <a:path h="402651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3660458" cy="42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b="true" sz="1125" spc="150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LOCAL / REGIONAL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4392549" y="9073363"/>
            <a:ext cx="7000627" cy="439255"/>
            <a:chOff x="0" y="0"/>
            <a:chExt cx="9334170" cy="585673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334172" cy="585674"/>
            </a:xfrm>
            <a:custGeom>
              <a:avLst/>
              <a:gdLst/>
              <a:ahLst/>
              <a:cxnLst/>
              <a:rect r="r" b="b" t="t" l="l"/>
              <a:pathLst>
                <a:path h="585674" w="9334172">
                  <a:moveTo>
                    <a:pt x="0" y="0"/>
                  </a:moveTo>
                  <a:lnTo>
                    <a:pt x="9334172" y="0"/>
                  </a:lnTo>
                  <a:lnTo>
                    <a:pt x="9334172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542" r="0" b="-260542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9334170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Aljomaih · ALJ · Aljazirah-Ford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1667715" y="8771372"/>
            <a:ext cx="2745343" cy="301990"/>
            <a:chOff x="0" y="0"/>
            <a:chExt cx="3660458" cy="402654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660460" cy="402651"/>
            </a:xfrm>
            <a:custGeom>
              <a:avLst/>
              <a:gdLst/>
              <a:ahLst/>
              <a:cxnLst/>
              <a:rect r="r" b="b" t="t" l="l"/>
              <a:pathLst>
                <a:path h="402651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3660458" cy="42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b="true" sz="1125" spc="150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GLOBAL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1667715" y="9073363"/>
            <a:ext cx="5765225" cy="439255"/>
            <a:chOff x="0" y="0"/>
            <a:chExt cx="7686967" cy="585673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686966" cy="585674"/>
            </a:xfrm>
            <a:custGeom>
              <a:avLst/>
              <a:gdLst/>
              <a:ahLst/>
              <a:cxnLst/>
              <a:rect r="r" b="b" t="t" l="l"/>
              <a:pathLst>
                <a:path h="585674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7686967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CarMax · Syarah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 · RESEARCH · BRAND AUDIT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Bestune — Social Media Audit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5436" y="2118112"/>
            <a:ext cx="7362863" cy="6951059"/>
            <a:chOff x="0" y="0"/>
            <a:chExt cx="9817151" cy="92680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17100" cy="9268079"/>
            </a:xfrm>
            <a:custGeom>
              <a:avLst/>
              <a:gdLst/>
              <a:ahLst/>
              <a:cxnLst/>
              <a:rect r="r" b="b" t="t" l="l"/>
              <a:pathLst>
                <a:path h="9268079" w="981710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9633585" y="0"/>
                  </a:lnTo>
                  <a:cubicBezTo>
                    <a:pt x="9734931" y="0"/>
                    <a:pt x="9817100" y="82169"/>
                    <a:pt x="9817100" y="183515"/>
                  </a:cubicBezTo>
                  <a:lnTo>
                    <a:pt x="9817100" y="9084564"/>
                  </a:lnTo>
                  <a:cubicBezTo>
                    <a:pt x="9817100" y="9185910"/>
                    <a:pt x="9734931" y="9268079"/>
                    <a:pt x="9633585" y="9268079"/>
                  </a:cubicBezTo>
                  <a:lnTo>
                    <a:pt x="183515" y="9268079"/>
                  </a:lnTo>
                  <a:cubicBezTo>
                    <a:pt x="82169" y="9268079"/>
                    <a:pt x="0" y="9185910"/>
                    <a:pt x="0" y="908456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66774" y="2443353"/>
            <a:ext cx="4118019" cy="411804"/>
            <a:chOff x="0" y="0"/>
            <a:chExt cx="5490693" cy="5490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90690" cy="549069"/>
            </a:xfrm>
            <a:custGeom>
              <a:avLst/>
              <a:gdLst/>
              <a:ahLst/>
              <a:cxnLst/>
              <a:rect r="r" b="b" t="t" l="l"/>
              <a:pathLst>
                <a:path h="549069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5490693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b="true" sz="1426" spc="300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SNAPSHOT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58214" y="3046552"/>
            <a:ext cx="2562463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LANGUAGES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34920" y="3028617"/>
            <a:ext cx="3866502" cy="53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Arabic primary, English secondary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8214" y="3623072"/>
            <a:ext cx="2562463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TONE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934920" y="3605146"/>
            <a:ext cx="3866502" cy="53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Promotional, offer-led, football-driven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8214" y="4199592"/>
            <a:ext cx="2562463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INSTAGRAM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934920" y="4181665"/>
            <a:ext cx="3866502" cy="53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32K · 2,217 posts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8214" y="4776121"/>
            <a:ext cx="2562463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FACEBOOK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934920" y="4758185"/>
            <a:ext cx="3866502" cy="53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10.7K likes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8214" y="5352640"/>
            <a:ext cx="2562463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X / TIKTOK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934920" y="5334714"/>
            <a:ext cx="3866502" cy="53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Active X · TikTok dormant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8214" y="5929160"/>
            <a:ext cx="2562463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HOTLINE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934920" y="5911234"/>
            <a:ext cx="3866502" cy="53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8007498888 (shared)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8214" y="6505680"/>
            <a:ext cx="2562463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934920" y="6487754"/>
            <a:ext cx="3866502" cy="53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Finance offers, Al-Ittihad FC, giveaways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8214" y="7082209"/>
            <a:ext cx="2562463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FORMAT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934920" y="7064273"/>
            <a:ext cx="3866502" cy="53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Static graphics · minimal video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373304" y="2127647"/>
            <a:ext cx="9169451" cy="6932000"/>
            <a:chOff x="0" y="0"/>
            <a:chExt cx="12225934" cy="924266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225909" cy="9242678"/>
            </a:xfrm>
            <a:custGeom>
              <a:avLst/>
              <a:gdLst/>
              <a:ahLst/>
              <a:cxnLst/>
              <a:rect r="r" b="b" t="t" l="l"/>
              <a:pathLst>
                <a:path h="9242678" w="12225909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12042902" y="0"/>
                  </a:lnTo>
                  <a:cubicBezTo>
                    <a:pt x="12143994" y="0"/>
                    <a:pt x="12225909" y="81915"/>
                    <a:pt x="12225909" y="183007"/>
                  </a:cubicBezTo>
                  <a:lnTo>
                    <a:pt x="12225909" y="9059672"/>
                  </a:lnTo>
                  <a:cubicBezTo>
                    <a:pt x="12225909" y="9160764"/>
                    <a:pt x="12143994" y="9242678"/>
                    <a:pt x="12042902" y="9242678"/>
                  </a:cubicBezTo>
                  <a:lnTo>
                    <a:pt x="183007" y="9242678"/>
                  </a:lnTo>
                  <a:cubicBezTo>
                    <a:pt x="81915" y="9242679"/>
                    <a:pt x="0" y="9160764"/>
                    <a:pt x="0" y="9059672"/>
                  </a:cubicBezTo>
                  <a:close/>
                </a:path>
              </a:pathLst>
            </a:custGeom>
            <a:solidFill>
              <a:srgbClr val="0F142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785108" y="2470814"/>
            <a:ext cx="4118019" cy="411804"/>
            <a:chOff x="0" y="0"/>
            <a:chExt cx="5490693" cy="54907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490690" cy="549069"/>
            </a:xfrm>
            <a:custGeom>
              <a:avLst/>
              <a:gdLst/>
              <a:ahLst/>
              <a:cxnLst/>
              <a:rect r="r" b="b" t="t" l="l"/>
              <a:pathLst>
                <a:path h="549069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5490693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b="true" sz="1426" spc="300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KEY FINDINGS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812559" y="3170872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9315802" y="3074003"/>
            <a:ext cx="7847257" cy="102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726">
                <a:solidFill>
                  <a:srgbClr val="DCE3EF"/>
                </a:solidFill>
                <a:latin typeface="Poppins"/>
                <a:ea typeface="Poppins"/>
                <a:cs typeface="Poppins"/>
                <a:sym typeface="Poppins"/>
              </a:rPr>
              <a:t>Largest asset is post volume (2,217) — a real discovery advantage — but the format is dated: static offer graphics, almost no Reels.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812559" y="4571000"/>
            <a:ext cx="164725" cy="164725"/>
            <a:chOff x="0" y="0"/>
            <a:chExt cx="219634" cy="21963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315802" y="4474131"/>
            <a:ext cx="7847257" cy="102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726">
                <a:solidFill>
                  <a:srgbClr val="DCE3EF"/>
                </a:solidFill>
                <a:latin typeface="Poppins"/>
                <a:ea typeface="Poppins"/>
                <a:cs typeface="Poppins"/>
                <a:sym typeface="Poppins"/>
              </a:rPr>
              <a:t>Identity leans on the Al-Ittihad FC partnership and iPhone giveaways — engagement bought, not built.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812559" y="5559323"/>
            <a:ext cx="164725" cy="164725"/>
            <a:chOff x="0" y="0"/>
            <a:chExt cx="219634" cy="21963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9315802" y="5462454"/>
            <a:ext cx="7847257" cy="102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726">
                <a:solidFill>
                  <a:srgbClr val="DCE3EF"/>
                </a:solidFill>
                <a:latin typeface="Poppins"/>
                <a:ea typeface="Poppins"/>
                <a:cs typeface="Poppins"/>
                <a:sym typeface="Poppins"/>
              </a:rPr>
              <a:t>The 68-year FAW heritage and 5-yr / 150,000 km warranty — its two strongest trust assets — are absent from content.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8812559" y="6547647"/>
            <a:ext cx="164725" cy="164725"/>
            <a:chOff x="0" y="0"/>
            <a:chExt cx="219634" cy="21963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9315802" y="6450778"/>
            <a:ext cx="7847257" cy="102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726">
                <a:solidFill>
                  <a:srgbClr val="DCE3EF"/>
                </a:solidFill>
                <a:latin typeface="Poppins"/>
                <a:ea typeface="Poppins"/>
                <a:cs typeface="Poppins"/>
                <a:sym typeface="Poppins"/>
              </a:rPr>
              <a:t>TikTok exists but is dormant — the single biggest gap given its #1 ranking in KSA.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 · RESEARCH · BRAND AUDIT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212 — Social Media Audit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5436" y="2118112"/>
            <a:ext cx="7362863" cy="6951059"/>
            <a:chOff x="0" y="0"/>
            <a:chExt cx="9817151" cy="92680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17100" cy="9268079"/>
            </a:xfrm>
            <a:custGeom>
              <a:avLst/>
              <a:gdLst/>
              <a:ahLst/>
              <a:cxnLst/>
              <a:rect r="r" b="b" t="t" l="l"/>
              <a:pathLst>
                <a:path h="9268079" w="981710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9633585" y="0"/>
                  </a:lnTo>
                  <a:cubicBezTo>
                    <a:pt x="9734931" y="0"/>
                    <a:pt x="9817100" y="82169"/>
                    <a:pt x="9817100" y="183515"/>
                  </a:cubicBezTo>
                  <a:lnTo>
                    <a:pt x="9817100" y="9084564"/>
                  </a:lnTo>
                  <a:cubicBezTo>
                    <a:pt x="9817100" y="9185910"/>
                    <a:pt x="9734931" y="9268079"/>
                    <a:pt x="9633585" y="9268079"/>
                  </a:cubicBezTo>
                  <a:lnTo>
                    <a:pt x="183515" y="9268079"/>
                  </a:lnTo>
                  <a:cubicBezTo>
                    <a:pt x="82169" y="9268079"/>
                    <a:pt x="0" y="9185910"/>
                    <a:pt x="0" y="908456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66774" y="2443353"/>
            <a:ext cx="4118019" cy="411804"/>
            <a:chOff x="0" y="0"/>
            <a:chExt cx="5490693" cy="5490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90690" cy="549069"/>
            </a:xfrm>
            <a:custGeom>
              <a:avLst/>
              <a:gdLst/>
              <a:ahLst/>
              <a:cxnLst/>
              <a:rect r="r" b="b" t="t" l="l"/>
              <a:pathLst>
                <a:path h="549069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5490693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b="true" sz="1426" spc="300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SNAPSHOT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58214" y="3046552"/>
            <a:ext cx="2562463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LANGUAGES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34920" y="3028617"/>
            <a:ext cx="3866502" cy="53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Arabic-first, strong voice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8214" y="3623072"/>
            <a:ext cx="2562463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VOICE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934920" y="3605146"/>
            <a:ext cx="3866502" cy="53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“Recognizes no boundaries”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8214" y="4199592"/>
            <a:ext cx="2562463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INSTAGRAM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934920" y="4181665"/>
            <a:ext cx="3866502" cy="53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Live pull needed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8214" y="4776121"/>
            <a:ext cx="2562463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FB / TIKTOK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934920" y="4758185"/>
            <a:ext cx="3866502" cy="53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Limited presence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8214" y="5352640"/>
            <a:ext cx="2562463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WEBSITE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934920" y="5334714"/>
            <a:ext cx="3866502" cy="53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Dedicated Arabic-first site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8214" y="5929160"/>
            <a:ext cx="2562463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934920" y="5911234"/>
            <a:ext cx="3866502" cy="53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Heritage, capability, off-road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8214" y="6505680"/>
            <a:ext cx="2562463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FOOTPRINT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934920" y="6487754"/>
            <a:ext cx="3866502" cy="53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Newest, least built-out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8214" y="7082209"/>
            <a:ext cx="2562463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UPSIDE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934920" y="7064273"/>
            <a:ext cx="3866502" cy="53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Least legacy to unlearn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373304" y="2127647"/>
            <a:ext cx="9169451" cy="6932000"/>
            <a:chOff x="0" y="0"/>
            <a:chExt cx="12225934" cy="924266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225909" cy="9242678"/>
            </a:xfrm>
            <a:custGeom>
              <a:avLst/>
              <a:gdLst/>
              <a:ahLst/>
              <a:cxnLst/>
              <a:rect r="r" b="b" t="t" l="l"/>
              <a:pathLst>
                <a:path h="9242678" w="12225909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12042902" y="0"/>
                  </a:lnTo>
                  <a:cubicBezTo>
                    <a:pt x="12143994" y="0"/>
                    <a:pt x="12225909" y="81915"/>
                    <a:pt x="12225909" y="183007"/>
                  </a:cubicBezTo>
                  <a:lnTo>
                    <a:pt x="12225909" y="9059672"/>
                  </a:lnTo>
                  <a:cubicBezTo>
                    <a:pt x="12225909" y="9160764"/>
                    <a:pt x="12143994" y="9242678"/>
                    <a:pt x="12042902" y="9242678"/>
                  </a:cubicBezTo>
                  <a:lnTo>
                    <a:pt x="183007" y="9242678"/>
                  </a:lnTo>
                  <a:cubicBezTo>
                    <a:pt x="81915" y="9242679"/>
                    <a:pt x="0" y="9160764"/>
                    <a:pt x="0" y="9059672"/>
                  </a:cubicBezTo>
                  <a:close/>
                </a:path>
              </a:pathLst>
            </a:custGeom>
            <a:solidFill>
              <a:srgbClr val="0F142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785108" y="2470814"/>
            <a:ext cx="4118019" cy="411804"/>
            <a:chOff x="0" y="0"/>
            <a:chExt cx="5490693" cy="54907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490690" cy="549069"/>
            </a:xfrm>
            <a:custGeom>
              <a:avLst/>
              <a:gdLst/>
              <a:ahLst/>
              <a:cxnLst/>
              <a:rect r="r" b="b" t="t" l="l"/>
              <a:pathLst>
                <a:path h="549069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5490693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b="true" sz="1426" spc="300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KEY FINDINGS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812559" y="3170872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9315802" y="3074003"/>
            <a:ext cx="7847257" cy="102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726">
                <a:solidFill>
                  <a:srgbClr val="DCE3EF"/>
                </a:solidFill>
                <a:latin typeface="Poppins"/>
                <a:ea typeface="Poppins"/>
                <a:cs typeface="Poppins"/>
                <a:sym typeface="Poppins"/>
              </a:rPr>
              <a:t>212 owns the strongest raw brand story of the entire portfolio — a 1960s Chinese military vehicle, Defender-inspired, that “recognizes no boundaries.”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812559" y="4571000"/>
            <a:ext cx="164725" cy="164725"/>
            <a:chOff x="0" y="0"/>
            <a:chExt cx="219634" cy="21963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315802" y="4474131"/>
            <a:ext cx="7847257" cy="102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726">
                <a:solidFill>
                  <a:srgbClr val="DCE3EF"/>
                </a:solidFill>
                <a:latin typeface="Poppins"/>
                <a:ea typeface="Poppins"/>
                <a:cs typeface="Poppins"/>
                <a:sym typeface="Poppins"/>
              </a:rPr>
              <a:t>Yet its social footprint is the thinnest, with no evidence of TikTok activation — despite off-road being the most native fit for the platform.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812559" y="5971127"/>
            <a:ext cx="164725" cy="164725"/>
            <a:chOff x="0" y="0"/>
            <a:chExt cx="219634" cy="21963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9315802" y="5874258"/>
            <a:ext cx="7847257" cy="102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726">
                <a:solidFill>
                  <a:srgbClr val="DCE3EF"/>
                </a:solidFill>
                <a:latin typeface="Poppins"/>
                <a:ea typeface="Poppins"/>
                <a:cs typeface="Poppins"/>
                <a:sym typeface="Poppins"/>
              </a:rPr>
              <a:t>The website voice is sharp and differentiated; the social channels don't yet carry it.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8812559" y="6959451"/>
            <a:ext cx="164725" cy="164725"/>
            <a:chOff x="0" y="0"/>
            <a:chExt cx="219634" cy="21963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9315802" y="6862582"/>
            <a:ext cx="7847257" cy="102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726">
                <a:solidFill>
                  <a:srgbClr val="DCE3EF"/>
                </a:solidFill>
                <a:latin typeface="Poppins"/>
                <a:ea typeface="Poppins"/>
                <a:cs typeface="Poppins"/>
                <a:sym typeface="Poppins"/>
              </a:rPr>
              <a:t>The upside: least legacy content means least to unlearn — 212 can be built right from the start.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 · RESEARCH · BRAND AUDIT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Motor Souq — Social Media Audit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5436" y="2118112"/>
            <a:ext cx="7362863" cy="6951059"/>
            <a:chOff x="0" y="0"/>
            <a:chExt cx="9817151" cy="92680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17100" cy="9268079"/>
            </a:xfrm>
            <a:custGeom>
              <a:avLst/>
              <a:gdLst/>
              <a:ahLst/>
              <a:cxnLst/>
              <a:rect r="r" b="b" t="t" l="l"/>
              <a:pathLst>
                <a:path h="9268079" w="981710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9633585" y="0"/>
                  </a:lnTo>
                  <a:cubicBezTo>
                    <a:pt x="9734931" y="0"/>
                    <a:pt x="9817100" y="82169"/>
                    <a:pt x="9817100" y="183515"/>
                  </a:cubicBezTo>
                  <a:lnTo>
                    <a:pt x="9817100" y="9084564"/>
                  </a:lnTo>
                  <a:cubicBezTo>
                    <a:pt x="9817100" y="9185910"/>
                    <a:pt x="9734931" y="9268079"/>
                    <a:pt x="9633585" y="9268079"/>
                  </a:cubicBezTo>
                  <a:lnTo>
                    <a:pt x="183515" y="9268079"/>
                  </a:lnTo>
                  <a:cubicBezTo>
                    <a:pt x="82169" y="9268079"/>
                    <a:pt x="0" y="9185910"/>
                    <a:pt x="0" y="908456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66774" y="2443353"/>
            <a:ext cx="4118019" cy="411804"/>
            <a:chOff x="0" y="0"/>
            <a:chExt cx="5490693" cy="5490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90690" cy="549069"/>
            </a:xfrm>
            <a:custGeom>
              <a:avLst/>
              <a:gdLst/>
              <a:ahLst/>
              <a:cxnLst/>
              <a:rect r="r" b="b" t="t" l="l"/>
              <a:pathLst>
                <a:path h="549069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5490693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b="true" sz="1426" spc="300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SNAPSHOT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58214" y="3046552"/>
            <a:ext cx="2562463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LANGUAGES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34920" y="3028617"/>
            <a:ext cx="3866502" cy="53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Arabic primary, English secondary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8214" y="3623072"/>
            <a:ext cx="2562463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TONE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934920" y="3605146"/>
            <a:ext cx="3866502" cy="53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Retail, offer &amp; comparison-led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8214" y="4199592"/>
            <a:ext cx="2562463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X (TWITTER)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934920" y="4181665"/>
            <a:ext cx="3866502" cy="53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78K followers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8214" y="4776121"/>
            <a:ext cx="2562463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ENGAGEMENT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934920" y="4758185"/>
            <a:ext cx="3866502" cy="53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Hundreds of views / post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8214" y="5352640"/>
            <a:ext cx="2562463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INSTAGRAM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934920" y="5334714"/>
            <a:ext cx="3866502" cy="53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@motorsouq_sa · TikTok exists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8214" y="5929160"/>
            <a:ext cx="2562463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HOTLINE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934920" y="5911234"/>
            <a:ext cx="3866502" cy="53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8007498888 (shared)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8214" y="6505680"/>
            <a:ext cx="2562463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934920" y="6487754"/>
            <a:ext cx="3866502" cy="53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Multi-brand comparisons, offers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8214" y="7082209"/>
            <a:ext cx="2562463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FORMAT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934920" y="7064273"/>
            <a:ext cx="3866502" cy="53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Static comparison graphics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373304" y="2127647"/>
            <a:ext cx="9169451" cy="6932000"/>
            <a:chOff x="0" y="0"/>
            <a:chExt cx="12225934" cy="924266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225909" cy="9242678"/>
            </a:xfrm>
            <a:custGeom>
              <a:avLst/>
              <a:gdLst/>
              <a:ahLst/>
              <a:cxnLst/>
              <a:rect r="r" b="b" t="t" l="l"/>
              <a:pathLst>
                <a:path h="9242678" w="12225909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12042902" y="0"/>
                  </a:lnTo>
                  <a:cubicBezTo>
                    <a:pt x="12143994" y="0"/>
                    <a:pt x="12225909" y="81915"/>
                    <a:pt x="12225909" y="183007"/>
                  </a:cubicBezTo>
                  <a:lnTo>
                    <a:pt x="12225909" y="9059672"/>
                  </a:lnTo>
                  <a:cubicBezTo>
                    <a:pt x="12225909" y="9160764"/>
                    <a:pt x="12143994" y="9242678"/>
                    <a:pt x="12042902" y="9242678"/>
                  </a:cubicBezTo>
                  <a:lnTo>
                    <a:pt x="183007" y="9242678"/>
                  </a:lnTo>
                  <a:cubicBezTo>
                    <a:pt x="81915" y="9242679"/>
                    <a:pt x="0" y="9160764"/>
                    <a:pt x="0" y="9059672"/>
                  </a:cubicBezTo>
                  <a:close/>
                </a:path>
              </a:pathLst>
            </a:custGeom>
            <a:solidFill>
              <a:srgbClr val="0F142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785108" y="2470814"/>
            <a:ext cx="4118019" cy="411804"/>
            <a:chOff x="0" y="0"/>
            <a:chExt cx="5490693" cy="54907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490690" cy="549069"/>
            </a:xfrm>
            <a:custGeom>
              <a:avLst/>
              <a:gdLst/>
              <a:ahLst/>
              <a:cxnLst/>
              <a:rect r="r" b="b" t="t" l="l"/>
              <a:pathLst>
                <a:path h="549069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5490693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b="true" sz="1426" spc="300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KEY FINDINGS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812559" y="3170872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9315802" y="3074003"/>
            <a:ext cx="7847257" cy="102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726">
                <a:solidFill>
                  <a:srgbClr val="DCE3EF"/>
                </a:solidFill>
                <a:latin typeface="Poppins"/>
                <a:ea typeface="Poppins"/>
                <a:cs typeface="Poppins"/>
                <a:sym typeface="Poppins"/>
              </a:rPr>
              <a:t>Real audience scale (78K on X) but near-zero activation — posts draw only hundreds of views against 78K followers.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812559" y="4159196"/>
            <a:ext cx="164725" cy="164725"/>
            <a:chOff x="0" y="0"/>
            <a:chExt cx="219634" cy="21963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315802" y="4062327"/>
            <a:ext cx="7847257" cy="102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726">
                <a:solidFill>
                  <a:srgbClr val="DCE3EF"/>
                </a:solidFill>
                <a:latin typeface="Poppins"/>
                <a:ea typeface="Poppins"/>
                <a:cs typeface="Poppins"/>
                <a:sym typeface="Poppins"/>
              </a:rPr>
              <a:t>Content sells offers and comparisons like any dealer; no consistent identity separates it from the showroom next door.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812559" y="5559323"/>
            <a:ext cx="164725" cy="164725"/>
            <a:chOff x="0" y="0"/>
            <a:chExt cx="219634" cy="21963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9315802" y="5462454"/>
            <a:ext cx="7847257" cy="102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726">
                <a:solidFill>
                  <a:srgbClr val="DCE3EF"/>
                </a:solidFill>
                <a:latin typeface="Poppins"/>
                <a:ea typeface="Poppins"/>
                <a:cs typeface="Poppins"/>
                <a:sym typeface="Poppins"/>
              </a:rPr>
              <a:t>Identity has drifted — from an MG-and-Al-Ahli-FC account (2019–21) to a generic multi-brand offer feed.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8812559" y="6547647"/>
            <a:ext cx="164725" cy="164725"/>
            <a:chOff x="0" y="0"/>
            <a:chExt cx="219634" cy="21963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9315802" y="6450778"/>
            <a:ext cx="7847257" cy="102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726">
                <a:solidFill>
                  <a:srgbClr val="DCE3EF"/>
                </a:solidFill>
                <a:latin typeface="Poppins"/>
                <a:ea typeface="Poppins"/>
                <a:cs typeface="Poppins"/>
                <a:sym typeface="Poppins"/>
              </a:rPr>
              <a:t>Its comparison posts feature Jetour — confirming Jetour is both a rival and Motor Souq inventory: an unused cross-sell asset.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 · RESEARCH · CONTENT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Bestune — Content Overview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73862" y="2076155"/>
            <a:ext cx="16289188" cy="62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8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What each brand actually posts today, categorised.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2804446"/>
            <a:ext cx="5395370" cy="2146706"/>
            <a:chOff x="0" y="0"/>
            <a:chExt cx="7193826" cy="28622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93788" cy="2862199"/>
            </a:xfrm>
            <a:custGeom>
              <a:avLst/>
              <a:gdLst/>
              <a:ahLst/>
              <a:cxnLst/>
              <a:rect r="r" b="b" t="t" l="l"/>
              <a:pathLst>
                <a:path h="2862199" w="7193788">
                  <a:moveTo>
                    <a:pt x="0" y="184658"/>
                  </a:moveTo>
                  <a:cubicBezTo>
                    <a:pt x="0" y="82677"/>
                    <a:pt x="82677" y="0"/>
                    <a:pt x="184658" y="0"/>
                  </a:cubicBezTo>
                  <a:lnTo>
                    <a:pt x="7009130" y="0"/>
                  </a:lnTo>
                  <a:cubicBezTo>
                    <a:pt x="7111112" y="0"/>
                    <a:pt x="7193788" y="82677"/>
                    <a:pt x="7193788" y="184658"/>
                  </a:cubicBezTo>
                  <a:lnTo>
                    <a:pt x="7193788" y="2677541"/>
                  </a:lnTo>
                  <a:cubicBezTo>
                    <a:pt x="7193788" y="2779522"/>
                    <a:pt x="7111112" y="2862199"/>
                    <a:pt x="7009130" y="2862199"/>
                  </a:cubicBezTo>
                  <a:lnTo>
                    <a:pt x="184658" y="2862199"/>
                  </a:lnTo>
                  <a:cubicBezTo>
                    <a:pt x="82677" y="2862326"/>
                    <a:pt x="0" y="2779649"/>
                    <a:pt x="0" y="267754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54971" y="2813980"/>
            <a:ext cx="5376301" cy="123539"/>
            <a:chOff x="0" y="0"/>
            <a:chExt cx="7168401" cy="1647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68388" cy="164719"/>
            </a:xfrm>
            <a:custGeom>
              <a:avLst/>
              <a:gdLst/>
              <a:ahLst/>
              <a:cxnLst/>
              <a:rect r="r" b="b" t="t" l="l"/>
              <a:pathLst>
                <a:path h="164719" w="7168388">
                  <a:moveTo>
                    <a:pt x="0" y="0"/>
                  </a:moveTo>
                  <a:lnTo>
                    <a:pt x="7168388" y="0"/>
                  </a:lnTo>
                  <a:lnTo>
                    <a:pt x="7168388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98137" y="3143421"/>
            <a:ext cx="4758595" cy="480431"/>
            <a:chOff x="0" y="0"/>
            <a:chExt cx="6344793" cy="6405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44797" cy="640580"/>
            </a:xfrm>
            <a:custGeom>
              <a:avLst/>
              <a:gdLst/>
              <a:ahLst/>
              <a:cxnLst/>
              <a:rect r="r" b="b" t="t" l="l"/>
              <a:pathLst>
                <a:path h="640580" w="6344797">
                  <a:moveTo>
                    <a:pt x="0" y="0"/>
                  </a:moveTo>
                  <a:lnTo>
                    <a:pt x="6344797" y="0"/>
                  </a:lnTo>
                  <a:lnTo>
                    <a:pt x="6344797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994" r="0" b="-14299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6344793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Finance Offers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89577" y="3719160"/>
            <a:ext cx="4575715" cy="1094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The dominant category — “3 installments on us,” zero-down, monthly focus.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451178" y="2804446"/>
            <a:ext cx="5395370" cy="2146706"/>
            <a:chOff x="0" y="0"/>
            <a:chExt cx="7193826" cy="28622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93788" cy="2862199"/>
            </a:xfrm>
            <a:custGeom>
              <a:avLst/>
              <a:gdLst/>
              <a:ahLst/>
              <a:cxnLst/>
              <a:rect r="r" b="b" t="t" l="l"/>
              <a:pathLst>
                <a:path h="2862199" w="7193788">
                  <a:moveTo>
                    <a:pt x="0" y="184658"/>
                  </a:moveTo>
                  <a:cubicBezTo>
                    <a:pt x="0" y="82677"/>
                    <a:pt x="82677" y="0"/>
                    <a:pt x="184658" y="0"/>
                  </a:cubicBezTo>
                  <a:lnTo>
                    <a:pt x="7009130" y="0"/>
                  </a:lnTo>
                  <a:cubicBezTo>
                    <a:pt x="7111112" y="0"/>
                    <a:pt x="7193788" y="82677"/>
                    <a:pt x="7193788" y="184658"/>
                  </a:cubicBezTo>
                  <a:lnTo>
                    <a:pt x="7193788" y="2677541"/>
                  </a:lnTo>
                  <a:cubicBezTo>
                    <a:pt x="7193788" y="2779522"/>
                    <a:pt x="7111112" y="2862199"/>
                    <a:pt x="7009130" y="2862199"/>
                  </a:cubicBezTo>
                  <a:lnTo>
                    <a:pt x="184658" y="2862199"/>
                  </a:lnTo>
                  <a:cubicBezTo>
                    <a:pt x="82677" y="2862326"/>
                    <a:pt x="0" y="2779649"/>
                    <a:pt x="0" y="267754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460712" y="2813980"/>
            <a:ext cx="5376301" cy="123539"/>
            <a:chOff x="0" y="0"/>
            <a:chExt cx="7168401" cy="16471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68388" cy="164719"/>
            </a:xfrm>
            <a:custGeom>
              <a:avLst/>
              <a:gdLst/>
              <a:ahLst/>
              <a:cxnLst/>
              <a:rect r="r" b="b" t="t" l="l"/>
              <a:pathLst>
                <a:path h="164719" w="7168388">
                  <a:moveTo>
                    <a:pt x="0" y="0"/>
                  </a:moveTo>
                  <a:lnTo>
                    <a:pt x="7168388" y="0"/>
                  </a:lnTo>
                  <a:lnTo>
                    <a:pt x="7168388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803879" y="3143421"/>
            <a:ext cx="4758595" cy="480431"/>
            <a:chOff x="0" y="0"/>
            <a:chExt cx="6344793" cy="6405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44797" cy="640580"/>
            </a:xfrm>
            <a:custGeom>
              <a:avLst/>
              <a:gdLst/>
              <a:ahLst/>
              <a:cxnLst/>
              <a:rect r="r" b="b" t="t" l="l"/>
              <a:pathLst>
                <a:path h="640580" w="6344797">
                  <a:moveTo>
                    <a:pt x="0" y="0"/>
                  </a:moveTo>
                  <a:lnTo>
                    <a:pt x="6344797" y="0"/>
                  </a:lnTo>
                  <a:lnTo>
                    <a:pt x="6344797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994" r="0" b="-14299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6344793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Model Showcases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895319" y="3719160"/>
            <a:ext cx="4575715" cy="1094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Static product graphics of the T77, B70, T90 lineup.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156919" y="2804446"/>
            <a:ext cx="5395370" cy="2146706"/>
            <a:chOff x="0" y="0"/>
            <a:chExt cx="7193826" cy="28622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193788" cy="2862199"/>
            </a:xfrm>
            <a:custGeom>
              <a:avLst/>
              <a:gdLst/>
              <a:ahLst/>
              <a:cxnLst/>
              <a:rect r="r" b="b" t="t" l="l"/>
              <a:pathLst>
                <a:path h="2862199" w="7193788">
                  <a:moveTo>
                    <a:pt x="0" y="184658"/>
                  </a:moveTo>
                  <a:cubicBezTo>
                    <a:pt x="0" y="82677"/>
                    <a:pt x="82677" y="0"/>
                    <a:pt x="184658" y="0"/>
                  </a:cubicBezTo>
                  <a:lnTo>
                    <a:pt x="7009130" y="0"/>
                  </a:lnTo>
                  <a:cubicBezTo>
                    <a:pt x="7111112" y="0"/>
                    <a:pt x="7193788" y="82677"/>
                    <a:pt x="7193788" y="184658"/>
                  </a:cubicBezTo>
                  <a:lnTo>
                    <a:pt x="7193788" y="2677541"/>
                  </a:lnTo>
                  <a:cubicBezTo>
                    <a:pt x="7193788" y="2779522"/>
                    <a:pt x="7111112" y="2862199"/>
                    <a:pt x="7009130" y="2862199"/>
                  </a:cubicBezTo>
                  <a:lnTo>
                    <a:pt x="184658" y="2862199"/>
                  </a:lnTo>
                  <a:cubicBezTo>
                    <a:pt x="82677" y="2862326"/>
                    <a:pt x="0" y="2779649"/>
                    <a:pt x="0" y="267754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166454" y="2813980"/>
            <a:ext cx="5376301" cy="123539"/>
            <a:chOff x="0" y="0"/>
            <a:chExt cx="7168401" cy="16471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68388" cy="164719"/>
            </a:xfrm>
            <a:custGeom>
              <a:avLst/>
              <a:gdLst/>
              <a:ahLst/>
              <a:cxnLst/>
              <a:rect r="r" b="b" t="t" l="l"/>
              <a:pathLst>
                <a:path h="164719" w="7168388">
                  <a:moveTo>
                    <a:pt x="0" y="0"/>
                  </a:moveTo>
                  <a:lnTo>
                    <a:pt x="7168388" y="0"/>
                  </a:lnTo>
                  <a:lnTo>
                    <a:pt x="7168388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509621" y="3143421"/>
            <a:ext cx="4758595" cy="480431"/>
            <a:chOff x="0" y="0"/>
            <a:chExt cx="6344793" cy="6405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44797" cy="640580"/>
            </a:xfrm>
            <a:custGeom>
              <a:avLst/>
              <a:gdLst/>
              <a:ahLst/>
              <a:cxnLst/>
              <a:rect r="r" b="b" t="t" l="l"/>
              <a:pathLst>
                <a:path h="640580" w="6344797">
                  <a:moveTo>
                    <a:pt x="0" y="0"/>
                  </a:moveTo>
                  <a:lnTo>
                    <a:pt x="6344797" y="0"/>
                  </a:lnTo>
                  <a:lnTo>
                    <a:pt x="6344797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994" r="0" b="-14299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6344793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Football Partnership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2601061" y="3719160"/>
            <a:ext cx="4575715" cy="1094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Heavy Al-Ittihad FC content: matches, sponsorship, giveaways.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45436" y="5234073"/>
            <a:ext cx="5395370" cy="2146706"/>
            <a:chOff x="0" y="0"/>
            <a:chExt cx="7193826" cy="286227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193788" cy="2862199"/>
            </a:xfrm>
            <a:custGeom>
              <a:avLst/>
              <a:gdLst/>
              <a:ahLst/>
              <a:cxnLst/>
              <a:rect r="r" b="b" t="t" l="l"/>
              <a:pathLst>
                <a:path h="2862199" w="7193788">
                  <a:moveTo>
                    <a:pt x="0" y="184658"/>
                  </a:moveTo>
                  <a:cubicBezTo>
                    <a:pt x="0" y="82677"/>
                    <a:pt x="82677" y="0"/>
                    <a:pt x="184658" y="0"/>
                  </a:cubicBezTo>
                  <a:lnTo>
                    <a:pt x="7009130" y="0"/>
                  </a:lnTo>
                  <a:cubicBezTo>
                    <a:pt x="7111112" y="0"/>
                    <a:pt x="7193788" y="82677"/>
                    <a:pt x="7193788" y="184658"/>
                  </a:cubicBezTo>
                  <a:lnTo>
                    <a:pt x="7193788" y="2677541"/>
                  </a:lnTo>
                  <a:cubicBezTo>
                    <a:pt x="7193788" y="2779522"/>
                    <a:pt x="7111112" y="2862199"/>
                    <a:pt x="7009130" y="2862199"/>
                  </a:cubicBezTo>
                  <a:lnTo>
                    <a:pt x="184658" y="2862199"/>
                  </a:lnTo>
                  <a:cubicBezTo>
                    <a:pt x="82677" y="2862326"/>
                    <a:pt x="0" y="2779649"/>
                    <a:pt x="0" y="267754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754971" y="5243608"/>
            <a:ext cx="5376301" cy="123539"/>
            <a:chOff x="0" y="0"/>
            <a:chExt cx="7168401" cy="16471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168388" cy="164719"/>
            </a:xfrm>
            <a:custGeom>
              <a:avLst/>
              <a:gdLst/>
              <a:ahLst/>
              <a:cxnLst/>
              <a:rect r="r" b="b" t="t" l="l"/>
              <a:pathLst>
                <a:path h="164719" w="7168388">
                  <a:moveTo>
                    <a:pt x="0" y="0"/>
                  </a:moveTo>
                  <a:lnTo>
                    <a:pt x="7168388" y="0"/>
                  </a:lnTo>
                  <a:lnTo>
                    <a:pt x="7168388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98137" y="5573049"/>
            <a:ext cx="4758595" cy="480431"/>
            <a:chOff x="0" y="0"/>
            <a:chExt cx="6344793" cy="64057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344797" cy="640580"/>
            </a:xfrm>
            <a:custGeom>
              <a:avLst/>
              <a:gdLst/>
              <a:ahLst/>
              <a:cxnLst/>
              <a:rect r="r" b="b" t="t" l="l"/>
              <a:pathLst>
                <a:path h="640580" w="6344797">
                  <a:moveTo>
                    <a:pt x="0" y="0"/>
                  </a:moveTo>
                  <a:lnTo>
                    <a:pt x="6344797" y="0"/>
                  </a:lnTo>
                  <a:lnTo>
                    <a:pt x="6344797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994" r="0" b="-14299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6344793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Giveaways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189577" y="6148788"/>
            <a:ext cx="4575715" cy="1094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iPhone draws, “mention 3 friends” engagement-bait mechanics.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451178" y="5234073"/>
            <a:ext cx="5395370" cy="2146706"/>
            <a:chOff x="0" y="0"/>
            <a:chExt cx="7193826" cy="28622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193788" cy="2862199"/>
            </a:xfrm>
            <a:custGeom>
              <a:avLst/>
              <a:gdLst/>
              <a:ahLst/>
              <a:cxnLst/>
              <a:rect r="r" b="b" t="t" l="l"/>
              <a:pathLst>
                <a:path h="2862199" w="7193788">
                  <a:moveTo>
                    <a:pt x="0" y="184658"/>
                  </a:moveTo>
                  <a:cubicBezTo>
                    <a:pt x="0" y="82677"/>
                    <a:pt x="82677" y="0"/>
                    <a:pt x="184658" y="0"/>
                  </a:cubicBezTo>
                  <a:lnTo>
                    <a:pt x="7009130" y="0"/>
                  </a:lnTo>
                  <a:cubicBezTo>
                    <a:pt x="7111112" y="0"/>
                    <a:pt x="7193788" y="82677"/>
                    <a:pt x="7193788" y="184658"/>
                  </a:cubicBezTo>
                  <a:lnTo>
                    <a:pt x="7193788" y="2677541"/>
                  </a:lnTo>
                  <a:cubicBezTo>
                    <a:pt x="7193788" y="2779522"/>
                    <a:pt x="7111112" y="2862199"/>
                    <a:pt x="7009130" y="2862199"/>
                  </a:cubicBezTo>
                  <a:lnTo>
                    <a:pt x="184658" y="2862199"/>
                  </a:lnTo>
                  <a:cubicBezTo>
                    <a:pt x="82677" y="2862326"/>
                    <a:pt x="0" y="2779649"/>
                    <a:pt x="0" y="267754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6460712" y="5243608"/>
            <a:ext cx="5376301" cy="123539"/>
            <a:chOff x="0" y="0"/>
            <a:chExt cx="7168401" cy="16471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168388" cy="164719"/>
            </a:xfrm>
            <a:custGeom>
              <a:avLst/>
              <a:gdLst/>
              <a:ahLst/>
              <a:cxnLst/>
              <a:rect r="r" b="b" t="t" l="l"/>
              <a:pathLst>
                <a:path h="164719" w="7168388">
                  <a:moveTo>
                    <a:pt x="0" y="0"/>
                  </a:moveTo>
                  <a:lnTo>
                    <a:pt x="7168388" y="0"/>
                  </a:lnTo>
                  <a:lnTo>
                    <a:pt x="7168388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6803879" y="5573049"/>
            <a:ext cx="4758595" cy="480431"/>
            <a:chOff x="0" y="0"/>
            <a:chExt cx="6344793" cy="64057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344797" cy="640580"/>
            </a:xfrm>
            <a:custGeom>
              <a:avLst/>
              <a:gdLst/>
              <a:ahLst/>
              <a:cxnLst/>
              <a:rect r="r" b="b" t="t" l="l"/>
              <a:pathLst>
                <a:path h="640580" w="6344797">
                  <a:moveTo>
                    <a:pt x="0" y="0"/>
                  </a:moveTo>
                  <a:lnTo>
                    <a:pt x="6344797" y="0"/>
                  </a:lnTo>
                  <a:lnTo>
                    <a:pt x="6344797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994" r="0" b="-14299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6344793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Seasonal / National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6895319" y="6148788"/>
            <a:ext cx="4575715" cy="1094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National Day and occasion-based posts.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754971" y="8030137"/>
            <a:ext cx="16787784" cy="1166774"/>
            <a:chOff x="0" y="0"/>
            <a:chExt cx="22383712" cy="155569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383750" cy="1555750"/>
            </a:xfrm>
            <a:custGeom>
              <a:avLst/>
              <a:gdLst/>
              <a:ahLst/>
              <a:cxnLst/>
              <a:rect r="r" b="b" t="t" l="l"/>
              <a:pathLst>
                <a:path h="1555750" w="22383750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22219031" y="0"/>
                  </a:lnTo>
                  <a:cubicBezTo>
                    <a:pt x="22309964" y="0"/>
                    <a:pt x="22383750" y="73787"/>
                    <a:pt x="22383750" y="164719"/>
                  </a:cubicBezTo>
                  <a:lnTo>
                    <a:pt x="22383750" y="1391031"/>
                  </a:lnTo>
                  <a:cubicBezTo>
                    <a:pt x="22383750" y="1481963"/>
                    <a:pt x="22309964" y="1555750"/>
                    <a:pt x="22219031" y="1555750"/>
                  </a:cubicBezTo>
                  <a:lnTo>
                    <a:pt x="164719" y="1555750"/>
                  </a:lnTo>
                  <a:cubicBezTo>
                    <a:pt x="73787" y="1555750"/>
                    <a:pt x="0" y="1481963"/>
                    <a:pt x="0" y="1391031"/>
                  </a:cubicBezTo>
                  <a:close/>
                </a:path>
              </a:pathLst>
            </a:custGeom>
            <a:solidFill>
              <a:srgbClr val="0F142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66774" y="8167402"/>
            <a:ext cx="15923000" cy="892235"/>
            <a:chOff x="0" y="0"/>
            <a:chExt cx="21230666" cy="118964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230667" cy="1189649"/>
            </a:xfrm>
            <a:custGeom>
              <a:avLst/>
              <a:gdLst/>
              <a:ahLst/>
              <a:cxnLst/>
              <a:rect r="r" b="b" t="t" l="l"/>
              <a:pathLst>
                <a:path h="1189649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1189649"/>
                  </a:lnTo>
                  <a:lnTo>
                    <a:pt x="0" y="11896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733" r="0" b="-29773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21230666" cy="12086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33"/>
                </a:lnSpc>
              </a:pPr>
              <a:r>
                <a:rPr lang="en-US" sz="1726" b="true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READ   </a:t>
              </a:r>
              <a:r>
                <a:rPr lang="en-US" sz="1726">
                  <a:solidFill>
                    <a:srgbClr val="E6EAF2"/>
                  </a:solidFill>
                  <a:latin typeface="Poppins"/>
                  <a:ea typeface="Poppins"/>
                  <a:cs typeface="Poppins"/>
                  <a:sym typeface="Poppins"/>
                </a:rPr>
                <a:t>The mix is offer-and-giveaway heavy. Product storytelling, heritage and ownership experience are missing. The football partnership borrows Al-Ittihad's equity rather than building Bestune's own.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 · RESEARCH · CONTENT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212 — Content Overview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73862" y="2076155"/>
            <a:ext cx="16289188" cy="62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8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What each brand actually posts today, categorised.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2804446"/>
            <a:ext cx="8248240" cy="2146706"/>
            <a:chOff x="0" y="0"/>
            <a:chExt cx="10997654" cy="28622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97692" cy="2862199"/>
            </a:xfrm>
            <a:custGeom>
              <a:avLst/>
              <a:gdLst/>
              <a:ahLst/>
              <a:cxnLst/>
              <a:rect r="r" b="b" t="t" l="l"/>
              <a:pathLst>
                <a:path h="2862199" w="10997692">
                  <a:moveTo>
                    <a:pt x="0" y="184658"/>
                  </a:moveTo>
                  <a:cubicBezTo>
                    <a:pt x="0" y="82677"/>
                    <a:pt x="82677" y="0"/>
                    <a:pt x="184658" y="0"/>
                  </a:cubicBezTo>
                  <a:lnTo>
                    <a:pt x="10813034" y="0"/>
                  </a:lnTo>
                  <a:cubicBezTo>
                    <a:pt x="10915015" y="0"/>
                    <a:pt x="10997692" y="82677"/>
                    <a:pt x="10997692" y="184658"/>
                  </a:cubicBezTo>
                  <a:lnTo>
                    <a:pt x="10997692" y="2677541"/>
                  </a:lnTo>
                  <a:cubicBezTo>
                    <a:pt x="10997692" y="2779522"/>
                    <a:pt x="10915015" y="2862199"/>
                    <a:pt x="10813034" y="2862199"/>
                  </a:cubicBezTo>
                  <a:lnTo>
                    <a:pt x="184658" y="2862199"/>
                  </a:lnTo>
                  <a:cubicBezTo>
                    <a:pt x="82677" y="2862326"/>
                    <a:pt x="0" y="2779649"/>
                    <a:pt x="0" y="267754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54971" y="2813980"/>
            <a:ext cx="8229171" cy="123539"/>
            <a:chOff x="0" y="0"/>
            <a:chExt cx="10972228" cy="1647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165" cy="164719"/>
            </a:xfrm>
            <a:custGeom>
              <a:avLst/>
              <a:gdLst/>
              <a:ahLst/>
              <a:cxnLst/>
              <a:rect r="r" b="b" t="t" l="l"/>
              <a:pathLst>
                <a:path h="164719" w="10972165">
                  <a:moveTo>
                    <a:pt x="0" y="0"/>
                  </a:moveTo>
                  <a:lnTo>
                    <a:pt x="10972165" y="0"/>
                  </a:lnTo>
                  <a:lnTo>
                    <a:pt x="10972165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98137" y="3143421"/>
            <a:ext cx="7611466" cy="480431"/>
            <a:chOff x="0" y="0"/>
            <a:chExt cx="10148621" cy="6405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148625" cy="640580"/>
            </a:xfrm>
            <a:custGeom>
              <a:avLst/>
              <a:gdLst/>
              <a:ahLst/>
              <a:cxnLst/>
              <a:rect r="r" b="b" t="t" l="l"/>
              <a:pathLst>
                <a:path h="640580" w="10148625">
                  <a:moveTo>
                    <a:pt x="0" y="0"/>
                  </a:moveTo>
                  <a:lnTo>
                    <a:pt x="10148625" y="0"/>
                  </a:lnTo>
                  <a:lnTo>
                    <a:pt x="10148625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698" r="0" b="-25869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0148621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Heritage Narrative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89577" y="3719160"/>
            <a:ext cx="7428586" cy="1094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The 1960s military-origin story — the strongest, most distinctive thread.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304049" y="2804446"/>
            <a:ext cx="8248240" cy="2146706"/>
            <a:chOff x="0" y="0"/>
            <a:chExt cx="10997654" cy="28622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97692" cy="2862199"/>
            </a:xfrm>
            <a:custGeom>
              <a:avLst/>
              <a:gdLst/>
              <a:ahLst/>
              <a:cxnLst/>
              <a:rect r="r" b="b" t="t" l="l"/>
              <a:pathLst>
                <a:path h="2862199" w="10997692">
                  <a:moveTo>
                    <a:pt x="0" y="184658"/>
                  </a:moveTo>
                  <a:cubicBezTo>
                    <a:pt x="0" y="82677"/>
                    <a:pt x="82677" y="0"/>
                    <a:pt x="184658" y="0"/>
                  </a:cubicBezTo>
                  <a:lnTo>
                    <a:pt x="10813034" y="0"/>
                  </a:lnTo>
                  <a:cubicBezTo>
                    <a:pt x="10915015" y="0"/>
                    <a:pt x="10997692" y="82677"/>
                    <a:pt x="10997692" y="184658"/>
                  </a:cubicBezTo>
                  <a:lnTo>
                    <a:pt x="10997692" y="2677541"/>
                  </a:lnTo>
                  <a:cubicBezTo>
                    <a:pt x="10997692" y="2779522"/>
                    <a:pt x="10915015" y="2862199"/>
                    <a:pt x="10813034" y="2862199"/>
                  </a:cubicBezTo>
                  <a:lnTo>
                    <a:pt x="184658" y="2862199"/>
                  </a:lnTo>
                  <a:cubicBezTo>
                    <a:pt x="82677" y="2862326"/>
                    <a:pt x="0" y="2779649"/>
                    <a:pt x="0" y="267754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313583" y="2813980"/>
            <a:ext cx="8229171" cy="123539"/>
            <a:chOff x="0" y="0"/>
            <a:chExt cx="10972228" cy="16471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165" cy="164719"/>
            </a:xfrm>
            <a:custGeom>
              <a:avLst/>
              <a:gdLst/>
              <a:ahLst/>
              <a:cxnLst/>
              <a:rect r="r" b="b" t="t" l="l"/>
              <a:pathLst>
                <a:path h="164719" w="10972165">
                  <a:moveTo>
                    <a:pt x="0" y="0"/>
                  </a:moveTo>
                  <a:lnTo>
                    <a:pt x="10972165" y="0"/>
                  </a:lnTo>
                  <a:lnTo>
                    <a:pt x="10972165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656750" y="3143421"/>
            <a:ext cx="7611466" cy="480431"/>
            <a:chOff x="0" y="0"/>
            <a:chExt cx="10148621" cy="6405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48625" cy="640580"/>
            </a:xfrm>
            <a:custGeom>
              <a:avLst/>
              <a:gdLst/>
              <a:ahLst/>
              <a:cxnLst/>
              <a:rect r="r" b="b" t="t" l="l"/>
              <a:pathLst>
                <a:path h="640580" w="10148625">
                  <a:moveTo>
                    <a:pt x="0" y="0"/>
                  </a:moveTo>
                  <a:lnTo>
                    <a:pt x="10148625" y="0"/>
                  </a:lnTo>
                  <a:lnTo>
                    <a:pt x="10148625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698" r="0" b="-25869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0148621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Capability / Product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748190" y="3719160"/>
            <a:ext cx="7428586" cy="1094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Off-road specs, “recognizes no boundaries,” rugged design.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45436" y="5234073"/>
            <a:ext cx="8248240" cy="2146706"/>
            <a:chOff x="0" y="0"/>
            <a:chExt cx="10997654" cy="28622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97692" cy="2862199"/>
            </a:xfrm>
            <a:custGeom>
              <a:avLst/>
              <a:gdLst/>
              <a:ahLst/>
              <a:cxnLst/>
              <a:rect r="r" b="b" t="t" l="l"/>
              <a:pathLst>
                <a:path h="2862199" w="10997692">
                  <a:moveTo>
                    <a:pt x="0" y="184658"/>
                  </a:moveTo>
                  <a:cubicBezTo>
                    <a:pt x="0" y="82677"/>
                    <a:pt x="82677" y="0"/>
                    <a:pt x="184658" y="0"/>
                  </a:cubicBezTo>
                  <a:lnTo>
                    <a:pt x="10813034" y="0"/>
                  </a:lnTo>
                  <a:cubicBezTo>
                    <a:pt x="10915015" y="0"/>
                    <a:pt x="10997692" y="82677"/>
                    <a:pt x="10997692" y="184658"/>
                  </a:cubicBezTo>
                  <a:lnTo>
                    <a:pt x="10997692" y="2677541"/>
                  </a:lnTo>
                  <a:cubicBezTo>
                    <a:pt x="10997692" y="2779522"/>
                    <a:pt x="10915015" y="2862199"/>
                    <a:pt x="10813034" y="2862199"/>
                  </a:cubicBezTo>
                  <a:lnTo>
                    <a:pt x="184658" y="2862199"/>
                  </a:lnTo>
                  <a:cubicBezTo>
                    <a:pt x="82677" y="2862326"/>
                    <a:pt x="0" y="2779649"/>
                    <a:pt x="0" y="267754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754971" y="5243608"/>
            <a:ext cx="8229171" cy="123539"/>
            <a:chOff x="0" y="0"/>
            <a:chExt cx="10972228" cy="16471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165" cy="164719"/>
            </a:xfrm>
            <a:custGeom>
              <a:avLst/>
              <a:gdLst/>
              <a:ahLst/>
              <a:cxnLst/>
              <a:rect r="r" b="b" t="t" l="l"/>
              <a:pathLst>
                <a:path h="164719" w="10972165">
                  <a:moveTo>
                    <a:pt x="0" y="0"/>
                  </a:moveTo>
                  <a:lnTo>
                    <a:pt x="10972165" y="0"/>
                  </a:lnTo>
                  <a:lnTo>
                    <a:pt x="10972165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98137" y="5573049"/>
            <a:ext cx="7611466" cy="480431"/>
            <a:chOff x="0" y="0"/>
            <a:chExt cx="10148621" cy="6405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148625" cy="640580"/>
            </a:xfrm>
            <a:custGeom>
              <a:avLst/>
              <a:gdLst/>
              <a:ahLst/>
              <a:cxnLst/>
              <a:rect r="r" b="b" t="t" l="l"/>
              <a:pathLst>
                <a:path h="640580" w="10148625">
                  <a:moveTo>
                    <a:pt x="0" y="0"/>
                  </a:moveTo>
                  <a:lnTo>
                    <a:pt x="10148625" y="0"/>
                  </a:lnTo>
                  <a:lnTo>
                    <a:pt x="10148625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698" r="0" b="-25869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0148621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Model Showcases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189577" y="6148788"/>
            <a:ext cx="7428586" cy="1094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Adventure &amp; Navigator trims, boxy-silhouette hero shots.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54971" y="8030137"/>
            <a:ext cx="16787784" cy="1166774"/>
            <a:chOff x="0" y="0"/>
            <a:chExt cx="22383712" cy="155569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383750" cy="1555750"/>
            </a:xfrm>
            <a:custGeom>
              <a:avLst/>
              <a:gdLst/>
              <a:ahLst/>
              <a:cxnLst/>
              <a:rect r="r" b="b" t="t" l="l"/>
              <a:pathLst>
                <a:path h="1555750" w="22383750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22219031" y="0"/>
                  </a:lnTo>
                  <a:cubicBezTo>
                    <a:pt x="22309964" y="0"/>
                    <a:pt x="22383750" y="73787"/>
                    <a:pt x="22383750" y="164719"/>
                  </a:cubicBezTo>
                  <a:lnTo>
                    <a:pt x="22383750" y="1391031"/>
                  </a:lnTo>
                  <a:cubicBezTo>
                    <a:pt x="22383750" y="1481963"/>
                    <a:pt x="22309964" y="1555750"/>
                    <a:pt x="22219031" y="1555750"/>
                  </a:cubicBezTo>
                  <a:lnTo>
                    <a:pt x="164719" y="1555750"/>
                  </a:lnTo>
                  <a:cubicBezTo>
                    <a:pt x="73787" y="1555750"/>
                    <a:pt x="0" y="1481963"/>
                    <a:pt x="0" y="1391031"/>
                  </a:cubicBezTo>
                  <a:close/>
                </a:path>
              </a:pathLst>
            </a:custGeom>
            <a:solidFill>
              <a:srgbClr val="0F142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66774" y="8167402"/>
            <a:ext cx="15923000" cy="892235"/>
            <a:chOff x="0" y="0"/>
            <a:chExt cx="21230666" cy="118964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230667" cy="1189649"/>
            </a:xfrm>
            <a:custGeom>
              <a:avLst/>
              <a:gdLst/>
              <a:ahLst/>
              <a:cxnLst/>
              <a:rect r="r" b="b" t="t" l="l"/>
              <a:pathLst>
                <a:path h="1189649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1189649"/>
                  </a:lnTo>
                  <a:lnTo>
                    <a:pt x="0" y="11896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733" r="0" b="-29773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21230666" cy="12086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33"/>
                </a:lnSpc>
              </a:pPr>
              <a:r>
                <a:rPr lang="en-US" sz="1726" b="true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READ   </a:t>
              </a:r>
              <a:r>
                <a:rPr lang="en-US" sz="1726">
                  <a:solidFill>
                    <a:srgbClr val="E6EAF2"/>
                  </a:solidFill>
                  <a:latin typeface="Poppins"/>
                  <a:ea typeface="Poppins"/>
                  <a:cs typeface="Poppins"/>
                  <a:sym typeface="Poppins"/>
                </a:rPr>
                <a:t>212's content is thin in volume but clean in direction — the only brand that already knows what it wants to be. The gap isn't identity, it's activation and format: a story tailor-made for TikTok, living as static feed content.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 · RESEARCH · CONTENT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Motor Souq — Content Overview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73862" y="2076155"/>
            <a:ext cx="16289188" cy="62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8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What each brand actually posts today, categorised.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2804446"/>
            <a:ext cx="8248240" cy="2146706"/>
            <a:chOff x="0" y="0"/>
            <a:chExt cx="10997654" cy="28622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97692" cy="2862199"/>
            </a:xfrm>
            <a:custGeom>
              <a:avLst/>
              <a:gdLst/>
              <a:ahLst/>
              <a:cxnLst/>
              <a:rect r="r" b="b" t="t" l="l"/>
              <a:pathLst>
                <a:path h="2862199" w="10997692">
                  <a:moveTo>
                    <a:pt x="0" y="184658"/>
                  </a:moveTo>
                  <a:cubicBezTo>
                    <a:pt x="0" y="82677"/>
                    <a:pt x="82677" y="0"/>
                    <a:pt x="184658" y="0"/>
                  </a:cubicBezTo>
                  <a:lnTo>
                    <a:pt x="10813034" y="0"/>
                  </a:lnTo>
                  <a:cubicBezTo>
                    <a:pt x="10915015" y="0"/>
                    <a:pt x="10997692" y="82677"/>
                    <a:pt x="10997692" y="184658"/>
                  </a:cubicBezTo>
                  <a:lnTo>
                    <a:pt x="10997692" y="2677541"/>
                  </a:lnTo>
                  <a:cubicBezTo>
                    <a:pt x="10997692" y="2779522"/>
                    <a:pt x="10915015" y="2862199"/>
                    <a:pt x="10813034" y="2862199"/>
                  </a:cubicBezTo>
                  <a:lnTo>
                    <a:pt x="184658" y="2862199"/>
                  </a:lnTo>
                  <a:cubicBezTo>
                    <a:pt x="82677" y="2862326"/>
                    <a:pt x="0" y="2779649"/>
                    <a:pt x="0" y="267754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54971" y="2813980"/>
            <a:ext cx="8229171" cy="123539"/>
            <a:chOff x="0" y="0"/>
            <a:chExt cx="10972228" cy="1647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165" cy="164719"/>
            </a:xfrm>
            <a:custGeom>
              <a:avLst/>
              <a:gdLst/>
              <a:ahLst/>
              <a:cxnLst/>
              <a:rect r="r" b="b" t="t" l="l"/>
              <a:pathLst>
                <a:path h="164719" w="10972165">
                  <a:moveTo>
                    <a:pt x="0" y="0"/>
                  </a:moveTo>
                  <a:lnTo>
                    <a:pt x="10972165" y="0"/>
                  </a:lnTo>
                  <a:lnTo>
                    <a:pt x="10972165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98137" y="3143421"/>
            <a:ext cx="7611466" cy="480431"/>
            <a:chOff x="0" y="0"/>
            <a:chExt cx="10148621" cy="6405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148625" cy="640580"/>
            </a:xfrm>
            <a:custGeom>
              <a:avLst/>
              <a:gdLst/>
              <a:ahLst/>
              <a:cxnLst/>
              <a:rect r="r" b="b" t="t" l="l"/>
              <a:pathLst>
                <a:path h="640580" w="10148625">
                  <a:moveTo>
                    <a:pt x="0" y="0"/>
                  </a:moveTo>
                  <a:lnTo>
                    <a:pt x="10148625" y="0"/>
                  </a:lnTo>
                  <a:lnTo>
                    <a:pt x="10148625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698" r="0" b="-25869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0148621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Comparison Posts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89577" y="3719160"/>
            <a:ext cx="7428586" cy="1094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The signature format: “Sportage or Jetour?” — two cars, a question, a CTA.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304049" y="2804446"/>
            <a:ext cx="8248240" cy="2146706"/>
            <a:chOff x="0" y="0"/>
            <a:chExt cx="10997654" cy="28622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97692" cy="2862199"/>
            </a:xfrm>
            <a:custGeom>
              <a:avLst/>
              <a:gdLst/>
              <a:ahLst/>
              <a:cxnLst/>
              <a:rect r="r" b="b" t="t" l="l"/>
              <a:pathLst>
                <a:path h="2862199" w="10997692">
                  <a:moveTo>
                    <a:pt x="0" y="184658"/>
                  </a:moveTo>
                  <a:cubicBezTo>
                    <a:pt x="0" y="82677"/>
                    <a:pt x="82677" y="0"/>
                    <a:pt x="184658" y="0"/>
                  </a:cubicBezTo>
                  <a:lnTo>
                    <a:pt x="10813034" y="0"/>
                  </a:lnTo>
                  <a:cubicBezTo>
                    <a:pt x="10915015" y="0"/>
                    <a:pt x="10997692" y="82677"/>
                    <a:pt x="10997692" y="184658"/>
                  </a:cubicBezTo>
                  <a:lnTo>
                    <a:pt x="10997692" y="2677541"/>
                  </a:lnTo>
                  <a:cubicBezTo>
                    <a:pt x="10997692" y="2779522"/>
                    <a:pt x="10915015" y="2862199"/>
                    <a:pt x="10813034" y="2862199"/>
                  </a:cubicBezTo>
                  <a:lnTo>
                    <a:pt x="184658" y="2862199"/>
                  </a:lnTo>
                  <a:cubicBezTo>
                    <a:pt x="82677" y="2862326"/>
                    <a:pt x="0" y="2779649"/>
                    <a:pt x="0" y="267754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313583" y="2813980"/>
            <a:ext cx="8229171" cy="123539"/>
            <a:chOff x="0" y="0"/>
            <a:chExt cx="10972228" cy="16471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165" cy="164719"/>
            </a:xfrm>
            <a:custGeom>
              <a:avLst/>
              <a:gdLst/>
              <a:ahLst/>
              <a:cxnLst/>
              <a:rect r="r" b="b" t="t" l="l"/>
              <a:pathLst>
                <a:path h="164719" w="10972165">
                  <a:moveTo>
                    <a:pt x="0" y="0"/>
                  </a:moveTo>
                  <a:lnTo>
                    <a:pt x="10972165" y="0"/>
                  </a:lnTo>
                  <a:lnTo>
                    <a:pt x="10972165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656750" y="3143421"/>
            <a:ext cx="7611466" cy="480431"/>
            <a:chOff x="0" y="0"/>
            <a:chExt cx="10148621" cy="6405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48625" cy="640580"/>
            </a:xfrm>
            <a:custGeom>
              <a:avLst/>
              <a:gdLst/>
              <a:ahLst/>
              <a:cxnLst/>
              <a:rect r="r" b="b" t="t" l="l"/>
              <a:pathLst>
                <a:path h="640580" w="10148625">
                  <a:moveTo>
                    <a:pt x="0" y="0"/>
                  </a:moveTo>
                  <a:lnTo>
                    <a:pt x="10148625" y="0"/>
                  </a:lnTo>
                  <a:lnTo>
                    <a:pt x="10148625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698" r="0" b="-25869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0148621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Seasonal Offers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748190" y="3719160"/>
            <a:ext cx="7428586" cy="1094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Ramadan promotions and deals across all seven branches.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45436" y="5234073"/>
            <a:ext cx="8248240" cy="2146706"/>
            <a:chOff x="0" y="0"/>
            <a:chExt cx="10997654" cy="28622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97692" cy="2862199"/>
            </a:xfrm>
            <a:custGeom>
              <a:avLst/>
              <a:gdLst/>
              <a:ahLst/>
              <a:cxnLst/>
              <a:rect r="r" b="b" t="t" l="l"/>
              <a:pathLst>
                <a:path h="2862199" w="10997692">
                  <a:moveTo>
                    <a:pt x="0" y="184658"/>
                  </a:moveTo>
                  <a:cubicBezTo>
                    <a:pt x="0" y="82677"/>
                    <a:pt x="82677" y="0"/>
                    <a:pt x="184658" y="0"/>
                  </a:cubicBezTo>
                  <a:lnTo>
                    <a:pt x="10813034" y="0"/>
                  </a:lnTo>
                  <a:cubicBezTo>
                    <a:pt x="10915015" y="0"/>
                    <a:pt x="10997692" y="82677"/>
                    <a:pt x="10997692" y="184658"/>
                  </a:cubicBezTo>
                  <a:lnTo>
                    <a:pt x="10997692" y="2677541"/>
                  </a:lnTo>
                  <a:cubicBezTo>
                    <a:pt x="10997692" y="2779522"/>
                    <a:pt x="10915015" y="2862199"/>
                    <a:pt x="10813034" y="2862199"/>
                  </a:cubicBezTo>
                  <a:lnTo>
                    <a:pt x="184658" y="2862199"/>
                  </a:lnTo>
                  <a:cubicBezTo>
                    <a:pt x="82677" y="2862326"/>
                    <a:pt x="0" y="2779649"/>
                    <a:pt x="0" y="267754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754971" y="5243608"/>
            <a:ext cx="8229171" cy="123539"/>
            <a:chOff x="0" y="0"/>
            <a:chExt cx="10972228" cy="16471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165" cy="164719"/>
            </a:xfrm>
            <a:custGeom>
              <a:avLst/>
              <a:gdLst/>
              <a:ahLst/>
              <a:cxnLst/>
              <a:rect r="r" b="b" t="t" l="l"/>
              <a:pathLst>
                <a:path h="164719" w="10972165">
                  <a:moveTo>
                    <a:pt x="0" y="0"/>
                  </a:moveTo>
                  <a:lnTo>
                    <a:pt x="10972165" y="0"/>
                  </a:lnTo>
                  <a:lnTo>
                    <a:pt x="10972165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98137" y="5573049"/>
            <a:ext cx="7611466" cy="480431"/>
            <a:chOff x="0" y="0"/>
            <a:chExt cx="10148621" cy="6405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148625" cy="640580"/>
            </a:xfrm>
            <a:custGeom>
              <a:avLst/>
              <a:gdLst/>
              <a:ahLst/>
              <a:cxnLst/>
              <a:rect r="r" b="b" t="t" l="l"/>
              <a:pathLst>
                <a:path h="640580" w="10148625">
                  <a:moveTo>
                    <a:pt x="0" y="0"/>
                  </a:moveTo>
                  <a:lnTo>
                    <a:pt x="10148625" y="0"/>
                  </a:lnTo>
                  <a:lnTo>
                    <a:pt x="10148625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698" r="0" b="-25869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0148621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Multi-brand Inventory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189577" y="6148788"/>
            <a:ext cx="7428586" cy="1094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“Everything you want in one place” one-stop messaging.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304049" y="5234073"/>
            <a:ext cx="8248240" cy="2146706"/>
            <a:chOff x="0" y="0"/>
            <a:chExt cx="10997654" cy="286227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97692" cy="2862199"/>
            </a:xfrm>
            <a:custGeom>
              <a:avLst/>
              <a:gdLst/>
              <a:ahLst/>
              <a:cxnLst/>
              <a:rect r="r" b="b" t="t" l="l"/>
              <a:pathLst>
                <a:path h="2862199" w="10997692">
                  <a:moveTo>
                    <a:pt x="0" y="184658"/>
                  </a:moveTo>
                  <a:cubicBezTo>
                    <a:pt x="0" y="82677"/>
                    <a:pt x="82677" y="0"/>
                    <a:pt x="184658" y="0"/>
                  </a:cubicBezTo>
                  <a:lnTo>
                    <a:pt x="10813034" y="0"/>
                  </a:lnTo>
                  <a:cubicBezTo>
                    <a:pt x="10915015" y="0"/>
                    <a:pt x="10997692" y="82677"/>
                    <a:pt x="10997692" y="184658"/>
                  </a:cubicBezTo>
                  <a:lnTo>
                    <a:pt x="10997692" y="2677541"/>
                  </a:lnTo>
                  <a:cubicBezTo>
                    <a:pt x="10997692" y="2779522"/>
                    <a:pt x="10915015" y="2862199"/>
                    <a:pt x="10813034" y="2862199"/>
                  </a:cubicBezTo>
                  <a:lnTo>
                    <a:pt x="184658" y="2862199"/>
                  </a:lnTo>
                  <a:cubicBezTo>
                    <a:pt x="82677" y="2862326"/>
                    <a:pt x="0" y="2779649"/>
                    <a:pt x="0" y="267754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313583" y="5243608"/>
            <a:ext cx="8229171" cy="123539"/>
            <a:chOff x="0" y="0"/>
            <a:chExt cx="10972228" cy="16471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165" cy="164719"/>
            </a:xfrm>
            <a:custGeom>
              <a:avLst/>
              <a:gdLst/>
              <a:ahLst/>
              <a:cxnLst/>
              <a:rect r="r" b="b" t="t" l="l"/>
              <a:pathLst>
                <a:path h="164719" w="10972165">
                  <a:moveTo>
                    <a:pt x="0" y="0"/>
                  </a:moveTo>
                  <a:lnTo>
                    <a:pt x="10972165" y="0"/>
                  </a:lnTo>
                  <a:lnTo>
                    <a:pt x="10972165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656750" y="5573049"/>
            <a:ext cx="7611466" cy="480431"/>
            <a:chOff x="0" y="0"/>
            <a:chExt cx="10148621" cy="64057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148625" cy="640580"/>
            </a:xfrm>
            <a:custGeom>
              <a:avLst/>
              <a:gdLst/>
              <a:ahLst/>
              <a:cxnLst/>
              <a:rect r="r" b="b" t="t" l="l"/>
              <a:pathLst>
                <a:path h="640580" w="10148625">
                  <a:moveTo>
                    <a:pt x="0" y="0"/>
                  </a:moveTo>
                  <a:lnTo>
                    <a:pt x="10148625" y="0"/>
                  </a:lnTo>
                  <a:lnTo>
                    <a:pt x="10148625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698" r="0" b="-25869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0148621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Branch / Location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9748190" y="6148788"/>
            <a:ext cx="7428586" cy="1094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Showroom presence across seven Saudi cities.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754971" y="8030137"/>
            <a:ext cx="16787784" cy="1166774"/>
            <a:chOff x="0" y="0"/>
            <a:chExt cx="22383712" cy="155569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383750" cy="1555750"/>
            </a:xfrm>
            <a:custGeom>
              <a:avLst/>
              <a:gdLst/>
              <a:ahLst/>
              <a:cxnLst/>
              <a:rect r="r" b="b" t="t" l="l"/>
              <a:pathLst>
                <a:path h="1555750" w="22383750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22219031" y="0"/>
                  </a:lnTo>
                  <a:cubicBezTo>
                    <a:pt x="22309964" y="0"/>
                    <a:pt x="22383750" y="73787"/>
                    <a:pt x="22383750" y="164719"/>
                  </a:cubicBezTo>
                  <a:lnTo>
                    <a:pt x="22383750" y="1391031"/>
                  </a:lnTo>
                  <a:cubicBezTo>
                    <a:pt x="22383750" y="1481963"/>
                    <a:pt x="22309964" y="1555750"/>
                    <a:pt x="22219031" y="1555750"/>
                  </a:cubicBezTo>
                  <a:lnTo>
                    <a:pt x="164719" y="1555750"/>
                  </a:lnTo>
                  <a:cubicBezTo>
                    <a:pt x="73787" y="1555750"/>
                    <a:pt x="0" y="1481963"/>
                    <a:pt x="0" y="1391031"/>
                  </a:cubicBezTo>
                  <a:close/>
                </a:path>
              </a:pathLst>
            </a:custGeom>
            <a:solidFill>
              <a:srgbClr val="0F142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66774" y="8167402"/>
            <a:ext cx="15923000" cy="892235"/>
            <a:chOff x="0" y="0"/>
            <a:chExt cx="21230666" cy="118964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230667" cy="1189649"/>
            </a:xfrm>
            <a:custGeom>
              <a:avLst/>
              <a:gdLst/>
              <a:ahLst/>
              <a:cxnLst/>
              <a:rect r="r" b="b" t="t" l="l"/>
              <a:pathLst>
                <a:path h="1189649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1189649"/>
                  </a:lnTo>
                  <a:lnTo>
                    <a:pt x="0" y="11896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733" r="0" b="-29773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21230666" cy="12086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33"/>
                </a:lnSpc>
              </a:pPr>
              <a:r>
                <a:rPr lang="en-US" sz="1726" b="true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READ   </a:t>
              </a:r>
              <a:r>
                <a:rPr lang="en-US" sz="1726">
                  <a:solidFill>
                    <a:srgbClr val="E6EAF2"/>
                  </a:solidFill>
                  <a:latin typeface="Poppins"/>
                  <a:ea typeface="Poppins"/>
                  <a:cs typeface="Poppins"/>
                  <a:sym typeface="Poppins"/>
                </a:rPr>
                <a:t>A standard multi-brand dealer, and its content reflects exactly that — offers, price and comparisons. The problem isn't a missing story; it's execution: 78K followers at near-zero engagement, flat static graphics, no differentiating identity.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 · RESEARCH · SOCIAL LISTENING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Social Listening — Method &amp; Sentiment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73862" y="2076155"/>
            <a:ext cx="16289188" cy="62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8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Built from a manual sweep of public conversation. It maps sentiment themes and drivers; a licensed tool is recommended to attach hard mention volumes before activation.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049382" y="2951245"/>
            <a:ext cx="2745343" cy="274539"/>
            <a:chOff x="0" y="0"/>
            <a:chExt cx="3660458" cy="3660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60460" cy="366046"/>
            </a:xfrm>
            <a:custGeom>
              <a:avLst/>
              <a:gdLst/>
              <a:ahLst/>
              <a:cxnLst/>
              <a:rect r="r" b="b" t="t" l="l"/>
              <a:pathLst>
                <a:path h="366046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49" r="0" b="-14485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3660458" cy="375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b="true" sz="1200" spc="225">
                  <a:solidFill>
                    <a:srgbClr val="2E9E5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POSITIVE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922372" y="2951245"/>
            <a:ext cx="2745343" cy="274539"/>
            <a:chOff x="0" y="0"/>
            <a:chExt cx="3660458" cy="3660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60460" cy="366046"/>
            </a:xfrm>
            <a:custGeom>
              <a:avLst/>
              <a:gdLst/>
              <a:ahLst/>
              <a:cxnLst/>
              <a:rect r="r" b="b" t="t" l="l"/>
              <a:pathLst>
                <a:path h="366046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49" r="0" b="-14485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3660458" cy="375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b="true" sz="1200" spc="225">
                  <a:solidFill>
                    <a:srgbClr val="C34A3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NEGATIVE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932627" y="2951245"/>
            <a:ext cx="2745343" cy="274539"/>
            <a:chOff x="0" y="0"/>
            <a:chExt cx="3660458" cy="3660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60460" cy="366046"/>
            </a:xfrm>
            <a:custGeom>
              <a:avLst/>
              <a:gdLst/>
              <a:ahLst/>
              <a:cxnLst/>
              <a:rect r="r" b="b" t="t" l="l"/>
              <a:pathLst>
                <a:path h="366046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49" r="0" b="-14485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3660458" cy="375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b="true" sz="1200" spc="225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NEUTRAL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54971" y="3321863"/>
            <a:ext cx="150990" cy="1757020"/>
            <a:chOff x="0" y="0"/>
            <a:chExt cx="201320" cy="234269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1295" cy="2342642"/>
            </a:xfrm>
            <a:custGeom>
              <a:avLst/>
              <a:gdLst/>
              <a:ahLst/>
              <a:cxnLst/>
              <a:rect r="r" b="b" t="t" l="l"/>
              <a:pathLst>
                <a:path h="2342642" w="201295">
                  <a:moveTo>
                    <a:pt x="0" y="0"/>
                  </a:moveTo>
                  <a:lnTo>
                    <a:pt x="201295" y="0"/>
                  </a:lnTo>
                  <a:lnTo>
                    <a:pt x="201295" y="2342642"/>
                  </a:lnTo>
                  <a:lnTo>
                    <a:pt x="0" y="2342642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70686" y="3321863"/>
            <a:ext cx="2608078" cy="1757020"/>
            <a:chOff x="0" y="0"/>
            <a:chExt cx="3477438" cy="234269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77437" cy="2342694"/>
            </a:xfrm>
            <a:custGeom>
              <a:avLst/>
              <a:gdLst/>
              <a:ahLst/>
              <a:cxnLst/>
              <a:rect r="r" b="b" t="t" l="l"/>
              <a:pathLst>
                <a:path h="2342694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2342694"/>
                  </a:lnTo>
                  <a:lnTo>
                    <a:pt x="0" y="23426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436" t="0" r="-36436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3477438" cy="2361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BESTUNE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637578" y="3349323"/>
            <a:ext cx="411804" cy="411804"/>
            <a:chOff x="0" y="0"/>
            <a:chExt cx="549072" cy="5490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9069" cy="549069"/>
            </a:xfrm>
            <a:custGeom>
              <a:avLst/>
              <a:gdLst/>
              <a:ahLst/>
              <a:cxnLst/>
              <a:rect r="r" b="b" t="t" l="l"/>
              <a:pathLst>
                <a:path h="549069" w="549069">
                  <a:moveTo>
                    <a:pt x="0" y="0"/>
                  </a:moveTo>
                  <a:lnTo>
                    <a:pt x="549069" y="0"/>
                  </a:lnTo>
                  <a:lnTo>
                    <a:pt x="549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549072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2E9E5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＋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4140822" y="3366468"/>
            <a:ext cx="4209669" cy="1639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Design &amp; modern tech praised; B70 seen as elegant, well-equipped.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510568" y="3349323"/>
            <a:ext cx="411804" cy="411804"/>
            <a:chOff x="0" y="0"/>
            <a:chExt cx="549072" cy="5490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9069" cy="549069"/>
            </a:xfrm>
            <a:custGeom>
              <a:avLst/>
              <a:gdLst/>
              <a:ahLst/>
              <a:cxnLst/>
              <a:rect r="r" b="b" t="t" l="l"/>
              <a:pathLst>
                <a:path h="549069" w="549069">
                  <a:moveTo>
                    <a:pt x="0" y="0"/>
                  </a:moveTo>
                  <a:lnTo>
                    <a:pt x="549069" y="0"/>
                  </a:lnTo>
                  <a:lnTo>
                    <a:pt x="549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549072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C34A3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－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013812" y="3366468"/>
            <a:ext cx="4415571" cy="1639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Recurring concern over spare-parts availability, maintenance cost, sound insulation &amp; material quality. Priced high vs other Chinese.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3520823" y="3349323"/>
            <a:ext cx="411804" cy="411804"/>
            <a:chOff x="0" y="0"/>
            <a:chExt cx="549072" cy="54907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49069" cy="549069"/>
            </a:xfrm>
            <a:custGeom>
              <a:avLst/>
              <a:gdLst/>
              <a:ahLst/>
              <a:cxnLst/>
              <a:rect r="r" b="b" t="t" l="l"/>
              <a:pathLst>
                <a:path h="549069" w="549069">
                  <a:moveTo>
                    <a:pt x="0" y="0"/>
                  </a:moveTo>
                  <a:lnTo>
                    <a:pt x="549069" y="0"/>
                  </a:lnTo>
                  <a:lnTo>
                    <a:pt x="549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549072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○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4024067" y="3366468"/>
            <a:ext cx="3317434" cy="1639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Showroom-expansion news; Al-Ittihad partnership chatter.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061152" y="5124260"/>
            <a:ext cx="16353863" cy="19069"/>
            <a:chOff x="0" y="0"/>
            <a:chExt cx="21805151" cy="2542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805137" cy="25400"/>
            </a:xfrm>
            <a:custGeom>
              <a:avLst/>
              <a:gdLst/>
              <a:ahLst/>
              <a:cxnLst/>
              <a:rect r="r" b="b" t="t" l="l"/>
              <a:pathLst>
                <a:path h="25400" w="21805137">
                  <a:moveTo>
                    <a:pt x="0" y="0"/>
                  </a:moveTo>
                  <a:lnTo>
                    <a:pt x="21805137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6677280" r="0" b="-16677380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754971" y="5271059"/>
            <a:ext cx="150990" cy="1757020"/>
            <a:chOff x="0" y="0"/>
            <a:chExt cx="201320" cy="234269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1295" cy="2342642"/>
            </a:xfrm>
            <a:custGeom>
              <a:avLst/>
              <a:gdLst/>
              <a:ahLst/>
              <a:cxnLst/>
              <a:rect r="r" b="b" t="t" l="l"/>
              <a:pathLst>
                <a:path h="2342642" w="201295">
                  <a:moveTo>
                    <a:pt x="0" y="0"/>
                  </a:moveTo>
                  <a:lnTo>
                    <a:pt x="201295" y="0"/>
                  </a:lnTo>
                  <a:lnTo>
                    <a:pt x="201295" y="2342642"/>
                  </a:lnTo>
                  <a:lnTo>
                    <a:pt x="0" y="2342642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70686" y="5271059"/>
            <a:ext cx="2608078" cy="1757020"/>
            <a:chOff x="0" y="0"/>
            <a:chExt cx="3477438" cy="234269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477437" cy="2342694"/>
            </a:xfrm>
            <a:custGeom>
              <a:avLst/>
              <a:gdLst/>
              <a:ahLst/>
              <a:cxnLst/>
              <a:rect r="r" b="b" t="t" l="l"/>
              <a:pathLst>
                <a:path h="2342694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2342694"/>
                  </a:lnTo>
                  <a:lnTo>
                    <a:pt x="0" y="23426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436" t="0" r="-36436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3477438" cy="2361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212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637578" y="5298519"/>
            <a:ext cx="411804" cy="411804"/>
            <a:chOff x="0" y="0"/>
            <a:chExt cx="549072" cy="54907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49069" cy="549069"/>
            </a:xfrm>
            <a:custGeom>
              <a:avLst/>
              <a:gdLst/>
              <a:ahLst/>
              <a:cxnLst/>
              <a:rect r="r" b="b" t="t" l="l"/>
              <a:pathLst>
                <a:path h="549069" w="549069">
                  <a:moveTo>
                    <a:pt x="0" y="0"/>
                  </a:moveTo>
                  <a:lnTo>
                    <a:pt x="549069" y="0"/>
                  </a:lnTo>
                  <a:lnTo>
                    <a:pt x="549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549072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2E9E5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＋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4140822" y="5315664"/>
            <a:ext cx="4209669" cy="1639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Press &amp; enthusiasts frame it as “the Chinese military legend reborn” — heritage + capability at a shock price (~SAR 117K).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8510568" y="5298519"/>
            <a:ext cx="411804" cy="411804"/>
            <a:chOff x="0" y="0"/>
            <a:chExt cx="549072" cy="54907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49069" cy="549069"/>
            </a:xfrm>
            <a:custGeom>
              <a:avLst/>
              <a:gdLst/>
              <a:ahLst/>
              <a:cxnLst/>
              <a:rect r="r" b="b" t="t" l="l"/>
              <a:pathLst>
                <a:path h="549069" w="549069">
                  <a:moveTo>
                    <a:pt x="0" y="0"/>
                  </a:moveTo>
                  <a:lnTo>
                    <a:pt x="549069" y="0"/>
                  </a:lnTo>
                  <a:lnTo>
                    <a:pt x="549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549072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C34A3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－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9013812" y="5315664"/>
            <a:ext cx="4415571" cy="1639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“Chinese newcomer” trust question; unproven durability &amp; resale; young service network.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3520823" y="5298519"/>
            <a:ext cx="411804" cy="411804"/>
            <a:chOff x="0" y="0"/>
            <a:chExt cx="549072" cy="54907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49069" cy="549069"/>
            </a:xfrm>
            <a:custGeom>
              <a:avLst/>
              <a:gdLst/>
              <a:ahLst/>
              <a:cxnLst/>
              <a:rect r="r" b="b" t="t" l="l"/>
              <a:pathLst>
                <a:path h="549069" w="549069">
                  <a:moveTo>
                    <a:pt x="0" y="0"/>
                  </a:moveTo>
                  <a:lnTo>
                    <a:pt x="549069" y="0"/>
                  </a:lnTo>
                  <a:lnTo>
                    <a:pt x="549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549072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○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4024067" y="5315664"/>
            <a:ext cx="3317434" cy="1639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Launch coverage, new variants (Soft-Top, Explorer 01).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061152" y="7073456"/>
            <a:ext cx="16353863" cy="19069"/>
            <a:chOff x="0" y="0"/>
            <a:chExt cx="21805151" cy="2542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805137" cy="25400"/>
            </a:xfrm>
            <a:custGeom>
              <a:avLst/>
              <a:gdLst/>
              <a:ahLst/>
              <a:cxnLst/>
              <a:rect r="r" b="b" t="t" l="l"/>
              <a:pathLst>
                <a:path h="25400" w="21805137">
                  <a:moveTo>
                    <a:pt x="0" y="0"/>
                  </a:moveTo>
                  <a:lnTo>
                    <a:pt x="21805137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6677280" r="0" b="-16677380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754971" y="7220255"/>
            <a:ext cx="150990" cy="1757020"/>
            <a:chOff x="0" y="0"/>
            <a:chExt cx="201320" cy="234269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01295" cy="2342642"/>
            </a:xfrm>
            <a:custGeom>
              <a:avLst/>
              <a:gdLst/>
              <a:ahLst/>
              <a:cxnLst/>
              <a:rect r="r" b="b" t="t" l="l"/>
              <a:pathLst>
                <a:path h="2342642" w="201295">
                  <a:moveTo>
                    <a:pt x="0" y="0"/>
                  </a:moveTo>
                  <a:lnTo>
                    <a:pt x="201295" y="0"/>
                  </a:lnTo>
                  <a:lnTo>
                    <a:pt x="201295" y="2342642"/>
                  </a:lnTo>
                  <a:lnTo>
                    <a:pt x="0" y="2342642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070686" y="7220255"/>
            <a:ext cx="2608078" cy="1757020"/>
            <a:chOff x="0" y="0"/>
            <a:chExt cx="3477438" cy="234269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477437" cy="2342694"/>
            </a:xfrm>
            <a:custGeom>
              <a:avLst/>
              <a:gdLst/>
              <a:ahLst/>
              <a:cxnLst/>
              <a:rect r="r" b="b" t="t" l="l"/>
              <a:pathLst>
                <a:path h="2342694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2342694"/>
                  </a:lnTo>
                  <a:lnTo>
                    <a:pt x="0" y="23426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436" t="0" r="-36436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3477438" cy="2361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MOTOR SOUQ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3637578" y="7247706"/>
            <a:ext cx="411804" cy="411804"/>
            <a:chOff x="0" y="0"/>
            <a:chExt cx="549072" cy="54907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49069" cy="549069"/>
            </a:xfrm>
            <a:custGeom>
              <a:avLst/>
              <a:gdLst/>
              <a:ahLst/>
              <a:cxnLst/>
              <a:rect r="r" b="b" t="t" l="l"/>
              <a:pathLst>
                <a:path h="549069" w="549069">
                  <a:moveTo>
                    <a:pt x="0" y="0"/>
                  </a:moveTo>
                  <a:lnTo>
                    <a:pt x="549069" y="0"/>
                  </a:lnTo>
                  <a:lnTo>
                    <a:pt x="549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549072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2E9E5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＋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4140822" y="7264851"/>
            <a:ext cx="4209669" cy="1639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Convenience &amp; multi-brand choice; “everything in one place.”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8510568" y="7247706"/>
            <a:ext cx="411804" cy="411804"/>
            <a:chOff x="0" y="0"/>
            <a:chExt cx="549072" cy="54907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49069" cy="549069"/>
            </a:xfrm>
            <a:custGeom>
              <a:avLst/>
              <a:gdLst/>
              <a:ahLst/>
              <a:cxnLst/>
              <a:rect r="r" b="b" t="t" l="l"/>
              <a:pathLst>
                <a:path h="549069" w="549069">
                  <a:moveTo>
                    <a:pt x="0" y="0"/>
                  </a:moveTo>
                  <a:lnTo>
                    <a:pt x="549069" y="0"/>
                  </a:lnTo>
                  <a:lnTo>
                    <a:pt x="549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549072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C34A3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－</a:t>
              </a: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9013812" y="7264851"/>
            <a:ext cx="4415571" cy="1639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Thin — but because engagement itself is thin, not because sentiment is clean. Very little conversation exists at all.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3520823" y="7247706"/>
            <a:ext cx="411804" cy="411804"/>
            <a:chOff x="0" y="0"/>
            <a:chExt cx="549072" cy="54907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49069" cy="549069"/>
            </a:xfrm>
            <a:custGeom>
              <a:avLst/>
              <a:gdLst/>
              <a:ahLst/>
              <a:cxnLst/>
              <a:rect r="r" b="b" t="t" l="l"/>
              <a:pathLst>
                <a:path h="549069" w="549069">
                  <a:moveTo>
                    <a:pt x="0" y="0"/>
                  </a:moveTo>
                  <a:lnTo>
                    <a:pt x="549069" y="0"/>
                  </a:lnTo>
                  <a:lnTo>
                    <a:pt x="549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549072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○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4024067" y="7264851"/>
            <a:ext cx="3317434" cy="1639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Offers, comparison posts, branch updates.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1061152" y="9022652"/>
            <a:ext cx="16353863" cy="19069"/>
            <a:chOff x="0" y="0"/>
            <a:chExt cx="21805151" cy="25425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1805137" cy="25400"/>
            </a:xfrm>
            <a:custGeom>
              <a:avLst/>
              <a:gdLst/>
              <a:ahLst/>
              <a:cxnLst/>
              <a:rect r="r" b="b" t="t" l="l"/>
              <a:pathLst>
                <a:path h="25400" w="21805137">
                  <a:moveTo>
                    <a:pt x="0" y="0"/>
                  </a:moveTo>
                  <a:lnTo>
                    <a:pt x="21805137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6677280" r="0" b="-16677380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 · RESEARCH · SOCIAL LISTENING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Competitive Read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5436" y="2598544"/>
            <a:ext cx="16806853" cy="1556461"/>
            <a:chOff x="0" y="0"/>
            <a:chExt cx="22409137" cy="20752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09150" cy="2075307"/>
            </a:xfrm>
            <a:custGeom>
              <a:avLst/>
              <a:gdLst/>
              <a:ahLst/>
              <a:cxnLst/>
              <a:rect r="r" b="b" t="t" l="l"/>
              <a:pathLst>
                <a:path h="2075307" w="22409150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22223857" y="0"/>
                  </a:lnTo>
                  <a:cubicBezTo>
                    <a:pt x="22326220" y="0"/>
                    <a:pt x="22409150" y="82931"/>
                    <a:pt x="22409150" y="185293"/>
                  </a:cubicBezTo>
                  <a:lnTo>
                    <a:pt x="22409150" y="1890014"/>
                  </a:lnTo>
                  <a:cubicBezTo>
                    <a:pt x="22409150" y="1992376"/>
                    <a:pt x="22326220" y="2075307"/>
                    <a:pt x="22223857" y="2075307"/>
                  </a:cubicBezTo>
                  <a:lnTo>
                    <a:pt x="185293" y="2075307"/>
                  </a:lnTo>
                  <a:cubicBezTo>
                    <a:pt x="82931" y="2075307"/>
                    <a:pt x="0" y="1992376"/>
                    <a:pt x="0" y="189001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54971" y="2608078"/>
            <a:ext cx="164725" cy="1537392"/>
            <a:chOff x="0" y="0"/>
            <a:chExt cx="219634" cy="20498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583" cy="2049907"/>
            </a:xfrm>
            <a:custGeom>
              <a:avLst/>
              <a:gdLst/>
              <a:ahLst/>
              <a:cxnLst/>
              <a:rect r="r" b="b" t="t" l="l"/>
              <a:pathLst>
                <a:path h="2049907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049907"/>
                  </a:lnTo>
                  <a:lnTo>
                    <a:pt x="0" y="2049907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66774" y="2855157"/>
            <a:ext cx="4529823" cy="1098137"/>
            <a:chOff x="0" y="0"/>
            <a:chExt cx="6039764" cy="14641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39758" cy="1464184"/>
            </a:xfrm>
            <a:custGeom>
              <a:avLst/>
              <a:gdLst/>
              <a:ahLst/>
              <a:cxnLst/>
              <a:rect r="r" b="b" t="t" l="l"/>
              <a:pathLst>
                <a:path h="1464184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6039764" cy="1492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Bestune vs Changan / MG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902490" y="2827706"/>
            <a:ext cx="11255912" cy="1166774"/>
            <a:chOff x="0" y="0"/>
            <a:chExt cx="15007882" cy="15556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007885" cy="1555695"/>
            </a:xfrm>
            <a:custGeom>
              <a:avLst/>
              <a:gdLst/>
              <a:ahLst/>
              <a:cxnLst/>
              <a:rect r="r" b="b" t="t" l="l"/>
              <a:pathLst>
                <a:path h="1555695" w="15007885">
                  <a:moveTo>
                    <a:pt x="0" y="0"/>
                  </a:moveTo>
                  <a:lnTo>
                    <a:pt x="15007885" y="0"/>
                  </a:lnTo>
                  <a:lnTo>
                    <a:pt x="15007885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973" r="0" b="-13797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5007882" cy="1574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5"/>
                </a:lnSpc>
              </a:pPr>
              <a:r>
                <a:rPr lang="en-US" sz="1726">
                  <a:solidFill>
                    <a:srgbClr val="5C6879"/>
                  </a:solidFill>
                  <a:latin typeface="Poppins"/>
                  <a:ea typeface="Poppins"/>
                  <a:cs typeface="Poppins"/>
                  <a:sym typeface="Poppins"/>
                </a:rPr>
                <a:t>Changan carries a larger, more active base (90K, 2,096 posts). Bestune's parts/maintenance concern is a category-wide Chinese-brand issue — an opportunity to lead on trust rather than deny it.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45436" y="4355563"/>
            <a:ext cx="16806853" cy="1556461"/>
            <a:chOff x="0" y="0"/>
            <a:chExt cx="22409137" cy="207528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409150" cy="2075307"/>
            </a:xfrm>
            <a:custGeom>
              <a:avLst/>
              <a:gdLst/>
              <a:ahLst/>
              <a:cxnLst/>
              <a:rect r="r" b="b" t="t" l="l"/>
              <a:pathLst>
                <a:path h="2075307" w="22409150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22223857" y="0"/>
                  </a:lnTo>
                  <a:cubicBezTo>
                    <a:pt x="22326220" y="0"/>
                    <a:pt x="22409150" y="82931"/>
                    <a:pt x="22409150" y="185293"/>
                  </a:cubicBezTo>
                  <a:lnTo>
                    <a:pt x="22409150" y="1890014"/>
                  </a:lnTo>
                  <a:cubicBezTo>
                    <a:pt x="22409150" y="1992376"/>
                    <a:pt x="22326220" y="2075307"/>
                    <a:pt x="22223857" y="2075307"/>
                  </a:cubicBezTo>
                  <a:lnTo>
                    <a:pt x="185293" y="2075307"/>
                  </a:lnTo>
                  <a:cubicBezTo>
                    <a:pt x="82931" y="2075307"/>
                    <a:pt x="0" y="1992376"/>
                    <a:pt x="0" y="189001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54971" y="4365098"/>
            <a:ext cx="164725" cy="1537392"/>
            <a:chOff x="0" y="0"/>
            <a:chExt cx="219634" cy="20498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583" cy="2049907"/>
            </a:xfrm>
            <a:custGeom>
              <a:avLst/>
              <a:gdLst/>
              <a:ahLst/>
              <a:cxnLst/>
              <a:rect r="r" b="b" t="t" l="l"/>
              <a:pathLst>
                <a:path h="2049907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049907"/>
                  </a:lnTo>
                  <a:lnTo>
                    <a:pt x="0" y="2049907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66774" y="4612176"/>
            <a:ext cx="4529823" cy="1098137"/>
            <a:chOff x="0" y="0"/>
            <a:chExt cx="6039764" cy="146418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039758" cy="1464184"/>
            </a:xfrm>
            <a:custGeom>
              <a:avLst/>
              <a:gdLst/>
              <a:ahLst/>
              <a:cxnLst/>
              <a:rect r="r" b="b" t="t" l="l"/>
              <a:pathLst>
                <a:path h="1464184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6039764" cy="1492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212 vs Tank 300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902490" y="4584725"/>
            <a:ext cx="11255912" cy="1166774"/>
            <a:chOff x="0" y="0"/>
            <a:chExt cx="15007882" cy="155569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007885" cy="1555695"/>
            </a:xfrm>
            <a:custGeom>
              <a:avLst/>
              <a:gdLst/>
              <a:ahLst/>
              <a:cxnLst/>
              <a:rect r="r" b="b" t="t" l="l"/>
              <a:pathLst>
                <a:path h="1555695" w="15007885">
                  <a:moveTo>
                    <a:pt x="0" y="0"/>
                  </a:moveTo>
                  <a:lnTo>
                    <a:pt x="15007885" y="0"/>
                  </a:lnTo>
                  <a:lnTo>
                    <a:pt x="15007885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973" r="0" b="-13797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5007882" cy="1574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5"/>
                </a:lnSpc>
              </a:pPr>
              <a:r>
                <a:rPr lang="en-US" sz="1726">
                  <a:solidFill>
                    <a:srgbClr val="5C6879"/>
                  </a:solidFill>
                  <a:latin typeface="Poppins"/>
                  <a:ea typeface="Poppins"/>
                  <a:cs typeface="Poppins"/>
                  <a:sym typeface="Poppins"/>
                </a:rPr>
                <a:t>Both own genuine off-road credibility. Tank is more established; 212 has the sharper story (military heritage + lower price). The conversation gap is 212's to close through content, fast.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45436" y="6112583"/>
            <a:ext cx="16806853" cy="1556461"/>
            <a:chOff x="0" y="0"/>
            <a:chExt cx="22409137" cy="207528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409150" cy="2075307"/>
            </a:xfrm>
            <a:custGeom>
              <a:avLst/>
              <a:gdLst/>
              <a:ahLst/>
              <a:cxnLst/>
              <a:rect r="r" b="b" t="t" l="l"/>
              <a:pathLst>
                <a:path h="2075307" w="22409150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22223857" y="0"/>
                  </a:lnTo>
                  <a:cubicBezTo>
                    <a:pt x="22326220" y="0"/>
                    <a:pt x="22409150" y="82931"/>
                    <a:pt x="22409150" y="185293"/>
                  </a:cubicBezTo>
                  <a:lnTo>
                    <a:pt x="22409150" y="1890014"/>
                  </a:lnTo>
                  <a:cubicBezTo>
                    <a:pt x="22409150" y="1992376"/>
                    <a:pt x="22326220" y="2075307"/>
                    <a:pt x="22223857" y="2075307"/>
                  </a:cubicBezTo>
                  <a:lnTo>
                    <a:pt x="185293" y="2075307"/>
                  </a:lnTo>
                  <a:cubicBezTo>
                    <a:pt x="82931" y="2075307"/>
                    <a:pt x="0" y="1992376"/>
                    <a:pt x="0" y="189001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754971" y="6122118"/>
            <a:ext cx="164725" cy="1537392"/>
            <a:chOff x="0" y="0"/>
            <a:chExt cx="219634" cy="20498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583" cy="2049907"/>
            </a:xfrm>
            <a:custGeom>
              <a:avLst/>
              <a:gdLst/>
              <a:ahLst/>
              <a:cxnLst/>
              <a:rect r="r" b="b" t="t" l="l"/>
              <a:pathLst>
                <a:path h="2049907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049907"/>
                  </a:lnTo>
                  <a:lnTo>
                    <a:pt x="0" y="2049907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66774" y="6369196"/>
            <a:ext cx="4529823" cy="1098137"/>
            <a:chOff x="0" y="0"/>
            <a:chExt cx="6039764" cy="146418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039758" cy="1464184"/>
            </a:xfrm>
            <a:custGeom>
              <a:avLst/>
              <a:gdLst/>
              <a:ahLst/>
              <a:cxnLst/>
              <a:rect r="r" b="b" t="t" l="l"/>
              <a:pathLst>
                <a:path h="1464184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6039764" cy="1492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Motor Souq vs dealer set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902490" y="6341745"/>
            <a:ext cx="11255912" cy="1166774"/>
            <a:chOff x="0" y="0"/>
            <a:chExt cx="15007882" cy="155569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007885" cy="1555695"/>
            </a:xfrm>
            <a:custGeom>
              <a:avLst/>
              <a:gdLst/>
              <a:ahLst/>
              <a:cxnLst/>
              <a:rect r="r" b="b" t="t" l="l"/>
              <a:pathLst>
                <a:path h="1555695" w="15007885">
                  <a:moveTo>
                    <a:pt x="0" y="0"/>
                  </a:moveTo>
                  <a:lnTo>
                    <a:pt x="15007885" y="0"/>
                  </a:lnTo>
                  <a:lnTo>
                    <a:pt x="15007885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973" r="0" b="-13797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5007882" cy="1574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5"/>
                </a:lnSpc>
              </a:pPr>
              <a:r>
                <a:rPr lang="en-US" sz="1726">
                  <a:solidFill>
                    <a:srgbClr val="5C6879"/>
                  </a:solidFill>
                  <a:latin typeface="Poppins"/>
                  <a:ea typeface="Poppins"/>
                  <a:cs typeface="Poppins"/>
                  <a:sym typeface="Poppins"/>
                </a:rPr>
                <a:t>The defining finding isn't negative sentiment — it's near-silence. 78K followers, posts drawing only hundreds of views. The problem is activation, not reputation repair.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54971" y="7961500"/>
            <a:ext cx="16787784" cy="1372676"/>
            <a:chOff x="0" y="0"/>
            <a:chExt cx="22383712" cy="183023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383750" cy="1830197"/>
            </a:xfrm>
            <a:custGeom>
              <a:avLst/>
              <a:gdLst/>
              <a:ahLst/>
              <a:cxnLst/>
              <a:rect r="r" b="b" t="t" l="l"/>
              <a:pathLst>
                <a:path h="1830197" w="22383750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22200743" y="0"/>
                  </a:lnTo>
                  <a:cubicBezTo>
                    <a:pt x="22301834" y="0"/>
                    <a:pt x="22383750" y="81915"/>
                    <a:pt x="22383750" y="183007"/>
                  </a:cubicBezTo>
                  <a:lnTo>
                    <a:pt x="22383750" y="1647190"/>
                  </a:lnTo>
                  <a:cubicBezTo>
                    <a:pt x="22383750" y="1748282"/>
                    <a:pt x="22301834" y="1830197"/>
                    <a:pt x="22200743" y="1830197"/>
                  </a:cubicBezTo>
                  <a:lnTo>
                    <a:pt x="183007" y="1830197"/>
                  </a:lnTo>
                  <a:cubicBezTo>
                    <a:pt x="81915" y="1830197"/>
                    <a:pt x="0" y="1748282"/>
                    <a:pt x="0" y="1647190"/>
                  </a:cubicBezTo>
                  <a:close/>
                </a:path>
              </a:pathLst>
            </a:custGeom>
            <a:solidFill>
              <a:srgbClr val="B8873C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66774" y="8167402"/>
            <a:ext cx="6863363" cy="411804"/>
            <a:chOff x="0" y="0"/>
            <a:chExt cx="9151150" cy="54907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9151150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b="true" sz="1426" spc="300">
                  <a:solidFill>
                    <a:srgbClr val="33270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PORTFOLIO-WIDE SIGNAL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66774" y="8538020"/>
            <a:ext cx="16060264" cy="686333"/>
            <a:chOff x="0" y="0"/>
            <a:chExt cx="21413686" cy="91511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413690" cy="915115"/>
            </a:xfrm>
            <a:custGeom>
              <a:avLst/>
              <a:gdLst/>
              <a:ahLst/>
              <a:cxnLst/>
              <a:rect r="r" b="b" t="t" l="l"/>
              <a:pathLst>
                <a:path h="915115" w="21413690">
                  <a:moveTo>
                    <a:pt x="0" y="0"/>
                  </a:moveTo>
                  <a:lnTo>
                    <a:pt x="21413690" y="0"/>
                  </a:lnTo>
                  <a:lnTo>
                    <a:pt x="21413690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5950" r="0" b="-40594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21413686" cy="934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241C0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Across all three, the dominant negative theme for Chinese auto in KSA is trust — parts, service, resale, durability. Whichever brand addresses this openly on content owns a gap the whole category avoids.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17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 · RESEARCH · COMPETITORS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Scale Gap, in Numbers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73862" y="2076155"/>
            <a:ext cx="16289188" cy="62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8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Instagram following across the set. Our three brands sit far below the leaders — but scale is a content problem, not a ceiling.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2873083"/>
            <a:ext cx="11000442" cy="6196089"/>
            <a:chOff x="0" y="0"/>
            <a:chExt cx="14667255" cy="82614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67229" cy="8261350"/>
            </a:xfrm>
            <a:custGeom>
              <a:avLst/>
              <a:gdLst/>
              <a:ahLst/>
              <a:cxnLst/>
              <a:rect r="r" b="b" t="t" l="l"/>
              <a:pathLst>
                <a:path h="8261350" w="14667229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14483714" y="0"/>
                  </a:lnTo>
                  <a:cubicBezTo>
                    <a:pt x="14585060" y="0"/>
                    <a:pt x="14667229" y="82169"/>
                    <a:pt x="14667229" y="183515"/>
                  </a:cubicBezTo>
                  <a:lnTo>
                    <a:pt x="14667229" y="8077835"/>
                  </a:lnTo>
                  <a:cubicBezTo>
                    <a:pt x="14667229" y="8179181"/>
                    <a:pt x="14585060" y="8261350"/>
                    <a:pt x="14483714" y="8261350"/>
                  </a:cubicBezTo>
                  <a:lnTo>
                    <a:pt x="183515" y="8261350"/>
                  </a:lnTo>
                  <a:cubicBezTo>
                    <a:pt x="82169" y="8261477"/>
                    <a:pt x="0" y="8179308"/>
                    <a:pt x="0" y="807783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66774" y="3129696"/>
            <a:ext cx="9608706" cy="480431"/>
            <a:chOff x="0" y="0"/>
            <a:chExt cx="12811608" cy="6405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11609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09">
                  <a:moveTo>
                    <a:pt x="0" y="0"/>
                  </a:moveTo>
                  <a:lnTo>
                    <a:pt x="12811609" y="0"/>
                  </a:lnTo>
                  <a:lnTo>
                    <a:pt x="12811609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2811608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Instagram followers (thousands)</a:t>
              </a:r>
            </a:p>
          </p:txBody>
        </p:sp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96087" y="2649257"/>
            <a:ext cx="12683492" cy="7192803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 rot="0">
            <a:off x="12010882" y="3088510"/>
            <a:ext cx="5531872" cy="1372676"/>
            <a:chOff x="0" y="0"/>
            <a:chExt cx="7375830" cy="1830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75778" cy="1830197"/>
            </a:xfrm>
            <a:custGeom>
              <a:avLst/>
              <a:gdLst/>
              <a:ahLst/>
              <a:cxnLst/>
              <a:rect r="r" b="b" t="t" l="l"/>
              <a:pathLst>
                <a:path h="1830197" w="7375778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7192772" y="0"/>
                  </a:lnTo>
                  <a:cubicBezTo>
                    <a:pt x="7293864" y="0"/>
                    <a:pt x="7375778" y="81915"/>
                    <a:pt x="7375778" y="183007"/>
                  </a:cubicBezTo>
                  <a:lnTo>
                    <a:pt x="7375778" y="1647190"/>
                  </a:lnTo>
                  <a:cubicBezTo>
                    <a:pt x="7375778" y="1748282"/>
                    <a:pt x="7293864" y="1830197"/>
                    <a:pt x="7192772" y="1830197"/>
                  </a:cubicBezTo>
                  <a:lnTo>
                    <a:pt x="183007" y="1830197"/>
                  </a:lnTo>
                  <a:cubicBezTo>
                    <a:pt x="81915" y="1830197"/>
                    <a:pt x="0" y="1748282"/>
                    <a:pt x="0" y="1647190"/>
                  </a:cubicBezTo>
                  <a:close/>
                </a:path>
              </a:pathLst>
            </a:custGeom>
            <a:solidFill>
              <a:srgbClr val="F1F4F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354049" y="3253235"/>
            <a:ext cx="4941618" cy="686333"/>
            <a:chOff x="0" y="0"/>
            <a:chExt cx="6588823" cy="9151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88827" cy="915115"/>
            </a:xfrm>
            <a:custGeom>
              <a:avLst/>
              <a:gdLst/>
              <a:ahLst/>
              <a:cxnLst/>
              <a:rect r="r" b="b" t="t" l="l"/>
              <a:pathLst>
                <a:path h="915115" w="6588827">
                  <a:moveTo>
                    <a:pt x="0" y="0"/>
                  </a:moveTo>
                  <a:lnTo>
                    <a:pt x="6588827" y="0"/>
                  </a:lnTo>
                  <a:lnTo>
                    <a:pt x="6588827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6588823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 b="true">
                  <a:solidFill>
                    <a:srgbClr val="B887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854K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445489" y="3929263"/>
            <a:ext cx="4758738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Rivian — the aspiration ceiling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010882" y="4625902"/>
            <a:ext cx="5531872" cy="1372676"/>
            <a:chOff x="0" y="0"/>
            <a:chExt cx="7375830" cy="183023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75778" cy="1830197"/>
            </a:xfrm>
            <a:custGeom>
              <a:avLst/>
              <a:gdLst/>
              <a:ahLst/>
              <a:cxnLst/>
              <a:rect r="r" b="b" t="t" l="l"/>
              <a:pathLst>
                <a:path h="1830197" w="7375778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7192772" y="0"/>
                  </a:lnTo>
                  <a:cubicBezTo>
                    <a:pt x="7293864" y="0"/>
                    <a:pt x="7375778" y="81915"/>
                    <a:pt x="7375778" y="183007"/>
                  </a:cubicBezTo>
                  <a:lnTo>
                    <a:pt x="7375778" y="1647190"/>
                  </a:lnTo>
                  <a:cubicBezTo>
                    <a:pt x="7375778" y="1748282"/>
                    <a:pt x="7293864" y="1830197"/>
                    <a:pt x="7192772" y="1830197"/>
                  </a:cubicBezTo>
                  <a:lnTo>
                    <a:pt x="183007" y="1830197"/>
                  </a:lnTo>
                  <a:cubicBezTo>
                    <a:pt x="81915" y="1830197"/>
                    <a:pt x="0" y="1748282"/>
                    <a:pt x="0" y="1647190"/>
                  </a:cubicBezTo>
                  <a:close/>
                </a:path>
              </a:pathLst>
            </a:custGeom>
            <a:solidFill>
              <a:srgbClr val="F1F4F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354049" y="4790627"/>
            <a:ext cx="4941618" cy="686333"/>
            <a:chOff x="0" y="0"/>
            <a:chExt cx="6588823" cy="9151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88827" cy="915115"/>
            </a:xfrm>
            <a:custGeom>
              <a:avLst/>
              <a:gdLst/>
              <a:ahLst/>
              <a:cxnLst/>
              <a:rect r="r" b="b" t="t" l="l"/>
              <a:pathLst>
                <a:path h="915115" w="6588827">
                  <a:moveTo>
                    <a:pt x="0" y="0"/>
                  </a:moveTo>
                  <a:lnTo>
                    <a:pt x="6588827" y="0"/>
                  </a:lnTo>
                  <a:lnTo>
                    <a:pt x="6588827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6588823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 b="true">
                  <a:solidFill>
                    <a:srgbClr val="1878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388K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445489" y="5466655"/>
            <a:ext cx="4758738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Toyota — the trust wall Bestune chips at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010882" y="6163304"/>
            <a:ext cx="5531872" cy="1372676"/>
            <a:chOff x="0" y="0"/>
            <a:chExt cx="7375830" cy="183023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75778" cy="1830197"/>
            </a:xfrm>
            <a:custGeom>
              <a:avLst/>
              <a:gdLst/>
              <a:ahLst/>
              <a:cxnLst/>
              <a:rect r="r" b="b" t="t" l="l"/>
              <a:pathLst>
                <a:path h="1830197" w="7375778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7192772" y="0"/>
                  </a:lnTo>
                  <a:cubicBezTo>
                    <a:pt x="7293864" y="0"/>
                    <a:pt x="7375778" y="81915"/>
                    <a:pt x="7375778" y="183007"/>
                  </a:cubicBezTo>
                  <a:lnTo>
                    <a:pt x="7375778" y="1647190"/>
                  </a:lnTo>
                  <a:cubicBezTo>
                    <a:pt x="7375778" y="1748282"/>
                    <a:pt x="7293864" y="1830197"/>
                    <a:pt x="7192772" y="1830197"/>
                  </a:cubicBezTo>
                  <a:lnTo>
                    <a:pt x="183007" y="1830197"/>
                  </a:lnTo>
                  <a:cubicBezTo>
                    <a:pt x="81915" y="1830197"/>
                    <a:pt x="0" y="1748282"/>
                    <a:pt x="0" y="1647190"/>
                  </a:cubicBezTo>
                  <a:close/>
                </a:path>
              </a:pathLst>
            </a:custGeom>
            <a:solidFill>
              <a:srgbClr val="F1F4F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354049" y="6328019"/>
            <a:ext cx="4941618" cy="686333"/>
            <a:chOff x="0" y="0"/>
            <a:chExt cx="6588823" cy="9151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588827" cy="915115"/>
            </a:xfrm>
            <a:custGeom>
              <a:avLst/>
              <a:gdLst/>
              <a:ahLst/>
              <a:cxnLst/>
              <a:rect r="r" b="b" t="t" l="l"/>
              <a:pathLst>
                <a:path h="915115" w="6588827">
                  <a:moveTo>
                    <a:pt x="0" y="0"/>
                  </a:moveTo>
                  <a:lnTo>
                    <a:pt x="6588827" y="0"/>
                  </a:lnTo>
                  <a:lnTo>
                    <a:pt x="6588827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6588823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 b="true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32K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2445489" y="7004047"/>
            <a:ext cx="4758738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Bestune — our largest, dwarfed by the field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2010882" y="7700696"/>
            <a:ext cx="5531872" cy="1372676"/>
            <a:chOff x="0" y="0"/>
            <a:chExt cx="7375830" cy="183023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75778" cy="1830197"/>
            </a:xfrm>
            <a:custGeom>
              <a:avLst/>
              <a:gdLst/>
              <a:ahLst/>
              <a:cxnLst/>
              <a:rect r="r" b="b" t="t" l="l"/>
              <a:pathLst>
                <a:path h="1830197" w="7375778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7192772" y="0"/>
                  </a:lnTo>
                  <a:cubicBezTo>
                    <a:pt x="7293864" y="0"/>
                    <a:pt x="7375778" y="81915"/>
                    <a:pt x="7375778" y="183007"/>
                  </a:cubicBezTo>
                  <a:lnTo>
                    <a:pt x="7375778" y="1647190"/>
                  </a:lnTo>
                  <a:cubicBezTo>
                    <a:pt x="7375778" y="1748282"/>
                    <a:pt x="7293864" y="1830197"/>
                    <a:pt x="7192772" y="1830197"/>
                  </a:cubicBezTo>
                  <a:lnTo>
                    <a:pt x="183007" y="1830197"/>
                  </a:lnTo>
                  <a:cubicBezTo>
                    <a:pt x="81915" y="1830197"/>
                    <a:pt x="0" y="1748282"/>
                    <a:pt x="0" y="1647190"/>
                  </a:cubicBezTo>
                  <a:close/>
                </a:path>
              </a:pathLst>
            </a:custGeom>
            <a:solidFill>
              <a:srgbClr val="F1F4F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354049" y="7865412"/>
            <a:ext cx="4941618" cy="686333"/>
            <a:chOff x="0" y="0"/>
            <a:chExt cx="6588823" cy="9151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88827" cy="915115"/>
            </a:xfrm>
            <a:custGeom>
              <a:avLst/>
              <a:gdLst/>
              <a:ahLst/>
              <a:cxnLst/>
              <a:rect r="r" b="b" t="t" l="l"/>
              <a:pathLst>
                <a:path h="915115" w="6588827">
                  <a:moveTo>
                    <a:pt x="0" y="0"/>
                  </a:moveTo>
                  <a:lnTo>
                    <a:pt x="6588827" y="0"/>
                  </a:lnTo>
                  <a:lnTo>
                    <a:pt x="6588827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6588823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 b="true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16K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2445489" y="8541439"/>
            <a:ext cx="4758738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Tank 300 — 212's closest rival, also small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18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 · RESEARCH · COMPETITORS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Bestune's Battlefield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73862" y="2076155"/>
            <a:ext cx="16289188" cy="62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8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Five players — three local/regional, two global. The real arena this brand competes in.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2941711"/>
            <a:ext cx="3156995" cy="5441118"/>
            <a:chOff x="0" y="0"/>
            <a:chExt cx="4209326" cy="72548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09415" cy="7254875"/>
            </a:xfrm>
            <a:custGeom>
              <a:avLst/>
              <a:gdLst/>
              <a:ahLst/>
              <a:cxnLst/>
              <a:rect r="r" b="b" t="t" l="l"/>
              <a:pathLst>
                <a:path h="7254875" w="4209415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4025265" y="0"/>
                  </a:lnTo>
                  <a:cubicBezTo>
                    <a:pt x="4126992" y="0"/>
                    <a:pt x="4209415" y="82423"/>
                    <a:pt x="4209415" y="184150"/>
                  </a:cubicBezTo>
                  <a:lnTo>
                    <a:pt x="4209415" y="7070725"/>
                  </a:lnTo>
                  <a:cubicBezTo>
                    <a:pt x="4209415" y="7172452"/>
                    <a:pt x="4126992" y="7254875"/>
                    <a:pt x="4025265" y="7254875"/>
                  </a:cubicBezTo>
                  <a:lnTo>
                    <a:pt x="184150" y="7254875"/>
                  </a:lnTo>
                  <a:cubicBezTo>
                    <a:pt x="82423" y="7254875"/>
                    <a:pt x="0" y="7172452"/>
                    <a:pt x="0" y="70707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29500" y="3253235"/>
            <a:ext cx="1853108" cy="439255"/>
            <a:chOff x="0" y="0"/>
            <a:chExt cx="2470810" cy="5856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70785" cy="585724"/>
            </a:xfrm>
            <a:custGeom>
              <a:avLst/>
              <a:gdLst/>
              <a:ahLst/>
              <a:cxnLst/>
              <a:rect r="r" b="b" t="t" l="l"/>
              <a:pathLst>
                <a:path h="585724" w="2470785">
                  <a:moveTo>
                    <a:pt x="0" y="292862"/>
                  </a:moveTo>
                  <a:cubicBezTo>
                    <a:pt x="0" y="131064"/>
                    <a:pt x="131064" y="0"/>
                    <a:pt x="292862" y="0"/>
                  </a:cubicBezTo>
                  <a:lnTo>
                    <a:pt x="2177923" y="0"/>
                  </a:lnTo>
                  <a:cubicBezTo>
                    <a:pt x="2339594" y="0"/>
                    <a:pt x="2470785" y="131064"/>
                    <a:pt x="2470785" y="292862"/>
                  </a:cubicBezTo>
                  <a:cubicBezTo>
                    <a:pt x="2470785" y="454660"/>
                    <a:pt x="2339721" y="585724"/>
                    <a:pt x="2177923" y="585724"/>
                  </a:cubicBezTo>
                  <a:lnTo>
                    <a:pt x="292862" y="585724"/>
                  </a:lnTo>
                  <a:cubicBezTo>
                    <a:pt x="131064" y="585724"/>
                    <a:pt x="0" y="454533"/>
                    <a:pt x="0" y="292862"/>
                  </a:cubicBez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29500" y="3253235"/>
            <a:ext cx="1853108" cy="439255"/>
            <a:chOff x="0" y="0"/>
            <a:chExt cx="2470810" cy="58567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70810" cy="585674"/>
            </a:xfrm>
            <a:custGeom>
              <a:avLst/>
              <a:gdLst/>
              <a:ahLst/>
              <a:cxnLst/>
              <a:rect r="r" b="b" t="t" l="l"/>
              <a:pathLst>
                <a:path h="585674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2" r="0" b="-3220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470810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b="true" sz="1200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LOCAL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20940" y="3883876"/>
            <a:ext cx="2405977" cy="61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Changan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0940" y="4560694"/>
            <a:ext cx="2433437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3C63A8"/>
                </a:solidFill>
                <a:latin typeface="Poppins Bold"/>
                <a:ea typeface="Poppins Bold"/>
                <a:cs typeface="Poppins Bold"/>
                <a:sym typeface="Poppins Bold"/>
              </a:rPr>
              <a:t>IG 90K · 2,096 posts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19975" y="5055632"/>
            <a:ext cx="2607926" cy="19069"/>
            <a:chOff x="0" y="0"/>
            <a:chExt cx="3477235" cy="254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77260" cy="25400"/>
            </a:xfrm>
            <a:custGeom>
              <a:avLst/>
              <a:gdLst/>
              <a:ahLst/>
              <a:cxnLst/>
              <a:rect r="r" b="b" t="t" l="l"/>
              <a:pathLst>
                <a:path h="25400" w="3477260">
                  <a:moveTo>
                    <a:pt x="0" y="0"/>
                  </a:moveTo>
                  <a:lnTo>
                    <a:pt x="347726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617432" r="0" b="-2617532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120940" y="5219576"/>
            <a:ext cx="2433437" cy="295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The scale leader — 155K cars on Saudi roads, 6-yr/250K km warranty. The volume benchmark Bestune trails.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157901" y="2941711"/>
            <a:ext cx="3156995" cy="5441118"/>
            <a:chOff x="0" y="0"/>
            <a:chExt cx="4209326" cy="725482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09415" cy="7254875"/>
            </a:xfrm>
            <a:custGeom>
              <a:avLst/>
              <a:gdLst/>
              <a:ahLst/>
              <a:cxnLst/>
              <a:rect r="r" b="b" t="t" l="l"/>
              <a:pathLst>
                <a:path h="7254875" w="4209415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4025265" y="0"/>
                  </a:lnTo>
                  <a:cubicBezTo>
                    <a:pt x="4126992" y="0"/>
                    <a:pt x="4209415" y="82423"/>
                    <a:pt x="4209415" y="184150"/>
                  </a:cubicBezTo>
                  <a:lnTo>
                    <a:pt x="4209415" y="7070725"/>
                  </a:lnTo>
                  <a:cubicBezTo>
                    <a:pt x="4209415" y="7172452"/>
                    <a:pt x="4126992" y="7254875"/>
                    <a:pt x="4025265" y="7254875"/>
                  </a:cubicBezTo>
                  <a:lnTo>
                    <a:pt x="184150" y="7254875"/>
                  </a:lnTo>
                  <a:cubicBezTo>
                    <a:pt x="82423" y="7254875"/>
                    <a:pt x="0" y="7172452"/>
                    <a:pt x="0" y="70707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4441965" y="3253235"/>
            <a:ext cx="1853108" cy="439255"/>
            <a:chOff x="0" y="0"/>
            <a:chExt cx="2470810" cy="58567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70785" cy="585724"/>
            </a:xfrm>
            <a:custGeom>
              <a:avLst/>
              <a:gdLst/>
              <a:ahLst/>
              <a:cxnLst/>
              <a:rect r="r" b="b" t="t" l="l"/>
              <a:pathLst>
                <a:path h="585724" w="2470785">
                  <a:moveTo>
                    <a:pt x="0" y="292862"/>
                  </a:moveTo>
                  <a:cubicBezTo>
                    <a:pt x="0" y="131064"/>
                    <a:pt x="131064" y="0"/>
                    <a:pt x="292862" y="0"/>
                  </a:cubicBezTo>
                  <a:lnTo>
                    <a:pt x="2177923" y="0"/>
                  </a:lnTo>
                  <a:cubicBezTo>
                    <a:pt x="2339594" y="0"/>
                    <a:pt x="2470785" y="131064"/>
                    <a:pt x="2470785" y="292862"/>
                  </a:cubicBezTo>
                  <a:cubicBezTo>
                    <a:pt x="2470785" y="454660"/>
                    <a:pt x="2339721" y="585724"/>
                    <a:pt x="2177923" y="585724"/>
                  </a:cubicBezTo>
                  <a:lnTo>
                    <a:pt x="292862" y="585724"/>
                  </a:lnTo>
                  <a:cubicBezTo>
                    <a:pt x="131064" y="585724"/>
                    <a:pt x="0" y="454533"/>
                    <a:pt x="0" y="292862"/>
                  </a:cubicBez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441965" y="3253235"/>
            <a:ext cx="1853108" cy="439255"/>
            <a:chOff x="0" y="0"/>
            <a:chExt cx="2470810" cy="58567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70810" cy="585674"/>
            </a:xfrm>
            <a:custGeom>
              <a:avLst/>
              <a:gdLst/>
              <a:ahLst/>
              <a:cxnLst/>
              <a:rect r="r" b="b" t="t" l="l"/>
              <a:pathLst>
                <a:path h="585674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2" r="0" b="-3220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2470810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b="true" sz="1200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LOCAL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4533405" y="3883876"/>
            <a:ext cx="2405977" cy="61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Geely (Wallan)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533405" y="4560694"/>
            <a:ext cx="2433437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3C63A8"/>
                </a:solidFill>
                <a:latin typeface="Poppins Bold"/>
                <a:ea typeface="Poppins Bold"/>
                <a:cs typeface="Poppins Bold"/>
                <a:sym typeface="Poppins Bold"/>
              </a:rPr>
              <a:t>Rising fast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4432430" y="5055632"/>
            <a:ext cx="2607926" cy="19069"/>
            <a:chOff x="0" y="0"/>
            <a:chExt cx="3477235" cy="2542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77260" cy="25400"/>
            </a:xfrm>
            <a:custGeom>
              <a:avLst/>
              <a:gdLst/>
              <a:ahLst/>
              <a:cxnLst/>
              <a:rect r="r" b="b" t="t" l="l"/>
              <a:pathLst>
                <a:path h="25400" w="3477260">
                  <a:moveTo>
                    <a:pt x="0" y="0"/>
                  </a:moveTo>
                  <a:lnTo>
                    <a:pt x="347726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617432" r="0" b="-2617532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4533405" y="5219576"/>
            <a:ext cx="2433437" cy="295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The direct family-SUV rival. Coolray/Monjaro line, same buyer, same “tech + value” pitch.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570365" y="2941711"/>
            <a:ext cx="3156995" cy="5441118"/>
            <a:chOff x="0" y="0"/>
            <a:chExt cx="4209326" cy="725482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09415" cy="7254875"/>
            </a:xfrm>
            <a:custGeom>
              <a:avLst/>
              <a:gdLst/>
              <a:ahLst/>
              <a:cxnLst/>
              <a:rect r="r" b="b" t="t" l="l"/>
              <a:pathLst>
                <a:path h="7254875" w="4209415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4025265" y="0"/>
                  </a:lnTo>
                  <a:cubicBezTo>
                    <a:pt x="4126992" y="0"/>
                    <a:pt x="4209415" y="82423"/>
                    <a:pt x="4209415" y="184150"/>
                  </a:cubicBezTo>
                  <a:lnTo>
                    <a:pt x="4209415" y="7070725"/>
                  </a:lnTo>
                  <a:cubicBezTo>
                    <a:pt x="4209415" y="7172452"/>
                    <a:pt x="4126992" y="7254875"/>
                    <a:pt x="4025265" y="7254875"/>
                  </a:cubicBezTo>
                  <a:lnTo>
                    <a:pt x="184150" y="7254875"/>
                  </a:lnTo>
                  <a:cubicBezTo>
                    <a:pt x="82423" y="7254875"/>
                    <a:pt x="0" y="7172452"/>
                    <a:pt x="0" y="70707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7854429" y="3253235"/>
            <a:ext cx="1853108" cy="439255"/>
            <a:chOff x="0" y="0"/>
            <a:chExt cx="2470810" cy="5856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70785" cy="585724"/>
            </a:xfrm>
            <a:custGeom>
              <a:avLst/>
              <a:gdLst/>
              <a:ahLst/>
              <a:cxnLst/>
              <a:rect r="r" b="b" t="t" l="l"/>
              <a:pathLst>
                <a:path h="585724" w="2470785">
                  <a:moveTo>
                    <a:pt x="0" y="292862"/>
                  </a:moveTo>
                  <a:cubicBezTo>
                    <a:pt x="0" y="131064"/>
                    <a:pt x="131064" y="0"/>
                    <a:pt x="292862" y="0"/>
                  </a:cubicBezTo>
                  <a:lnTo>
                    <a:pt x="2177923" y="0"/>
                  </a:lnTo>
                  <a:cubicBezTo>
                    <a:pt x="2339594" y="0"/>
                    <a:pt x="2470785" y="131064"/>
                    <a:pt x="2470785" y="292862"/>
                  </a:cubicBezTo>
                  <a:cubicBezTo>
                    <a:pt x="2470785" y="454660"/>
                    <a:pt x="2339721" y="585724"/>
                    <a:pt x="2177923" y="585724"/>
                  </a:cubicBezTo>
                  <a:lnTo>
                    <a:pt x="292862" y="585724"/>
                  </a:lnTo>
                  <a:cubicBezTo>
                    <a:pt x="131064" y="585724"/>
                    <a:pt x="0" y="454533"/>
                    <a:pt x="0" y="292862"/>
                  </a:cubicBez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854429" y="3253235"/>
            <a:ext cx="1853108" cy="439255"/>
            <a:chOff x="0" y="0"/>
            <a:chExt cx="2470810" cy="58567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70810" cy="585674"/>
            </a:xfrm>
            <a:custGeom>
              <a:avLst/>
              <a:gdLst/>
              <a:ahLst/>
              <a:cxnLst/>
              <a:rect r="r" b="b" t="t" l="l"/>
              <a:pathLst>
                <a:path h="585674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2" r="0" b="-3220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2470810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b="true" sz="1200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LOCAL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7945869" y="3883876"/>
            <a:ext cx="2405977" cy="61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Toyota Saudi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945869" y="4560694"/>
            <a:ext cx="2433437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3C63A8"/>
                </a:solidFill>
                <a:latin typeface="Poppins Bold"/>
                <a:ea typeface="Poppins Bold"/>
                <a:cs typeface="Poppins Bold"/>
                <a:sym typeface="Poppins Bold"/>
              </a:rPr>
              <a:t>IG 388K · 5,611 posts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7844895" y="5055632"/>
            <a:ext cx="2607926" cy="19069"/>
            <a:chOff x="0" y="0"/>
            <a:chExt cx="3477235" cy="2542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477260" cy="25400"/>
            </a:xfrm>
            <a:custGeom>
              <a:avLst/>
              <a:gdLst/>
              <a:ahLst/>
              <a:cxnLst/>
              <a:rect r="r" b="b" t="t" l="l"/>
              <a:pathLst>
                <a:path h="25400" w="3477260">
                  <a:moveTo>
                    <a:pt x="0" y="0"/>
                  </a:moveTo>
                  <a:lnTo>
                    <a:pt x="347726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617432" r="0" b="-2617532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47" id="47"/>
          <p:cNvSpPr txBox="true"/>
          <p:nvPr/>
        </p:nvSpPr>
        <p:spPr>
          <a:xfrm rot="0">
            <a:off x="7945869" y="5219576"/>
            <a:ext cx="2433437" cy="295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The trust wall — market leader (~28.5%). The reliability standard Bestune chips at, never matches head-on.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0982830" y="2941711"/>
            <a:ext cx="3156995" cy="5441118"/>
            <a:chOff x="0" y="0"/>
            <a:chExt cx="4209326" cy="725482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209415" cy="7254875"/>
            </a:xfrm>
            <a:custGeom>
              <a:avLst/>
              <a:gdLst/>
              <a:ahLst/>
              <a:cxnLst/>
              <a:rect r="r" b="b" t="t" l="l"/>
              <a:pathLst>
                <a:path h="7254875" w="4209415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4025265" y="0"/>
                  </a:lnTo>
                  <a:cubicBezTo>
                    <a:pt x="4126992" y="0"/>
                    <a:pt x="4209415" y="82423"/>
                    <a:pt x="4209415" y="184150"/>
                  </a:cubicBezTo>
                  <a:lnTo>
                    <a:pt x="4209415" y="7070725"/>
                  </a:lnTo>
                  <a:cubicBezTo>
                    <a:pt x="4209415" y="7172452"/>
                    <a:pt x="4126992" y="7254875"/>
                    <a:pt x="4025265" y="7254875"/>
                  </a:cubicBezTo>
                  <a:lnTo>
                    <a:pt x="184150" y="7254875"/>
                  </a:lnTo>
                  <a:cubicBezTo>
                    <a:pt x="82423" y="7254875"/>
                    <a:pt x="0" y="7172452"/>
                    <a:pt x="0" y="70707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1266894" y="3253235"/>
            <a:ext cx="1853108" cy="439255"/>
            <a:chOff x="0" y="0"/>
            <a:chExt cx="2470810" cy="58567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470785" cy="585724"/>
            </a:xfrm>
            <a:custGeom>
              <a:avLst/>
              <a:gdLst/>
              <a:ahLst/>
              <a:cxnLst/>
              <a:rect r="r" b="b" t="t" l="l"/>
              <a:pathLst>
                <a:path h="585724" w="2470785">
                  <a:moveTo>
                    <a:pt x="0" y="292862"/>
                  </a:moveTo>
                  <a:cubicBezTo>
                    <a:pt x="0" y="131064"/>
                    <a:pt x="131064" y="0"/>
                    <a:pt x="292862" y="0"/>
                  </a:cubicBezTo>
                  <a:lnTo>
                    <a:pt x="2177923" y="0"/>
                  </a:lnTo>
                  <a:cubicBezTo>
                    <a:pt x="2339594" y="0"/>
                    <a:pt x="2470785" y="131064"/>
                    <a:pt x="2470785" y="292862"/>
                  </a:cubicBezTo>
                  <a:cubicBezTo>
                    <a:pt x="2470785" y="454660"/>
                    <a:pt x="2339721" y="585724"/>
                    <a:pt x="2177923" y="585724"/>
                  </a:cubicBezTo>
                  <a:lnTo>
                    <a:pt x="292862" y="585724"/>
                  </a:lnTo>
                  <a:cubicBezTo>
                    <a:pt x="131064" y="585724"/>
                    <a:pt x="0" y="454533"/>
                    <a:pt x="0" y="292862"/>
                  </a:cubicBezTo>
                  <a:close/>
                </a:path>
              </a:pathLst>
            </a:custGeom>
            <a:solidFill>
              <a:srgbClr val="0F142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266894" y="3253235"/>
            <a:ext cx="1853108" cy="439255"/>
            <a:chOff x="0" y="0"/>
            <a:chExt cx="2470810" cy="58567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470810" cy="585674"/>
            </a:xfrm>
            <a:custGeom>
              <a:avLst/>
              <a:gdLst/>
              <a:ahLst/>
              <a:cxnLst/>
              <a:rect r="r" b="b" t="t" l="l"/>
              <a:pathLst>
                <a:path h="585674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2" r="0" b="-3220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2470810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b="true" sz="1200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GLOBAL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1358334" y="3883876"/>
            <a:ext cx="2405977" cy="61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Rivian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358334" y="4560694"/>
            <a:ext cx="2433437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3C63A8"/>
                </a:solidFill>
                <a:latin typeface="Poppins Bold"/>
                <a:ea typeface="Poppins Bold"/>
                <a:cs typeface="Poppins Bold"/>
                <a:sym typeface="Poppins Bold"/>
              </a:rPr>
              <a:t>IG 854K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1257359" y="5055632"/>
            <a:ext cx="2607926" cy="19069"/>
            <a:chOff x="0" y="0"/>
            <a:chExt cx="3477235" cy="2542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477260" cy="25400"/>
            </a:xfrm>
            <a:custGeom>
              <a:avLst/>
              <a:gdLst/>
              <a:ahLst/>
              <a:cxnLst/>
              <a:rect r="r" b="b" t="t" l="l"/>
              <a:pathLst>
                <a:path h="25400" w="3477260">
                  <a:moveTo>
                    <a:pt x="0" y="0"/>
                  </a:moveTo>
                  <a:lnTo>
                    <a:pt x="347726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617432" r="0" b="-2617532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59" id="59"/>
          <p:cNvSpPr txBox="true"/>
          <p:nvPr/>
        </p:nvSpPr>
        <p:spPr>
          <a:xfrm rot="0">
            <a:off x="11358334" y="5219576"/>
            <a:ext cx="2433437" cy="295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The aspiration — “Keep the world adventurous forever.” Sells a mission, not a spec sheet.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4395294" y="2941711"/>
            <a:ext cx="3156995" cy="5441118"/>
            <a:chOff x="0" y="0"/>
            <a:chExt cx="4209326" cy="725482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209415" cy="7254875"/>
            </a:xfrm>
            <a:custGeom>
              <a:avLst/>
              <a:gdLst/>
              <a:ahLst/>
              <a:cxnLst/>
              <a:rect r="r" b="b" t="t" l="l"/>
              <a:pathLst>
                <a:path h="7254875" w="4209415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4025265" y="0"/>
                  </a:lnTo>
                  <a:cubicBezTo>
                    <a:pt x="4126992" y="0"/>
                    <a:pt x="4209415" y="82423"/>
                    <a:pt x="4209415" y="184150"/>
                  </a:cubicBezTo>
                  <a:lnTo>
                    <a:pt x="4209415" y="7070725"/>
                  </a:lnTo>
                  <a:cubicBezTo>
                    <a:pt x="4209415" y="7172452"/>
                    <a:pt x="4126992" y="7254875"/>
                    <a:pt x="4025265" y="7254875"/>
                  </a:cubicBezTo>
                  <a:lnTo>
                    <a:pt x="184150" y="7254875"/>
                  </a:lnTo>
                  <a:cubicBezTo>
                    <a:pt x="82423" y="7254875"/>
                    <a:pt x="0" y="7172452"/>
                    <a:pt x="0" y="70707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4679358" y="3253235"/>
            <a:ext cx="1853108" cy="439255"/>
            <a:chOff x="0" y="0"/>
            <a:chExt cx="2470810" cy="58567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470785" cy="585724"/>
            </a:xfrm>
            <a:custGeom>
              <a:avLst/>
              <a:gdLst/>
              <a:ahLst/>
              <a:cxnLst/>
              <a:rect r="r" b="b" t="t" l="l"/>
              <a:pathLst>
                <a:path h="585724" w="2470785">
                  <a:moveTo>
                    <a:pt x="0" y="292862"/>
                  </a:moveTo>
                  <a:cubicBezTo>
                    <a:pt x="0" y="131064"/>
                    <a:pt x="131064" y="0"/>
                    <a:pt x="292862" y="0"/>
                  </a:cubicBezTo>
                  <a:lnTo>
                    <a:pt x="2177923" y="0"/>
                  </a:lnTo>
                  <a:cubicBezTo>
                    <a:pt x="2339594" y="0"/>
                    <a:pt x="2470785" y="131064"/>
                    <a:pt x="2470785" y="292862"/>
                  </a:cubicBezTo>
                  <a:cubicBezTo>
                    <a:pt x="2470785" y="454660"/>
                    <a:pt x="2339721" y="585724"/>
                    <a:pt x="2177923" y="585724"/>
                  </a:cubicBezTo>
                  <a:lnTo>
                    <a:pt x="292862" y="585724"/>
                  </a:lnTo>
                  <a:cubicBezTo>
                    <a:pt x="131064" y="585724"/>
                    <a:pt x="0" y="454533"/>
                    <a:pt x="0" y="292862"/>
                  </a:cubicBezTo>
                  <a:close/>
                </a:path>
              </a:pathLst>
            </a:custGeom>
            <a:solidFill>
              <a:srgbClr val="0F142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4679358" y="3253235"/>
            <a:ext cx="1853108" cy="439255"/>
            <a:chOff x="0" y="0"/>
            <a:chExt cx="2470810" cy="58567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470810" cy="585674"/>
            </a:xfrm>
            <a:custGeom>
              <a:avLst/>
              <a:gdLst/>
              <a:ahLst/>
              <a:cxnLst/>
              <a:rect r="r" b="b" t="t" l="l"/>
              <a:pathLst>
                <a:path h="585674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2" r="0" b="-3220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2470810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b="true" sz="1200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GLOBAL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4770798" y="3883876"/>
            <a:ext cx="2405977" cy="61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Hongqi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4770798" y="4560694"/>
            <a:ext cx="2433437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3C63A8"/>
                </a:solidFill>
                <a:latin typeface="Poppins Bold"/>
                <a:ea typeface="Poppins Bold"/>
                <a:cs typeface="Poppins Bold"/>
                <a:sym typeface="Poppins Bold"/>
              </a:rPr>
              <a:t>IG 30K · 1,073 posts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4669824" y="5055632"/>
            <a:ext cx="2607926" cy="19069"/>
            <a:chOff x="0" y="0"/>
            <a:chExt cx="3477235" cy="2542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477260" cy="25400"/>
            </a:xfrm>
            <a:custGeom>
              <a:avLst/>
              <a:gdLst/>
              <a:ahLst/>
              <a:cxnLst/>
              <a:rect r="r" b="b" t="t" l="l"/>
              <a:pathLst>
                <a:path h="25400" w="3477260">
                  <a:moveTo>
                    <a:pt x="0" y="0"/>
                  </a:moveTo>
                  <a:lnTo>
                    <a:pt x="347726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617432" r="0" b="-2617532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71" id="71"/>
          <p:cNvSpPr txBox="true"/>
          <p:nvPr/>
        </p:nvSpPr>
        <p:spPr>
          <a:xfrm rot="0">
            <a:off x="14770798" y="5219576"/>
            <a:ext cx="2433437" cy="295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The premium-Chinese proof — a Chinese badge can sit upmarket in KSA. Relevant to Bestune's price problem.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782422" y="8579206"/>
            <a:ext cx="16472068" cy="549069"/>
            <a:chOff x="0" y="0"/>
            <a:chExt cx="21962758" cy="73209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1962759" cy="732092"/>
            </a:xfrm>
            <a:custGeom>
              <a:avLst/>
              <a:gdLst/>
              <a:ahLst/>
              <a:cxnLst/>
              <a:rect r="r" b="b" t="t" l="l"/>
              <a:pathLst>
                <a:path h="732092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21962758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i="true">
                  <a:solidFill>
                    <a:srgbClr val="3C63A8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Note   </a:t>
              </a:r>
              <a:r>
                <a:rPr lang="en-US" sz="1576" i="true">
                  <a:solidFill>
                    <a:srgbClr val="5C6879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Geely replaces MG as the direct rival — MG's KSA dealer is Mohammed Yousuf Naghi, not Taajeer.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19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 · RESEARCH · COMPETITORS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212's Battlefield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73862" y="2076155"/>
            <a:ext cx="16289188" cy="62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8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Five players — three local/regional, two global. The real arena this brand competes in.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2941711"/>
            <a:ext cx="3156995" cy="5441118"/>
            <a:chOff x="0" y="0"/>
            <a:chExt cx="4209326" cy="72548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09415" cy="7254875"/>
            </a:xfrm>
            <a:custGeom>
              <a:avLst/>
              <a:gdLst/>
              <a:ahLst/>
              <a:cxnLst/>
              <a:rect r="r" b="b" t="t" l="l"/>
              <a:pathLst>
                <a:path h="7254875" w="4209415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4025265" y="0"/>
                  </a:lnTo>
                  <a:cubicBezTo>
                    <a:pt x="4126992" y="0"/>
                    <a:pt x="4209415" y="82423"/>
                    <a:pt x="4209415" y="184150"/>
                  </a:cubicBezTo>
                  <a:lnTo>
                    <a:pt x="4209415" y="7070725"/>
                  </a:lnTo>
                  <a:cubicBezTo>
                    <a:pt x="4209415" y="7172452"/>
                    <a:pt x="4126992" y="7254875"/>
                    <a:pt x="4025265" y="7254875"/>
                  </a:cubicBezTo>
                  <a:lnTo>
                    <a:pt x="184150" y="7254875"/>
                  </a:lnTo>
                  <a:cubicBezTo>
                    <a:pt x="82423" y="7254875"/>
                    <a:pt x="0" y="7172452"/>
                    <a:pt x="0" y="70707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29500" y="3253235"/>
            <a:ext cx="1853108" cy="439255"/>
            <a:chOff x="0" y="0"/>
            <a:chExt cx="2470810" cy="5856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70785" cy="585724"/>
            </a:xfrm>
            <a:custGeom>
              <a:avLst/>
              <a:gdLst/>
              <a:ahLst/>
              <a:cxnLst/>
              <a:rect r="r" b="b" t="t" l="l"/>
              <a:pathLst>
                <a:path h="585724" w="2470785">
                  <a:moveTo>
                    <a:pt x="0" y="292862"/>
                  </a:moveTo>
                  <a:cubicBezTo>
                    <a:pt x="0" y="131064"/>
                    <a:pt x="131064" y="0"/>
                    <a:pt x="292862" y="0"/>
                  </a:cubicBezTo>
                  <a:lnTo>
                    <a:pt x="2177923" y="0"/>
                  </a:lnTo>
                  <a:cubicBezTo>
                    <a:pt x="2339594" y="0"/>
                    <a:pt x="2470785" y="131064"/>
                    <a:pt x="2470785" y="292862"/>
                  </a:cubicBezTo>
                  <a:cubicBezTo>
                    <a:pt x="2470785" y="454660"/>
                    <a:pt x="2339721" y="585724"/>
                    <a:pt x="2177923" y="585724"/>
                  </a:cubicBezTo>
                  <a:lnTo>
                    <a:pt x="292862" y="585724"/>
                  </a:lnTo>
                  <a:cubicBezTo>
                    <a:pt x="131064" y="585724"/>
                    <a:pt x="0" y="454533"/>
                    <a:pt x="0" y="292862"/>
                  </a:cubicBez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29500" y="3253235"/>
            <a:ext cx="1853108" cy="439255"/>
            <a:chOff x="0" y="0"/>
            <a:chExt cx="2470810" cy="58567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70810" cy="585674"/>
            </a:xfrm>
            <a:custGeom>
              <a:avLst/>
              <a:gdLst/>
              <a:ahLst/>
              <a:cxnLst/>
              <a:rect r="r" b="b" t="t" l="l"/>
              <a:pathLst>
                <a:path h="585674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2" r="0" b="-3220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470810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b="true" sz="1200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LOCAL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20940" y="3883876"/>
            <a:ext cx="2405977" cy="61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Tank 300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0940" y="4560694"/>
            <a:ext cx="2433437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1B8A5A"/>
                </a:solidFill>
                <a:latin typeface="Poppins Bold"/>
                <a:ea typeface="Poppins Bold"/>
                <a:cs typeface="Poppins Bold"/>
                <a:sym typeface="Poppins Bold"/>
              </a:rPr>
              <a:t>IG 16K · X 10.6K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19975" y="5055632"/>
            <a:ext cx="2607926" cy="19069"/>
            <a:chOff x="0" y="0"/>
            <a:chExt cx="3477235" cy="254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77260" cy="25400"/>
            </a:xfrm>
            <a:custGeom>
              <a:avLst/>
              <a:gdLst/>
              <a:ahLst/>
              <a:cxnLst/>
              <a:rect r="r" b="b" t="t" l="l"/>
              <a:pathLst>
                <a:path h="25400" w="3477260">
                  <a:moveTo>
                    <a:pt x="0" y="0"/>
                  </a:moveTo>
                  <a:lnTo>
                    <a:pt x="347726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617432" r="0" b="-2617532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120940" y="5219576"/>
            <a:ext cx="2433437" cy="295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The closest rival — “no limits,” benchmarked vs Wrangler. More established, less distinctive origin story.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157901" y="2941711"/>
            <a:ext cx="3156995" cy="5441118"/>
            <a:chOff x="0" y="0"/>
            <a:chExt cx="4209326" cy="725482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09415" cy="7254875"/>
            </a:xfrm>
            <a:custGeom>
              <a:avLst/>
              <a:gdLst/>
              <a:ahLst/>
              <a:cxnLst/>
              <a:rect r="r" b="b" t="t" l="l"/>
              <a:pathLst>
                <a:path h="7254875" w="4209415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4025265" y="0"/>
                  </a:lnTo>
                  <a:cubicBezTo>
                    <a:pt x="4126992" y="0"/>
                    <a:pt x="4209415" y="82423"/>
                    <a:pt x="4209415" y="184150"/>
                  </a:cubicBezTo>
                  <a:lnTo>
                    <a:pt x="4209415" y="7070725"/>
                  </a:lnTo>
                  <a:cubicBezTo>
                    <a:pt x="4209415" y="7172452"/>
                    <a:pt x="4126992" y="7254875"/>
                    <a:pt x="4025265" y="7254875"/>
                  </a:cubicBezTo>
                  <a:lnTo>
                    <a:pt x="184150" y="7254875"/>
                  </a:lnTo>
                  <a:cubicBezTo>
                    <a:pt x="82423" y="7254875"/>
                    <a:pt x="0" y="7172452"/>
                    <a:pt x="0" y="70707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4441965" y="3253235"/>
            <a:ext cx="1853108" cy="439255"/>
            <a:chOff x="0" y="0"/>
            <a:chExt cx="2470810" cy="58567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70785" cy="585724"/>
            </a:xfrm>
            <a:custGeom>
              <a:avLst/>
              <a:gdLst/>
              <a:ahLst/>
              <a:cxnLst/>
              <a:rect r="r" b="b" t="t" l="l"/>
              <a:pathLst>
                <a:path h="585724" w="2470785">
                  <a:moveTo>
                    <a:pt x="0" y="292862"/>
                  </a:moveTo>
                  <a:cubicBezTo>
                    <a:pt x="0" y="131064"/>
                    <a:pt x="131064" y="0"/>
                    <a:pt x="292862" y="0"/>
                  </a:cubicBezTo>
                  <a:lnTo>
                    <a:pt x="2177923" y="0"/>
                  </a:lnTo>
                  <a:cubicBezTo>
                    <a:pt x="2339594" y="0"/>
                    <a:pt x="2470785" y="131064"/>
                    <a:pt x="2470785" y="292862"/>
                  </a:cubicBezTo>
                  <a:cubicBezTo>
                    <a:pt x="2470785" y="454660"/>
                    <a:pt x="2339721" y="585724"/>
                    <a:pt x="2177923" y="585724"/>
                  </a:cubicBezTo>
                  <a:lnTo>
                    <a:pt x="292862" y="585724"/>
                  </a:lnTo>
                  <a:cubicBezTo>
                    <a:pt x="131064" y="585724"/>
                    <a:pt x="0" y="454533"/>
                    <a:pt x="0" y="292862"/>
                  </a:cubicBez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441965" y="3253235"/>
            <a:ext cx="1853108" cy="439255"/>
            <a:chOff x="0" y="0"/>
            <a:chExt cx="2470810" cy="58567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70810" cy="585674"/>
            </a:xfrm>
            <a:custGeom>
              <a:avLst/>
              <a:gdLst/>
              <a:ahLst/>
              <a:cxnLst/>
              <a:rect r="r" b="b" t="t" l="l"/>
              <a:pathLst>
                <a:path h="585674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2" r="0" b="-3220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2470810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b="true" sz="1200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LOCAL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4533405" y="3883876"/>
            <a:ext cx="2405977" cy="61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Petromin Jeep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533405" y="4560694"/>
            <a:ext cx="2433437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1B8A5A"/>
                </a:solidFill>
                <a:latin typeface="Poppins Bold"/>
                <a:ea typeface="Poppins Bold"/>
                <a:cs typeface="Poppins Bold"/>
                <a:sym typeface="Poppins Bold"/>
              </a:rPr>
              <a:t>IG 20K · 578 posts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4432430" y="5055632"/>
            <a:ext cx="2607926" cy="19069"/>
            <a:chOff x="0" y="0"/>
            <a:chExt cx="3477235" cy="2542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77260" cy="25400"/>
            </a:xfrm>
            <a:custGeom>
              <a:avLst/>
              <a:gdLst/>
              <a:ahLst/>
              <a:cxnLst/>
              <a:rect r="r" b="b" t="t" l="l"/>
              <a:pathLst>
                <a:path h="25400" w="3477260">
                  <a:moveTo>
                    <a:pt x="0" y="0"/>
                  </a:moveTo>
                  <a:lnTo>
                    <a:pt x="347726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617432" r="0" b="-2617532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4533405" y="5219576"/>
            <a:ext cx="2433437" cy="295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The in-market off-road competitor. Strong global equity, localized; “in the heart of adventure.”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570365" y="2941711"/>
            <a:ext cx="3156995" cy="5441118"/>
            <a:chOff x="0" y="0"/>
            <a:chExt cx="4209326" cy="725482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09415" cy="7254875"/>
            </a:xfrm>
            <a:custGeom>
              <a:avLst/>
              <a:gdLst/>
              <a:ahLst/>
              <a:cxnLst/>
              <a:rect r="r" b="b" t="t" l="l"/>
              <a:pathLst>
                <a:path h="7254875" w="4209415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4025265" y="0"/>
                  </a:lnTo>
                  <a:cubicBezTo>
                    <a:pt x="4126992" y="0"/>
                    <a:pt x="4209415" y="82423"/>
                    <a:pt x="4209415" y="184150"/>
                  </a:cubicBezTo>
                  <a:lnTo>
                    <a:pt x="4209415" y="7070725"/>
                  </a:lnTo>
                  <a:cubicBezTo>
                    <a:pt x="4209415" y="7172452"/>
                    <a:pt x="4126992" y="7254875"/>
                    <a:pt x="4025265" y="7254875"/>
                  </a:cubicBezTo>
                  <a:lnTo>
                    <a:pt x="184150" y="7254875"/>
                  </a:lnTo>
                  <a:cubicBezTo>
                    <a:pt x="82423" y="7254875"/>
                    <a:pt x="0" y="7172452"/>
                    <a:pt x="0" y="70707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7854429" y="3253235"/>
            <a:ext cx="1853108" cy="439255"/>
            <a:chOff x="0" y="0"/>
            <a:chExt cx="2470810" cy="5856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70785" cy="585724"/>
            </a:xfrm>
            <a:custGeom>
              <a:avLst/>
              <a:gdLst/>
              <a:ahLst/>
              <a:cxnLst/>
              <a:rect r="r" b="b" t="t" l="l"/>
              <a:pathLst>
                <a:path h="585724" w="2470785">
                  <a:moveTo>
                    <a:pt x="0" y="292862"/>
                  </a:moveTo>
                  <a:cubicBezTo>
                    <a:pt x="0" y="131064"/>
                    <a:pt x="131064" y="0"/>
                    <a:pt x="292862" y="0"/>
                  </a:cubicBezTo>
                  <a:lnTo>
                    <a:pt x="2177923" y="0"/>
                  </a:lnTo>
                  <a:cubicBezTo>
                    <a:pt x="2339594" y="0"/>
                    <a:pt x="2470785" y="131064"/>
                    <a:pt x="2470785" y="292862"/>
                  </a:cubicBezTo>
                  <a:cubicBezTo>
                    <a:pt x="2470785" y="454660"/>
                    <a:pt x="2339721" y="585724"/>
                    <a:pt x="2177923" y="585724"/>
                  </a:cubicBezTo>
                  <a:lnTo>
                    <a:pt x="292862" y="585724"/>
                  </a:lnTo>
                  <a:cubicBezTo>
                    <a:pt x="131064" y="585724"/>
                    <a:pt x="0" y="454533"/>
                    <a:pt x="0" y="292862"/>
                  </a:cubicBezTo>
                  <a:close/>
                </a:path>
              </a:pathLst>
            </a:custGeom>
            <a:solidFill>
              <a:srgbClr val="0F142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854429" y="3253235"/>
            <a:ext cx="1853108" cy="439255"/>
            <a:chOff x="0" y="0"/>
            <a:chExt cx="2470810" cy="58567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70810" cy="585674"/>
            </a:xfrm>
            <a:custGeom>
              <a:avLst/>
              <a:gdLst/>
              <a:ahLst/>
              <a:cxnLst/>
              <a:rect r="r" b="b" t="t" l="l"/>
              <a:pathLst>
                <a:path h="585674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2" r="0" b="-3220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2470810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b="true" sz="1200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GLOBAL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7945869" y="3883876"/>
            <a:ext cx="2405977" cy="61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Jeep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945869" y="4560694"/>
            <a:ext cx="2433437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1B8A5A"/>
                </a:solidFill>
                <a:latin typeface="Poppins Bold"/>
                <a:ea typeface="Poppins Bold"/>
                <a:cs typeface="Poppins Bold"/>
                <a:sym typeface="Poppins Bold"/>
              </a:rPr>
              <a:t>13M+ followers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7844895" y="5055632"/>
            <a:ext cx="2607926" cy="19069"/>
            <a:chOff x="0" y="0"/>
            <a:chExt cx="3477235" cy="2542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477260" cy="25400"/>
            </a:xfrm>
            <a:custGeom>
              <a:avLst/>
              <a:gdLst/>
              <a:ahLst/>
              <a:cxnLst/>
              <a:rect r="r" b="b" t="t" l="l"/>
              <a:pathLst>
                <a:path h="25400" w="3477260">
                  <a:moveTo>
                    <a:pt x="0" y="0"/>
                  </a:moveTo>
                  <a:lnTo>
                    <a:pt x="347726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617432" r="0" b="-2617532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47" id="47"/>
          <p:cNvSpPr txBox="true"/>
          <p:nvPr/>
        </p:nvSpPr>
        <p:spPr>
          <a:xfrm rot="0">
            <a:off x="7945869" y="5219576"/>
            <a:ext cx="2433437" cy="295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The absolute reference — #JeepLife UGC engine; a WWII heritage nearly identical to 212's 1960s origin.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0982830" y="2941711"/>
            <a:ext cx="3156995" cy="5441118"/>
            <a:chOff x="0" y="0"/>
            <a:chExt cx="4209326" cy="725482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209415" cy="7254875"/>
            </a:xfrm>
            <a:custGeom>
              <a:avLst/>
              <a:gdLst/>
              <a:ahLst/>
              <a:cxnLst/>
              <a:rect r="r" b="b" t="t" l="l"/>
              <a:pathLst>
                <a:path h="7254875" w="4209415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4025265" y="0"/>
                  </a:lnTo>
                  <a:cubicBezTo>
                    <a:pt x="4126992" y="0"/>
                    <a:pt x="4209415" y="82423"/>
                    <a:pt x="4209415" y="184150"/>
                  </a:cubicBezTo>
                  <a:lnTo>
                    <a:pt x="4209415" y="7070725"/>
                  </a:lnTo>
                  <a:cubicBezTo>
                    <a:pt x="4209415" y="7172452"/>
                    <a:pt x="4126992" y="7254875"/>
                    <a:pt x="4025265" y="7254875"/>
                  </a:cubicBezTo>
                  <a:lnTo>
                    <a:pt x="184150" y="7254875"/>
                  </a:lnTo>
                  <a:cubicBezTo>
                    <a:pt x="82423" y="7254875"/>
                    <a:pt x="0" y="7172452"/>
                    <a:pt x="0" y="70707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1266894" y="3253235"/>
            <a:ext cx="1853108" cy="439255"/>
            <a:chOff x="0" y="0"/>
            <a:chExt cx="2470810" cy="58567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470785" cy="585724"/>
            </a:xfrm>
            <a:custGeom>
              <a:avLst/>
              <a:gdLst/>
              <a:ahLst/>
              <a:cxnLst/>
              <a:rect r="r" b="b" t="t" l="l"/>
              <a:pathLst>
                <a:path h="585724" w="2470785">
                  <a:moveTo>
                    <a:pt x="0" y="292862"/>
                  </a:moveTo>
                  <a:cubicBezTo>
                    <a:pt x="0" y="131064"/>
                    <a:pt x="131064" y="0"/>
                    <a:pt x="292862" y="0"/>
                  </a:cubicBezTo>
                  <a:lnTo>
                    <a:pt x="2177923" y="0"/>
                  </a:lnTo>
                  <a:cubicBezTo>
                    <a:pt x="2339594" y="0"/>
                    <a:pt x="2470785" y="131064"/>
                    <a:pt x="2470785" y="292862"/>
                  </a:cubicBezTo>
                  <a:cubicBezTo>
                    <a:pt x="2470785" y="454660"/>
                    <a:pt x="2339721" y="585724"/>
                    <a:pt x="2177923" y="585724"/>
                  </a:cubicBezTo>
                  <a:lnTo>
                    <a:pt x="292862" y="585724"/>
                  </a:lnTo>
                  <a:cubicBezTo>
                    <a:pt x="131064" y="585724"/>
                    <a:pt x="0" y="454533"/>
                    <a:pt x="0" y="292862"/>
                  </a:cubicBezTo>
                  <a:close/>
                </a:path>
              </a:pathLst>
            </a:custGeom>
            <a:solidFill>
              <a:srgbClr val="0F142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266894" y="3253235"/>
            <a:ext cx="1853108" cy="439255"/>
            <a:chOff x="0" y="0"/>
            <a:chExt cx="2470810" cy="58567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470810" cy="585674"/>
            </a:xfrm>
            <a:custGeom>
              <a:avLst/>
              <a:gdLst/>
              <a:ahLst/>
              <a:cxnLst/>
              <a:rect r="r" b="b" t="t" l="l"/>
              <a:pathLst>
                <a:path h="585674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2" r="0" b="-3220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2470810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b="true" sz="1200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GLOBAL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1358334" y="3883876"/>
            <a:ext cx="2405977" cy="61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Ineos Grenadier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358334" y="4560694"/>
            <a:ext cx="2433437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1B8A5A"/>
                </a:solidFill>
                <a:latin typeface="Poppins Bold"/>
                <a:ea typeface="Poppins Bold"/>
                <a:cs typeface="Poppins Bold"/>
                <a:sym typeface="Poppins Bold"/>
              </a:rPr>
              <a:t>Global 388K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1257359" y="5055632"/>
            <a:ext cx="2607926" cy="19069"/>
            <a:chOff x="0" y="0"/>
            <a:chExt cx="3477235" cy="2542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477260" cy="25400"/>
            </a:xfrm>
            <a:custGeom>
              <a:avLst/>
              <a:gdLst/>
              <a:ahLst/>
              <a:cxnLst/>
              <a:rect r="r" b="b" t="t" l="l"/>
              <a:pathLst>
                <a:path h="25400" w="3477260">
                  <a:moveTo>
                    <a:pt x="0" y="0"/>
                  </a:moveTo>
                  <a:lnTo>
                    <a:pt x="347726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617432" r="0" b="-2617532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59" id="59"/>
          <p:cNvSpPr txBox="true"/>
          <p:nvPr/>
        </p:nvSpPr>
        <p:spPr>
          <a:xfrm rot="0">
            <a:off x="11358334" y="5219576"/>
            <a:ext cx="2433437" cy="295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The closest global parallel — a heritage off-roader built on authenticity, executed at a premium.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4395294" y="2941711"/>
            <a:ext cx="3156995" cy="5441118"/>
            <a:chOff x="0" y="0"/>
            <a:chExt cx="4209326" cy="725482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209415" cy="7254875"/>
            </a:xfrm>
            <a:custGeom>
              <a:avLst/>
              <a:gdLst/>
              <a:ahLst/>
              <a:cxnLst/>
              <a:rect r="r" b="b" t="t" l="l"/>
              <a:pathLst>
                <a:path h="7254875" w="4209415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4025265" y="0"/>
                  </a:lnTo>
                  <a:cubicBezTo>
                    <a:pt x="4126992" y="0"/>
                    <a:pt x="4209415" y="82423"/>
                    <a:pt x="4209415" y="184150"/>
                  </a:cubicBezTo>
                  <a:lnTo>
                    <a:pt x="4209415" y="7070725"/>
                  </a:lnTo>
                  <a:cubicBezTo>
                    <a:pt x="4209415" y="7172452"/>
                    <a:pt x="4126992" y="7254875"/>
                    <a:pt x="4025265" y="7254875"/>
                  </a:cubicBezTo>
                  <a:lnTo>
                    <a:pt x="184150" y="7254875"/>
                  </a:lnTo>
                  <a:cubicBezTo>
                    <a:pt x="82423" y="7254875"/>
                    <a:pt x="0" y="7172452"/>
                    <a:pt x="0" y="70707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4679358" y="3253235"/>
            <a:ext cx="1853108" cy="439255"/>
            <a:chOff x="0" y="0"/>
            <a:chExt cx="2470810" cy="58567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470785" cy="585724"/>
            </a:xfrm>
            <a:custGeom>
              <a:avLst/>
              <a:gdLst/>
              <a:ahLst/>
              <a:cxnLst/>
              <a:rect r="r" b="b" t="t" l="l"/>
              <a:pathLst>
                <a:path h="585724" w="2470785">
                  <a:moveTo>
                    <a:pt x="0" y="292862"/>
                  </a:moveTo>
                  <a:cubicBezTo>
                    <a:pt x="0" y="131064"/>
                    <a:pt x="131064" y="0"/>
                    <a:pt x="292862" y="0"/>
                  </a:cubicBezTo>
                  <a:lnTo>
                    <a:pt x="2177923" y="0"/>
                  </a:lnTo>
                  <a:cubicBezTo>
                    <a:pt x="2339594" y="0"/>
                    <a:pt x="2470785" y="131064"/>
                    <a:pt x="2470785" y="292862"/>
                  </a:cubicBezTo>
                  <a:cubicBezTo>
                    <a:pt x="2470785" y="454660"/>
                    <a:pt x="2339721" y="585724"/>
                    <a:pt x="2177923" y="585724"/>
                  </a:cubicBezTo>
                  <a:lnTo>
                    <a:pt x="292862" y="585724"/>
                  </a:lnTo>
                  <a:cubicBezTo>
                    <a:pt x="131064" y="585724"/>
                    <a:pt x="0" y="454533"/>
                    <a:pt x="0" y="292862"/>
                  </a:cubicBezTo>
                  <a:close/>
                </a:path>
              </a:pathLst>
            </a:custGeom>
            <a:solidFill>
              <a:srgbClr val="0F142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4679358" y="3253235"/>
            <a:ext cx="1853108" cy="439255"/>
            <a:chOff x="0" y="0"/>
            <a:chExt cx="2470810" cy="58567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470810" cy="585674"/>
            </a:xfrm>
            <a:custGeom>
              <a:avLst/>
              <a:gdLst/>
              <a:ahLst/>
              <a:cxnLst/>
              <a:rect r="r" b="b" t="t" l="l"/>
              <a:pathLst>
                <a:path h="585674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2" r="0" b="-3220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2470810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b="true" sz="1200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GLOBAL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4770798" y="3883876"/>
            <a:ext cx="2405977" cy="61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Land Rover Defender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4770798" y="4560694"/>
            <a:ext cx="2433437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1B8A5A"/>
                </a:solidFill>
                <a:latin typeface="Poppins Bold"/>
                <a:ea typeface="Poppins Bold"/>
                <a:cs typeface="Poppins Bold"/>
                <a:sym typeface="Poppins Bold"/>
              </a:rPr>
              <a:t>Global icon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4669824" y="5055632"/>
            <a:ext cx="2607926" cy="19069"/>
            <a:chOff x="0" y="0"/>
            <a:chExt cx="3477235" cy="2542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477260" cy="25400"/>
            </a:xfrm>
            <a:custGeom>
              <a:avLst/>
              <a:gdLst/>
              <a:ahLst/>
              <a:cxnLst/>
              <a:rect r="r" b="b" t="t" l="l"/>
              <a:pathLst>
                <a:path h="25400" w="3477260">
                  <a:moveTo>
                    <a:pt x="0" y="0"/>
                  </a:moveTo>
                  <a:lnTo>
                    <a:pt x="347726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617432" r="0" b="-2617532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71" id="71"/>
          <p:cNvSpPr txBox="true"/>
          <p:nvPr/>
        </p:nvSpPr>
        <p:spPr>
          <a:xfrm rot="0">
            <a:off x="14770798" y="5219576"/>
            <a:ext cx="2433437" cy="295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The design icon 212's silhouette openly echoes — “the spirit of, at a Chinese price.”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782422" y="8579206"/>
            <a:ext cx="16472068" cy="549069"/>
            <a:chOff x="0" y="0"/>
            <a:chExt cx="21962758" cy="73209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1962759" cy="732092"/>
            </a:xfrm>
            <a:custGeom>
              <a:avLst/>
              <a:gdLst/>
              <a:ahLst/>
              <a:cxnLst/>
              <a:rect r="r" b="b" t="t" l="l"/>
              <a:pathLst>
                <a:path h="732092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21962758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i="true">
                  <a:solidFill>
                    <a:srgbClr val="1B8A5A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Note   </a:t>
              </a:r>
              <a:r>
                <a:rPr lang="en-US" sz="1576" i="true">
                  <a:solidFill>
                    <a:srgbClr val="5C6879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Aljomaih — a Motor Souq rival — is also the Saudi dealer for Ineos Grenadier. A cross-portfolio overlap to stay aware of.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20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 · RESEARCH · COMPETITORS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Motor Souq's Battlefield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73862" y="2076155"/>
            <a:ext cx="16289188" cy="62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8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Five players — three local/regional, two global. The real arena this brand competes in.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2941711"/>
            <a:ext cx="3156995" cy="5441118"/>
            <a:chOff x="0" y="0"/>
            <a:chExt cx="4209326" cy="72548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09415" cy="7254875"/>
            </a:xfrm>
            <a:custGeom>
              <a:avLst/>
              <a:gdLst/>
              <a:ahLst/>
              <a:cxnLst/>
              <a:rect r="r" b="b" t="t" l="l"/>
              <a:pathLst>
                <a:path h="7254875" w="4209415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4025265" y="0"/>
                  </a:lnTo>
                  <a:cubicBezTo>
                    <a:pt x="4126992" y="0"/>
                    <a:pt x="4209415" y="82423"/>
                    <a:pt x="4209415" y="184150"/>
                  </a:cubicBezTo>
                  <a:lnTo>
                    <a:pt x="4209415" y="7070725"/>
                  </a:lnTo>
                  <a:cubicBezTo>
                    <a:pt x="4209415" y="7172452"/>
                    <a:pt x="4126992" y="7254875"/>
                    <a:pt x="4025265" y="7254875"/>
                  </a:cubicBezTo>
                  <a:lnTo>
                    <a:pt x="184150" y="7254875"/>
                  </a:lnTo>
                  <a:cubicBezTo>
                    <a:pt x="82423" y="7254875"/>
                    <a:pt x="0" y="7172452"/>
                    <a:pt x="0" y="70707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29500" y="3253235"/>
            <a:ext cx="1853108" cy="439255"/>
            <a:chOff x="0" y="0"/>
            <a:chExt cx="2470810" cy="5856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70785" cy="585724"/>
            </a:xfrm>
            <a:custGeom>
              <a:avLst/>
              <a:gdLst/>
              <a:ahLst/>
              <a:cxnLst/>
              <a:rect r="r" b="b" t="t" l="l"/>
              <a:pathLst>
                <a:path h="585724" w="2470785">
                  <a:moveTo>
                    <a:pt x="0" y="292862"/>
                  </a:moveTo>
                  <a:cubicBezTo>
                    <a:pt x="0" y="131064"/>
                    <a:pt x="131064" y="0"/>
                    <a:pt x="292862" y="0"/>
                  </a:cubicBezTo>
                  <a:lnTo>
                    <a:pt x="2177923" y="0"/>
                  </a:lnTo>
                  <a:cubicBezTo>
                    <a:pt x="2339594" y="0"/>
                    <a:pt x="2470785" y="131064"/>
                    <a:pt x="2470785" y="292862"/>
                  </a:cubicBezTo>
                  <a:cubicBezTo>
                    <a:pt x="2470785" y="454660"/>
                    <a:pt x="2339721" y="585724"/>
                    <a:pt x="2177923" y="585724"/>
                  </a:cubicBezTo>
                  <a:lnTo>
                    <a:pt x="292862" y="585724"/>
                  </a:lnTo>
                  <a:cubicBezTo>
                    <a:pt x="131064" y="585724"/>
                    <a:pt x="0" y="454533"/>
                    <a:pt x="0" y="292862"/>
                  </a:cubicBez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29500" y="3253235"/>
            <a:ext cx="1853108" cy="439255"/>
            <a:chOff x="0" y="0"/>
            <a:chExt cx="2470810" cy="58567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70810" cy="585674"/>
            </a:xfrm>
            <a:custGeom>
              <a:avLst/>
              <a:gdLst/>
              <a:ahLst/>
              <a:cxnLst/>
              <a:rect r="r" b="b" t="t" l="l"/>
              <a:pathLst>
                <a:path h="585674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2" r="0" b="-3220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470810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b="true" sz="1200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LOCAL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20940" y="3883876"/>
            <a:ext cx="2405977" cy="61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Aljomaih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0940" y="4560694"/>
            <a:ext cx="2433437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1892C8"/>
                </a:solidFill>
                <a:latin typeface="Poppins Bold"/>
                <a:ea typeface="Poppins Bold"/>
                <a:cs typeface="Poppins Bold"/>
                <a:sym typeface="Poppins Bold"/>
              </a:rPr>
              <a:t>IG 212K · 6,039 posts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19975" y="5055632"/>
            <a:ext cx="2607926" cy="19069"/>
            <a:chOff x="0" y="0"/>
            <a:chExt cx="3477235" cy="254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77260" cy="25400"/>
            </a:xfrm>
            <a:custGeom>
              <a:avLst/>
              <a:gdLst/>
              <a:ahLst/>
              <a:cxnLst/>
              <a:rect r="r" b="b" t="t" l="l"/>
              <a:pathLst>
                <a:path h="25400" w="3477260">
                  <a:moveTo>
                    <a:pt x="0" y="0"/>
                  </a:moveTo>
                  <a:lnTo>
                    <a:pt x="347726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617432" r="0" b="-2617532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120940" y="5219576"/>
            <a:ext cx="2433437" cy="295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The dominant multi-brand dealer (Cadillac/GMC/Chevrolet/GAC). The reach benchmark Motor Souq is dwarfed by.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157901" y="2941711"/>
            <a:ext cx="3156995" cy="5441118"/>
            <a:chOff x="0" y="0"/>
            <a:chExt cx="4209326" cy="725482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09415" cy="7254875"/>
            </a:xfrm>
            <a:custGeom>
              <a:avLst/>
              <a:gdLst/>
              <a:ahLst/>
              <a:cxnLst/>
              <a:rect r="r" b="b" t="t" l="l"/>
              <a:pathLst>
                <a:path h="7254875" w="4209415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4025265" y="0"/>
                  </a:lnTo>
                  <a:cubicBezTo>
                    <a:pt x="4126992" y="0"/>
                    <a:pt x="4209415" y="82423"/>
                    <a:pt x="4209415" y="184150"/>
                  </a:cubicBezTo>
                  <a:lnTo>
                    <a:pt x="4209415" y="7070725"/>
                  </a:lnTo>
                  <a:cubicBezTo>
                    <a:pt x="4209415" y="7172452"/>
                    <a:pt x="4126992" y="7254875"/>
                    <a:pt x="4025265" y="7254875"/>
                  </a:cubicBezTo>
                  <a:lnTo>
                    <a:pt x="184150" y="7254875"/>
                  </a:lnTo>
                  <a:cubicBezTo>
                    <a:pt x="82423" y="7254875"/>
                    <a:pt x="0" y="7172452"/>
                    <a:pt x="0" y="70707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4441965" y="3253235"/>
            <a:ext cx="1853108" cy="439255"/>
            <a:chOff x="0" y="0"/>
            <a:chExt cx="2470810" cy="58567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70785" cy="585724"/>
            </a:xfrm>
            <a:custGeom>
              <a:avLst/>
              <a:gdLst/>
              <a:ahLst/>
              <a:cxnLst/>
              <a:rect r="r" b="b" t="t" l="l"/>
              <a:pathLst>
                <a:path h="585724" w="2470785">
                  <a:moveTo>
                    <a:pt x="0" y="292862"/>
                  </a:moveTo>
                  <a:cubicBezTo>
                    <a:pt x="0" y="131064"/>
                    <a:pt x="131064" y="0"/>
                    <a:pt x="292862" y="0"/>
                  </a:cubicBezTo>
                  <a:lnTo>
                    <a:pt x="2177923" y="0"/>
                  </a:lnTo>
                  <a:cubicBezTo>
                    <a:pt x="2339594" y="0"/>
                    <a:pt x="2470785" y="131064"/>
                    <a:pt x="2470785" y="292862"/>
                  </a:cubicBezTo>
                  <a:cubicBezTo>
                    <a:pt x="2470785" y="454660"/>
                    <a:pt x="2339721" y="585724"/>
                    <a:pt x="2177923" y="585724"/>
                  </a:cubicBezTo>
                  <a:lnTo>
                    <a:pt x="292862" y="585724"/>
                  </a:lnTo>
                  <a:cubicBezTo>
                    <a:pt x="131064" y="585724"/>
                    <a:pt x="0" y="454533"/>
                    <a:pt x="0" y="292862"/>
                  </a:cubicBez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441965" y="3253235"/>
            <a:ext cx="1853108" cy="439255"/>
            <a:chOff x="0" y="0"/>
            <a:chExt cx="2470810" cy="58567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70810" cy="585674"/>
            </a:xfrm>
            <a:custGeom>
              <a:avLst/>
              <a:gdLst/>
              <a:ahLst/>
              <a:cxnLst/>
              <a:rect r="r" b="b" t="t" l="l"/>
              <a:pathLst>
                <a:path h="585674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2" r="0" b="-3220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2470810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b="true" sz="1200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LOCAL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4533405" y="3883876"/>
            <a:ext cx="2405977" cy="61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Abdul Latif Jameel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533405" y="4560694"/>
            <a:ext cx="2433437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1892C8"/>
                </a:solidFill>
                <a:latin typeface="Poppins Bold"/>
                <a:ea typeface="Poppins Bold"/>
                <a:cs typeface="Poppins Bold"/>
                <a:sym typeface="Poppins Bold"/>
              </a:rPr>
              <a:t>Corp 27K · Toyota 388K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4432430" y="5055632"/>
            <a:ext cx="2607926" cy="19069"/>
            <a:chOff x="0" y="0"/>
            <a:chExt cx="3477235" cy="2542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77260" cy="25400"/>
            </a:xfrm>
            <a:custGeom>
              <a:avLst/>
              <a:gdLst/>
              <a:ahLst/>
              <a:cxnLst/>
              <a:rect r="r" b="b" t="t" l="l"/>
              <a:pathLst>
                <a:path h="25400" w="3477260">
                  <a:moveTo>
                    <a:pt x="0" y="0"/>
                  </a:moveTo>
                  <a:lnTo>
                    <a:pt x="347726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617432" r="0" b="-2617532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4533405" y="5219576"/>
            <a:ext cx="2433437" cy="295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The giant. Corporate account is small; the real power sits in brand accounts — a lesson on where scale lives.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570365" y="2941711"/>
            <a:ext cx="3156995" cy="5441118"/>
            <a:chOff x="0" y="0"/>
            <a:chExt cx="4209326" cy="725482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09415" cy="7254875"/>
            </a:xfrm>
            <a:custGeom>
              <a:avLst/>
              <a:gdLst/>
              <a:ahLst/>
              <a:cxnLst/>
              <a:rect r="r" b="b" t="t" l="l"/>
              <a:pathLst>
                <a:path h="7254875" w="4209415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4025265" y="0"/>
                  </a:lnTo>
                  <a:cubicBezTo>
                    <a:pt x="4126992" y="0"/>
                    <a:pt x="4209415" y="82423"/>
                    <a:pt x="4209415" y="184150"/>
                  </a:cubicBezTo>
                  <a:lnTo>
                    <a:pt x="4209415" y="7070725"/>
                  </a:lnTo>
                  <a:cubicBezTo>
                    <a:pt x="4209415" y="7172452"/>
                    <a:pt x="4126992" y="7254875"/>
                    <a:pt x="4025265" y="7254875"/>
                  </a:cubicBezTo>
                  <a:lnTo>
                    <a:pt x="184150" y="7254875"/>
                  </a:lnTo>
                  <a:cubicBezTo>
                    <a:pt x="82423" y="7254875"/>
                    <a:pt x="0" y="7172452"/>
                    <a:pt x="0" y="70707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7854429" y="3253235"/>
            <a:ext cx="1853108" cy="439255"/>
            <a:chOff x="0" y="0"/>
            <a:chExt cx="2470810" cy="5856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70785" cy="585724"/>
            </a:xfrm>
            <a:custGeom>
              <a:avLst/>
              <a:gdLst/>
              <a:ahLst/>
              <a:cxnLst/>
              <a:rect r="r" b="b" t="t" l="l"/>
              <a:pathLst>
                <a:path h="585724" w="2470785">
                  <a:moveTo>
                    <a:pt x="0" y="292862"/>
                  </a:moveTo>
                  <a:cubicBezTo>
                    <a:pt x="0" y="131064"/>
                    <a:pt x="131064" y="0"/>
                    <a:pt x="292862" y="0"/>
                  </a:cubicBezTo>
                  <a:lnTo>
                    <a:pt x="2177923" y="0"/>
                  </a:lnTo>
                  <a:cubicBezTo>
                    <a:pt x="2339594" y="0"/>
                    <a:pt x="2470785" y="131064"/>
                    <a:pt x="2470785" y="292862"/>
                  </a:cubicBezTo>
                  <a:cubicBezTo>
                    <a:pt x="2470785" y="454660"/>
                    <a:pt x="2339721" y="585724"/>
                    <a:pt x="2177923" y="585724"/>
                  </a:cubicBezTo>
                  <a:lnTo>
                    <a:pt x="292862" y="585724"/>
                  </a:lnTo>
                  <a:cubicBezTo>
                    <a:pt x="131064" y="585724"/>
                    <a:pt x="0" y="454533"/>
                    <a:pt x="0" y="292862"/>
                  </a:cubicBez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854429" y="3253235"/>
            <a:ext cx="1853108" cy="439255"/>
            <a:chOff x="0" y="0"/>
            <a:chExt cx="2470810" cy="58567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70810" cy="585674"/>
            </a:xfrm>
            <a:custGeom>
              <a:avLst/>
              <a:gdLst/>
              <a:ahLst/>
              <a:cxnLst/>
              <a:rect r="r" b="b" t="t" l="l"/>
              <a:pathLst>
                <a:path h="585674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2" r="0" b="-3220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2470810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b="true" sz="1200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LOCAL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7945869" y="3883876"/>
            <a:ext cx="2405977" cy="61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Aljazirah-Ford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945869" y="4560694"/>
            <a:ext cx="2433437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1892C8"/>
                </a:solidFill>
                <a:latin typeface="Poppins Bold"/>
                <a:ea typeface="Poppins Bold"/>
                <a:cs typeface="Poppins Bold"/>
                <a:sym typeface="Poppins Bold"/>
              </a:rPr>
              <a:t>IG 189K · 4,430 posts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7844895" y="5055632"/>
            <a:ext cx="2607926" cy="19069"/>
            <a:chOff x="0" y="0"/>
            <a:chExt cx="3477235" cy="2542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477260" cy="25400"/>
            </a:xfrm>
            <a:custGeom>
              <a:avLst/>
              <a:gdLst/>
              <a:ahLst/>
              <a:cxnLst/>
              <a:rect r="r" b="b" t="t" l="l"/>
              <a:pathLst>
                <a:path h="25400" w="3477260">
                  <a:moveTo>
                    <a:pt x="0" y="0"/>
                  </a:moveTo>
                  <a:lnTo>
                    <a:pt x="347726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617432" r="0" b="-2617532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47" id="47"/>
          <p:cNvSpPr txBox="true"/>
          <p:nvPr/>
        </p:nvSpPr>
        <p:spPr>
          <a:xfrm rot="0">
            <a:off x="7945869" y="5219576"/>
            <a:ext cx="2433437" cy="295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Proof a Saudi dealer can build a 189K audience — a direct challenge to Motor Souq's dead 78K.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0982830" y="2941711"/>
            <a:ext cx="3156995" cy="5441118"/>
            <a:chOff x="0" y="0"/>
            <a:chExt cx="4209326" cy="725482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209415" cy="7254875"/>
            </a:xfrm>
            <a:custGeom>
              <a:avLst/>
              <a:gdLst/>
              <a:ahLst/>
              <a:cxnLst/>
              <a:rect r="r" b="b" t="t" l="l"/>
              <a:pathLst>
                <a:path h="7254875" w="4209415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4025265" y="0"/>
                  </a:lnTo>
                  <a:cubicBezTo>
                    <a:pt x="4126992" y="0"/>
                    <a:pt x="4209415" y="82423"/>
                    <a:pt x="4209415" y="184150"/>
                  </a:cubicBezTo>
                  <a:lnTo>
                    <a:pt x="4209415" y="7070725"/>
                  </a:lnTo>
                  <a:cubicBezTo>
                    <a:pt x="4209415" y="7172452"/>
                    <a:pt x="4126992" y="7254875"/>
                    <a:pt x="4025265" y="7254875"/>
                  </a:cubicBezTo>
                  <a:lnTo>
                    <a:pt x="184150" y="7254875"/>
                  </a:lnTo>
                  <a:cubicBezTo>
                    <a:pt x="82423" y="7254875"/>
                    <a:pt x="0" y="7172452"/>
                    <a:pt x="0" y="70707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1266894" y="3253235"/>
            <a:ext cx="1853108" cy="439255"/>
            <a:chOff x="0" y="0"/>
            <a:chExt cx="2470810" cy="58567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470785" cy="585724"/>
            </a:xfrm>
            <a:custGeom>
              <a:avLst/>
              <a:gdLst/>
              <a:ahLst/>
              <a:cxnLst/>
              <a:rect r="r" b="b" t="t" l="l"/>
              <a:pathLst>
                <a:path h="585724" w="2470785">
                  <a:moveTo>
                    <a:pt x="0" y="292862"/>
                  </a:moveTo>
                  <a:cubicBezTo>
                    <a:pt x="0" y="131064"/>
                    <a:pt x="131064" y="0"/>
                    <a:pt x="292862" y="0"/>
                  </a:cubicBezTo>
                  <a:lnTo>
                    <a:pt x="2177923" y="0"/>
                  </a:lnTo>
                  <a:cubicBezTo>
                    <a:pt x="2339594" y="0"/>
                    <a:pt x="2470785" y="131064"/>
                    <a:pt x="2470785" y="292862"/>
                  </a:cubicBezTo>
                  <a:cubicBezTo>
                    <a:pt x="2470785" y="454660"/>
                    <a:pt x="2339721" y="585724"/>
                    <a:pt x="2177923" y="585724"/>
                  </a:cubicBezTo>
                  <a:lnTo>
                    <a:pt x="292862" y="585724"/>
                  </a:lnTo>
                  <a:cubicBezTo>
                    <a:pt x="131064" y="585724"/>
                    <a:pt x="0" y="454533"/>
                    <a:pt x="0" y="292862"/>
                  </a:cubicBezTo>
                  <a:close/>
                </a:path>
              </a:pathLst>
            </a:custGeom>
            <a:solidFill>
              <a:srgbClr val="0F142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266894" y="3253235"/>
            <a:ext cx="1853108" cy="439255"/>
            <a:chOff x="0" y="0"/>
            <a:chExt cx="2470810" cy="58567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470810" cy="585674"/>
            </a:xfrm>
            <a:custGeom>
              <a:avLst/>
              <a:gdLst/>
              <a:ahLst/>
              <a:cxnLst/>
              <a:rect r="r" b="b" t="t" l="l"/>
              <a:pathLst>
                <a:path h="585674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2" r="0" b="-3220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2470810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b="true" sz="1200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GLOBAL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1358334" y="3883876"/>
            <a:ext cx="2405977" cy="61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CarMax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358334" y="4560694"/>
            <a:ext cx="2433437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1892C8"/>
                </a:solidFill>
                <a:latin typeface="Poppins Bold"/>
                <a:ea typeface="Poppins Bold"/>
                <a:cs typeface="Poppins Bold"/>
                <a:sym typeface="Poppins Bold"/>
              </a:rPr>
              <a:t>TikTok 309K · 2M likes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1257359" y="5055632"/>
            <a:ext cx="2607926" cy="19069"/>
            <a:chOff x="0" y="0"/>
            <a:chExt cx="3477235" cy="2542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477260" cy="25400"/>
            </a:xfrm>
            <a:custGeom>
              <a:avLst/>
              <a:gdLst/>
              <a:ahLst/>
              <a:cxnLst/>
              <a:rect r="r" b="b" t="t" l="l"/>
              <a:pathLst>
                <a:path h="25400" w="3477260">
                  <a:moveTo>
                    <a:pt x="0" y="0"/>
                  </a:moveTo>
                  <a:lnTo>
                    <a:pt x="347726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617432" r="0" b="-2617532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59" id="59"/>
          <p:cNvSpPr txBox="true"/>
          <p:nvPr/>
        </p:nvSpPr>
        <p:spPr>
          <a:xfrm rot="0">
            <a:off x="11358334" y="5219576"/>
            <a:ext cx="2433437" cy="295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The hybrid-model twin — showrooms + digital, selling “a car buying experience designed for you.”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4395294" y="2941711"/>
            <a:ext cx="3156995" cy="5441118"/>
            <a:chOff x="0" y="0"/>
            <a:chExt cx="4209326" cy="725482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209415" cy="7254875"/>
            </a:xfrm>
            <a:custGeom>
              <a:avLst/>
              <a:gdLst/>
              <a:ahLst/>
              <a:cxnLst/>
              <a:rect r="r" b="b" t="t" l="l"/>
              <a:pathLst>
                <a:path h="7254875" w="4209415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4025265" y="0"/>
                  </a:lnTo>
                  <a:cubicBezTo>
                    <a:pt x="4126992" y="0"/>
                    <a:pt x="4209415" y="82423"/>
                    <a:pt x="4209415" y="184150"/>
                  </a:cubicBezTo>
                  <a:lnTo>
                    <a:pt x="4209415" y="7070725"/>
                  </a:lnTo>
                  <a:cubicBezTo>
                    <a:pt x="4209415" y="7172452"/>
                    <a:pt x="4126992" y="7254875"/>
                    <a:pt x="4025265" y="7254875"/>
                  </a:cubicBezTo>
                  <a:lnTo>
                    <a:pt x="184150" y="7254875"/>
                  </a:lnTo>
                  <a:cubicBezTo>
                    <a:pt x="82423" y="7254875"/>
                    <a:pt x="0" y="7172452"/>
                    <a:pt x="0" y="70707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4679358" y="3253235"/>
            <a:ext cx="1853108" cy="439255"/>
            <a:chOff x="0" y="0"/>
            <a:chExt cx="2470810" cy="58567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470785" cy="585724"/>
            </a:xfrm>
            <a:custGeom>
              <a:avLst/>
              <a:gdLst/>
              <a:ahLst/>
              <a:cxnLst/>
              <a:rect r="r" b="b" t="t" l="l"/>
              <a:pathLst>
                <a:path h="585724" w="2470785">
                  <a:moveTo>
                    <a:pt x="0" y="292862"/>
                  </a:moveTo>
                  <a:cubicBezTo>
                    <a:pt x="0" y="131064"/>
                    <a:pt x="131064" y="0"/>
                    <a:pt x="292862" y="0"/>
                  </a:cubicBezTo>
                  <a:lnTo>
                    <a:pt x="2177923" y="0"/>
                  </a:lnTo>
                  <a:cubicBezTo>
                    <a:pt x="2339594" y="0"/>
                    <a:pt x="2470785" y="131064"/>
                    <a:pt x="2470785" y="292862"/>
                  </a:cubicBezTo>
                  <a:cubicBezTo>
                    <a:pt x="2470785" y="454660"/>
                    <a:pt x="2339721" y="585724"/>
                    <a:pt x="2177923" y="585724"/>
                  </a:cubicBezTo>
                  <a:lnTo>
                    <a:pt x="292862" y="585724"/>
                  </a:lnTo>
                  <a:cubicBezTo>
                    <a:pt x="131064" y="585724"/>
                    <a:pt x="0" y="454533"/>
                    <a:pt x="0" y="292862"/>
                  </a:cubicBezTo>
                  <a:close/>
                </a:path>
              </a:pathLst>
            </a:custGeom>
            <a:solidFill>
              <a:srgbClr val="0F142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4679358" y="3253235"/>
            <a:ext cx="1853108" cy="439255"/>
            <a:chOff x="0" y="0"/>
            <a:chExt cx="2470810" cy="58567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470810" cy="585674"/>
            </a:xfrm>
            <a:custGeom>
              <a:avLst/>
              <a:gdLst/>
              <a:ahLst/>
              <a:cxnLst/>
              <a:rect r="r" b="b" t="t" l="l"/>
              <a:pathLst>
                <a:path h="585674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2" r="0" b="-3220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2470810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b="true" sz="1200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GLOBAL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4770798" y="3883876"/>
            <a:ext cx="2405977" cy="61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Syarah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4770798" y="4560694"/>
            <a:ext cx="2433437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1892C8"/>
                </a:solidFill>
                <a:latin typeface="Poppins Bold"/>
                <a:ea typeface="Poppins Bold"/>
                <a:cs typeface="Poppins Bold"/>
                <a:sym typeface="Poppins Bold"/>
              </a:rPr>
              <a:t>IG 154K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4669824" y="5055632"/>
            <a:ext cx="2607926" cy="19069"/>
            <a:chOff x="0" y="0"/>
            <a:chExt cx="3477235" cy="2542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477260" cy="25400"/>
            </a:xfrm>
            <a:custGeom>
              <a:avLst/>
              <a:gdLst/>
              <a:ahLst/>
              <a:cxnLst/>
              <a:rect r="r" b="b" t="t" l="l"/>
              <a:pathLst>
                <a:path h="25400" w="3477260">
                  <a:moveTo>
                    <a:pt x="0" y="0"/>
                  </a:moveTo>
                  <a:lnTo>
                    <a:pt x="347726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617432" r="0" b="-2617532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71" id="71"/>
          <p:cNvSpPr txBox="true"/>
          <p:nvPr/>
        </p:nvSpPr>
        <p:spPr>
          <a:xfrm rot="0">
            <a:off x="14770798" y="5219576"/>
            <a:ext cx="2433437" cy="295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The digital-retail reference — “buy in a tap, try 10 days, return.” (Used vs Motor Souq's new.)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782422" y="8579206"/>
            <a:ext cx="16472068" cy="549069"/>
            <a:chOff x="0" y="0"/>
            <a:chExt cx="21962758" cy="73209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1962759" cy="732092"/>
            </a:xfrm>
            <a:custGeom>
              <a:avLst/>
              <a:gdLst/>
              <a:ahLst/>
              <a:cxnLst/>
              <a:rect r="r" b="b" t="t" l="l"/>
              <a:pathLst>
                <a:path h="732092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21962758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i="true">
                  <a:solidFill>
                    <a:srgbClr val="1892C8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Note   </a:t>
              </a:r>
              <a:r>
                <a:rPr lang="en-US" sz="1576" i="true">
                  <a:solidFill>
                    <a:srgbClr val="5C6879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Motor Souq is a standard multi-brand dealer — the benchmarks show the experience it owns but never posts.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21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 · RESEARCH · CONTENT EXAMPLE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What Bestune's Battlefield Teaches Us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5436" y="2598544"/>
            <a:ext cx="5395370" cy="6333353"/>
            <a:chOff x="0" y="0"/>
            <a:chExt cx="7193826" cy="84444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93788" cy="8444484"/>
            </a:xfrm>
            <a:custGeom>
              <a:avLst/>
              <a:gdLst/>
              <a:ahLst/>
              <a:cxnLst/>
              <a:rect r="r" b="b" t="t" l="l"/>
              <a:pathLst>
                <a:path h="8444484" w="7193788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7010146" y="0"/>
                  </a:lnTo>
                  <a:cubicBezTo>
                    <a:pt x="7111619" y="0"/>
                    <a:pt x="7193788" y="82169"/>
                    <a:pt x="7193788" y="183642"/>
                  </a:cubicBezTo>
                  <a:lnTo>
                    <a:pt x="7193788" y="8260842"/>
                  </a:lnTo>
                  <a:cubicBezTo>
                    <a:pt x="7193788" y="8362315"/>
                    <a:pt x="7111619" y="8444484"/>
                    <a:pt x="7010146" y="8444484"/>
                  </a:cubicBezTo>
                  <a:lnTo>
                    <a:pt x="183642" y="8444484"/>
                  </a:lnTo>
                  <a:cubicBezTo>
                    <a:pt x="82169" y="8444484"/>
                    <a:pt x="0" y="8362188"/>
                    <a:pt x="0" y="826084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39314" y="2992422"/>
            <a:ext cx="2745343" cy="343167"/>
            <a:chOff x="0" y="0"/>
            <a:chExt cx="3660458" cy="4575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60460" cy="457557"/>
            </a:xfrm>
            <a:custGeom>
              <a:avLst/>
              <a:gdLst/>
              <a:ahLst/>
              <a:cxnLst/>
              <a:rect r="r" b="b" t="t" l="l"/>
              <a:pathLst>
                <a:path h="457557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3660458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b="true" sz="1200" spc="300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FROM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39314" y="3321863"/>
            <a:ext cx="4689967" cy="549069"/>
            <a:chOff x="0" y="0"/>
            <a:chExt cx="6253290" cy="7320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53285" cy="732092"/>
            </a:xfrm>
            <a:custGeom>
              <a:avLst/>
              <a:gdLst/>
              <a:ahLst/>
              <a:cxnLst/>
              <a:rect r="r" b="b" t="t" l="l"/>
              <a:pathLst>
                <a:path h="732092" w="6253285">
                  <a:moveTo>
                    <a:pt x="0" y="0"/>
                  </a:moveTo>
                  <a:lnTo>
                    <a:pt x="6253285" y="0"/>
                  </a:lnTo>
                  <a:lnTo>
                    <a:pt x="625328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6253290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Changan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30754" y="4076052"/>
            <a:ext cx="4507087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Consistency wins scale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29789" y="5069357"/>
            <a:ext cx="4626664" cy="19069"/>
            <a:chOff x="0" y="0"/>
            <a:chExt cx="6168885" cy="254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68898" cy="25400"/>
            </a:xfrm>
            <a:custGeom>
              <a:avLst/>
              <a:gdLst/>
              <a:ahLst/>
              <a:cxnLst/>
              <a:rect r="r" b="b" t="t" l="l"/>
              <a:pathLst>
                <a:path h="25400" w="6168898">
                  <a:moveTo>
                    <a:pt x="0" y="0"/>
                  </a:moveTo>
                  <a:lnTo>
                    <a:pt x="6168898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682271" r="0" b="-4682371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39314" y="5243608"/>
            <a:ext cx="2745343" cy="343167"/>
            <a:chOff x="0" y="0"/>
            <a:chExt cx="3660458" cy="4575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60460" cy="457557"/>
            </a:xfrm>
            <a:custGeom>
              <a:avLst/>
              <a:gdLst/>
              <a:ahLst/>
              <a:cxnLst/>
              <a:rect r="r" b="b" t="t" l="l"/>
              <a:pathLst>
                <a:path h="457557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3660458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b="true" sz="1200" spc="225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LESSON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30754" y="5645106"/>
            <a:ext cx="4507087" cy="295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2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Volume plus a recurring “trust in numbers” narrative (155K cars on the road) builds a bigger base than sporadic offer posts.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451178" y="2598544"/>
            <a:ext cx="5395370" cy="6333353"/>
            <a:chOff x="0" y="0"/>
            <a:chExt cx="7193826" cy="84444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93788" cy="8444484"/>
            </a:xfrm>
            <a:custGeom>
              <a:avLst/>
              <a:gdLst/>
              <a:ahLst/>
              <a:cxnLst/>
              <a:rect r="r" b="b" t="t" l="l"/>
              <a:pathLst>
                <a:path h="8444484" w="7193788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7010146" y="0"/>
                  </a:lnTo>
                  <a:cubicBezTo>
                    <a:pt x="7111619" y="0"/>
                    <a:pt x="7193788" y="82169"/>
                    <a:pt x="7193788" y="183642"/>
                  </a:cubicBezTo>
                  <a:lnTo>
                    <a:pt x="7193788" y="8260842"/>
                  </a:lnTo>
                  <a:cubicBezTo>
                    <a:pt x="7193788" y="8362315"/>
                    <a:pt x="7111619" y="8444484"/>
                    <a:pt x="7010146" y="8444484"/>
                  </a:cubicBezTo>
                  <a:lnTo>
                    <a:pt x="183642" y="8444484"/>
                  </a:lnTo>
                  <a:cubicBezTo>
                    <a:pt x="82169" y="8444484"/>
                    <a:pt x="0" y="8362188"/>
                    <a:pt x="0" y="826084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845056" y="2992422"/>
            <a:ext cx="2745343" cy="343167"/>
            <a:chOff x="0" y="0"/>
            <a:chExt cx="3660458" cy="4575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60460" cy="457557"/>
            </a:xfrm>
            <a:custGeom>
              <a:avLst/>
              <a:gdLst/>
              <a:ahLst/>
              <a:cxnLst/>
              <a:rect r="r" b="b" t="t" l="l"/>
              <a:pathLst>
                <a:path h="457557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3660458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b="true" sz="1200" spc="300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FROM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845056" y="3321863"/>
            <a:ext cx="4689967" cy="549069"/>
            <a:chOff x="0" y="0"/>
            <a:chExt cx="6253290" cy="7320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253285" cy="732092"/>
            </a:xfrm>
            <a:custGeom>
              <a:avLst/>
              <a:gdLst/>
              <a:ahLst/>
              <a:cxnLst/>
              <a:rect r="r" b="b" t="t" l="l"/>
              <a:pathLst>
                <a:path h="732092" w="6253285">
                  <a:moveTo>
                    <a:pt x="0" y="0"/>
                  </a:moveTo>
                  <a:lnTo>
                    <a:pt x="6253285" y="0"/>
                  </a:lnTo>
                  <a:lnTo>
                    <a:pt x="625328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6253290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Toyota Saudi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936496" y="4076052"/>
            <a:ext cx="4507087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Heritage as identity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835531" y="5069357"/>
            <a:ext cx="4626664" cy="19069"/>
            <a:chOff x="0" y="0"/>
            <a:chExt cx="6168885" cy="2542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168898" cy="25400"/>
            </a:xfrm>
            <a:custGeom>
              <a:avLst/>
              <a:gdLst/>
              <a:ahLst/>
              <a:cxnLst/>
              <a:rect r="r" b="b" t="t" l="l"/>
              <a:pathLst>
                <a:path h="25400" w="6168898">
                  <a:moveTo>
                    <a:pt x="0" y="0"/>
                  </a:moveTo>
                  <a:lnTo>
                    <a:pt x="6168898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682271" r="0" b="-4682371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6845056" y="5243608"/>
            <a:ext cx="2745343" cy="343167"/>
            <a:chOff x="0" y="0"/>
            <a:chExt cx="3660458" cy="4575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60460" cy="457557"/>
            </a:xfrm>
            <a:custGeom>
              <a:avLst/>
              <a:gdLst/>
              <a:ahLst/>
              <a:cxnLst/>
              <a:rect r="r" b="b" t="t" l="l"/>
              <a:pathLst>
                <a:path h="457557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3660458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b="true" sz="1200" spc="225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LESSON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6936496" y="5645106"/>
            <a:ext cx="4507087" cy="295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2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Toyota turns reliability into an emotional identity. Bestune's 68-year FAW heritage and warranty should be a content pillar, not fine print.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2156919" y="2598544"/>
            <a:ext cx="5395370" cy="6333353"/>
            <a:chOff x="0" y="0"/>
            <a:chExt cx="7193826" cy="84444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193788" cy="8444484"/>
            </a:xfrm>
            <a:custGeom>
              <a:avLst/>
              <a:gdLst/>
              <a:ahLst/>
              <a:cxnLst/>
              <a:rect r="r" b="b" t="t" l="l"/>
              <a:pathLst>
                <a:path h="8444484" w="7193788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7010146" y="0"/>
                  </a:lnTo>
                  <a:cubicBezTo>
                    <a:pt x="7111619" y="0"/>
                    <a:pt x="7193788" y="82169"/>
                    <a:pt x="7193788" y="183642"/>
                  </a:cubicBezTo>
                  <a:lnTo>
                    <a:pt x="7193788" y="8260842"/>
                  </a:lnTo>
                  <a:cubicBezTo>
                    <a:pt x="7193788" y="8362315"/>
                    <a:pt x="7111619" y="8444484"/>
                    <a:pt x="7010146" y="8444484"/>
                  </a:cubicBezTo>
                  <a:lnTo>
                    <a:pt x="183642" y="8444484"/>
                  </a:lnTo>
                  <a:cubicBezTo>
                    <a:pt x="82169" y="8444484"/>
                    <a:pt x="0" y="8362188"/>
                    <a:pt x="0" y="826084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550797" y="2992422"/>
            <a:ext cx="2745343" cy="343167"/>
            <a:chOff x="0" y="0"/>
            <a:chExt cx="3660458" cy="45755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60460" cy="457557"/>
            </a:xfrm>
            <a:custGeom>
              <a:avLst/>
              <a:gdLst/>
              <a:ahLst/>
              <a:cxnLst/>
              <a:rect r="r" b="b" t="t" l="l"/>
              <a:pathLst>
                <a:path h="457557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3660458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b="true" sz="1200" spc="300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FROM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550797" y="3321863"/>
            <a:ext cx="4689967" cy="549069"/>
            <a:chOff x="0" y="0"/>
            <a:chExt cx="6253290" cy="7320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253285" cy="732092"/>
            </a:xfrm>
            <a:custGeom>
              <a:avLst/>
              <a:gdLst/>
              <a:ahLst/>
              <a:cxnLst/>
              <a:rect r="r" b="b" t="t" l="l"/>
              <a:pathLst>
                <a:path h="732092" w="6253285">
                  <a:moveTo>
                    <a:pt x="0" y="0"/>
                  </a:moveTo>
                  <a:lnTo>
                    <a:pt x="6253285" y="0"/>
                  </a:lnTo>
                  <a:lnTo>
                    <a:pt x="625328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6253290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Rivian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2642237" y="4076052"/>
            <a:ext cx="4507087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Sell the feeling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2541272" y="5069357"/>
            <a:ext cx="4626664" cy="19069"/>
            <a:chOff x="0" y="0"/>
            <a:chExt cx="6168885" cy="2542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168898" cy="25400"/>
            </a:xfrm>
            <a:custGeom>
              <a:avLst/>
              <a:gdLst/>
              <a:ahLst/>
              <a:cxnLst/>
              <a:rect r="r" b="b" t="t" l="l"/>
              <a:pathLst>
                <a:path h="25400" w="6168898">
                  <a:moveTo>
                    <a:pt x="0" y="0"/>
                  </a:moveTo>
                  <a:lnTo>
                    <a:pt x="6168898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682271" r="0" b="-4682371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2550797" y="5243608"/>
            <a:ext cx="2745343" cy="343167"/>
            <a:chOff x="0" y="0"/>
            <a:chExt cx="3660458" cy="4575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60460" cy="457557"/>
            </a:xfrm>
            <a:custGeom>
              <a:avLst/>
              <a:gdLst/>
              <a:ahLst/>
              <a:cxnLst/>
              <a:rect r="r" b="b" t="t" l="l"/>
              <a:pathLst>
                <a:path h="457557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3660458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b="true" sz="1200" spc="225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LESSON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2642237" y="5645106"/>
            <a:ext cx="4507087" cy="295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2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“Keep the world adventurous forever” — zero spec language. Bestune can attach an emotional promise to a family SUV instead of leading with installments.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22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 · RESEARCH · CONTENT EXAMPLE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What 212's Battlefield Teaches Us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5436" y="2598544"/>
            <a:ext cx="5395370" cy="6333353"/>
            <a:chOff x="0" y="0"/>
            <a:chExt cx="7193826" cy="84444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93788" cy="8444484"/>
            </a:xfrm>
            <a:custGeom>
              <a:avLst/>
              <a:gdLst/>
              <a:ahLst/>
              <a:cxnLst/>
              <a:rect r="r" b="b" t="t" l="l"/>
              <a:pathLst>
                <a:path h="8444484" w="7193788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7010146" y="0"/>
                  </a:lnTo>
                  <a:cubicBezTo>
                    <a:pt x="7111619" y="0"/>
                    <a:pt x="7193788" y="82169"/>
                    <a:pt x="7193788" y="183642"/>
                  </a:cubicBezTo>
                  <a:lnTo>
                    <a:pt x="7193788" y="8260842"/>
                  </a:lnTo>
                  <a:cubicBezTo>
                    <a:pt x="7193788" y="8362315"/>
                    <a:pt x="7111619" y="8444484"/>
                    <a:pt x="7010146" y="8444484"/>
                  </a:cubicBezTo>
                  <a:lnTo>
                    <a:pt x="183642" y="8444484"/>
                  </a:lnTo>
                  <a:cubicBezTo>
                    <a:pt x="82169" y="8444484"/>
                    <a:pt x="0" y="8362188"/>
                    <a:pt x="0" y="826084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39314" y="2992422"/>
            <a:ext cx="2745343" cy="343167"/>
            <a:chOff x="0" y="0"/>
            <a:chExt cx="3660458" cy="4575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60460" cy="457557"/>
            </a:xfrm>
            <a:custGeom>
              <a:avLst/>
              <a:gdLst/>
              <a:ahLst/>
              <a:cxnLst/>
              <a:rect r="r" b="b" t="t" l="l"/>
              <a:pathLst>
                <a:path h="457557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3660458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b="true" sz="1200" spc="300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FROM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39314" y="3321863"/>
            <a:ext cx="4689967" cy="549069"/>
            <a:chOff x="0" y="0"/>
            <a:chExt cx="6253290" cy="7320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53285" cy="732092"/>
            </a:xfrm>
            <a:custGeom>
              <a:avLst/>
              <a:gdLst/>
              <a:ahLst/>
              <a:cxnLst/>
              <a:rect r="r" b="b" t="t" l="l"/>
              <a:pathLst>
                <a:path h="732092" w="6253285">
                  <a:moveTo>
                    <a:pt x="0" y="0"/>
                  </a:moveTo>
                  <a:lnTo>
                    <a:pt x="6253285" y="0"/>
                  </a:lnTo>
                  <a:lnTo>
                    <a:pt x="625328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6253290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Jeep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30754" y="4076052"/>
            <a:ext cx="4507087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Heritage → movement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29789" y="5069357"/>
            <a:ext cx="4626664" cy="19069"/>
            <a:chOff x="0" y="0"/>
            <a:chExt cx="6168885" cy="254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68898" cy="25400"/>
            </a:xfrm>
            <a:custGeom>
              <a:avLst/>
              <a:gdLst/>
              <a:ahLst/>
              <a:cxnLst/>
              <a:rect r="r" b="b" t="t" l="l"/>
              <a:pathLst>
                <a:path h="25400" w="6168898">
                  <a:moveTo>
                    <a:pt x="0" y="0"/>
                  </a:moveTo>
                  <a:lnTo>
                    <a:pt x="6168898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682271" r="0" b="-4682371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39314" y="5243608"/>
            <a:ext cx="2745343" cy="343167"/>
            <a:chOff x="0" y="0"/>
            <a:chExt cx="3660458" cy="4575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60460" cy="457557"/>
            </a:xfrm>
            <a:custGeom>
              <a:avLst/>
              <a:gdLst/>
              <a:ahLst/>
              <a:cxnLst/>
              <a:rect r="r" b="b" t="t" l="l"/>
              <a:pathLst>
                <a:path h="457557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3660458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b="true" sz="1200" spc="225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LESSON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30754" y="5645106"/>
            <a:ext cx="4507087" cy="295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2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#JeepLife / Badge of Honor built 13M+ on owners' content. 212's military heritage is tailor-made for a community hashtag and owner off-road content.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451178" y="2598544"/>
            <a:ext cx="5395370" cy="6333353"/>
            <a:chOff x="0" y="0"/>
            <a:chExt cx="7193826" cy="84444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93788" cy="8444484"/>
            </a:xfrm>
            <a:custGeom>
              <a:avLst/>
              <a:gdLst/>
              <a:ahLst/>
              <a:cxnLst/>
              <a:rect r="r" b="b" t="t" l="l"/>
              <a:pathLst>
                <a:path h="8444484" w="7193788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7010146" y="0"/>
                  </a:lnTo>
                  <a:cubicBezTo>
                    <a:pt x="7111619" y="0"/>
                    <a:pt x="7193788" y="82169"/>
                    <a:pt x="7193788" y="183642"/>
                  </a:cubicBezTo>
                  <a:lnTo>
                    <a:pt x="7193788" y="8260842"/>
                  </a:lnTo>
                  <a:cubicBezTo>
                    <a:pt x="7193788" y="8362315"/>
                    <a:pt x="7111619" y="8444484"/>
                    <a:pt x="7010146" y="8444484"/>
                  </a:cubicBezTo>
                  <a:lnTo>
                    <a:pt x="183642" y="8444484"/>
                  </a:lnTo>
                  <a:cubicBezTo>
                    <a:pt x="82169" y="8444484"/>
                    <a:pt x="0" y="8362188"/>
                    <a:pt x="0" y="826084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845056" y="2992422"/>
            <a:ext cx="2745343" cy="343167"/>
            <a:chOff x="0" y="0"/>
            <a:chExt cx="3660458" cy="4575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60460" cy="457557"/>
            </a:xfrm>
            <a:custGeom>
              <a:avLst/>
              <a:gdLst/>
              <a:ahLst/>
              <a:cxnLst/>
              <a:rect r="r" b="b" t="t" l="l"/>
              <a:pathLst>
                <a:path h="457557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3660458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b="true" sz="1200" spc="300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FROM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845056" y="3321863"/>
            <a:ext cx="4689967" cy="549069"/>
            <a:chOff x="0" y="0"/>
            <a:chExt cx="6253290" cy="7320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253285" cy="732092"/>
            </a:xfrm>
            <a:custGeom>
              <a:avLst/>
              <a:gdLst/>
              <a:ahLst/>
              <a:cxnLst/>
              <a:rect r="r" b="b" t="t" l="l"/>
              <a:pathLst>
                <a:path h="732092" w="6253285">
                  <a:moveTo>
                    <a:pt x="0" y="0"/>
                  </a:moveTo>
                  <a:lnTo>
                    <a:pt x="6253285" y="0"/>
                  </a:lnTo>
                  <a:lnTo>
                    <a:pt x="625328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6253290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Tank 300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936496" y="4076052"/>
            <a:ext cx="4507087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Prove, don't claim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835531" y="5069357"/>
            <a:ext cx="4626664" cy="19069"/>
            <a:chOff x="0" y="0"/>
            <a:chExt cx="6168885" cy="2542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168898" cy="25400"/>
            </a:xfrm>
            <a:custGeom>
              <a:avLst/>
              <a:gdLst/>
              <a:ahLst/>
              <a:cxnLst/>
              <a:rect r="r" b="b" t="t" l="l"/>
              <a:pathLst>
                <a:path h="25400" w="6168898">
                  <a:moveTo>
                    <a:pt x="0" y="0"/>
                  </a:moveTo>
                  <a:lnTo>
                    <a:pt x="6168898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682271" r="0" b="-4682371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6845056" y="5243608"/>
            <a:ext cx="2745343" cy="343167"/>
            <a:chOff x="0" y="0"/>
            <a:chExt cx="3660458" cy="4575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60460" cy="457557"/>
            </a:xfrm>
            <a:custGeom>
              <a:avLst/>
              <a:gdLst/>
              <a:ahLst/>
              <a:cxnLst/>
              <a:rect r="r" b="b" t="t" l="l"/>
              <a:pathLst>
                <a:path h="457557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3660458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b="true" sz="1200" spc="225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LESSON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6936496" y="5645106"/>
            <a:ext cx="4507087" cy="295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2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Tank leans on desert proof points. 212 must show the boxy 4x4 conquering sand in vertical video — the exact format it's missing.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2156919" y="2598544"/>
            <a:ext cx="5395370" cy="6333353"/>
            <a:chOff x="0" y="0"/>
            <a:chExt cx="7193826" cy="84444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193788" cy="8444484"/>
            </a:xfrm>
            <a:custGeom>
              <a:avLst/>
              <a:gdLst/>
              <a:ahLst/>
              <a:cxnLst/>
              <a:rect r="r" b="b" t="t" l="l"/>
              <a:pathLst>
                <a:path h="8444484" w="7193788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7010146" y="0"/>
                  </a:lnTo>
                  <a:cubicBezTo>
                    <a:pt x="7111619" y="0"/>
                    <a:pt x="7193788" y="82169"/>
                    <a:pt x="7193788" y="183642"/>
                  </a:cubicBezTo>
                  <a:lnTo>
                    <a:pt x="7193788" y="8260842"/>
                  </a:lnTo>
                  <a:cubicBezTo>
                    <a:pt x="7193788" y="8362315"/>
                    <a:pt x="7111619" y="8444484"/>
                    <a:pt x="7010146" y="8444484"/>
                  </a:cubicBezTo>
                  <a:lnTo>
                    <a:pt x="183642" y="8444484"/>
                  </a:lnTo>
                  <a:cubicBezTo>
                    <a:pt x="82169" y="8444484"/>
                    <a:pt x="0" y="8362188"/>
                    <a:pt x="0" y="826084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550797" y="2992422"/>
            <a:ext cx="2745343" cy="343167"/>
            <a:chOff x="0" y="0"/>
            <a:chExt cx="3660458" cy="45755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60460" cy="457557"/>
            </a:xfrm>
            <a:custGeom>
              <a:avLst/>
              <a:gdLst/>
              <a:ahLst/>
              <a:cxnLst/>
              <a:rect r="r" b="b" t="t" l="l"/>
              <a:pathLst>
                <a:path h="457557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3660458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b="true" sz="1200" spc="300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FROM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550797" y="3321863"/>
            <a:ext cx="4689967" cy="549069"/>
            <a:chOff x="0" y="0"/>
            <a:chExt cx="6253290" cy="7320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253285" cy="732092"/>
            </a:xfrm>
            <a:custGeom>
              <a:avLst/>
              <a:gdLst/>
              <a:ahLst/>
              <a:cxnLst/>
              <a:rect r="r" b="b" t="t" l="l"/>
              <a:pathLst>
                <a:path h="732092" w="6253285">
                  <a:moveTo>
                    <a:pt x="0" y="0"/>
                  </a:moveTo>
                  <a:lnTo>
                    <a:pt x="6253285" y="0"/>
                  </a:lnTo>
                  <a:lnTo>
                    <a:pt x="625328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6253290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Ineos &amp; Defender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2642237" y="4076052"/>
            <a:ext cx="4507087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Authenticity is premium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2541272" y="5069357"/>
            <a:ext cx="4626664" cy="19069"/>
            <a:chOff x="0" y="0"/>
            <a:chExt cx="6168885" cy="2542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168898" cy="25400"/>
            </a:xfrm>
            <a:custGeom>
              <a:avLst/>
              <a:gdLst/>
              <a:ahLst/>
              <a:cxnLst/>
              <a:rect r="r" b="b" t="t" l="l"/>
              <a:pathLst>
                <a:path h="25400" w="6168898">
                  <a:moveTo>
                    <a:pt x="0" y="0"/>
                  </a:moveTo>
                  <a:lnTo>
                    <a:pt x="6168898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682271" r="0" b="-4682371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2550797" y="5243608"/>
            <a:ext cx="2745343" cy="343167"/>
            <a:chOff x="0" y="0"/>
            <a:chExt cx="3660458" cy="4575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60460" cy="457557"/>
            </a:xfrm>
            <a:custGeom>
              <a:avLst/>
              <a:gdLst/>
              <a:ahLst/>
              <a:cxnLst/>
              <a:rect r="r" b="b" t="t" l="l"/>
              <a:pathLst>
                <a:path h="457557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3660458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b="true" sz="1200" spc="225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LESSON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2642237" y="5645106"/>
            <a:ext cx="4507087" cy="295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2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#BuiltForMore sells “built differently,” not cheapest. 212 leads with authenticity and origin — never apologizing for being the value option.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23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 · RESEARCH · CONTENT EXAMPLE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What Motor Souq's Battlefield Teaches Us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5436" y="2598544"/>
            <a:ext cx="5395370" cy="6333353"/>
            <a:chOff x="0" y="0"/>
            <a:chExt cx="7193826" cy="84444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93788" cy="8444484"/>
            </a:xfrm>
            <a:custGeom>
              <a:avLst/>
              <a:gdLst/>
              <a:ahLst/>
              <a:cxnLst/>
              <a:rect r="r" b="b" t="t" l="l"/>
              <a:pathLst>
                <a:path h="8444484" w="7193788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7010146" y="0"/>
                  </a:lnTo>
                  <a:cubicBezTo>
                    <a:pt x="7111619" y="0"/>
                    <a:pt x="7193788" y="82169"/>
                    <a:pt x="7193788" y="183642"/>
                  </a:cubicBezTo>
                  <a:lnTo>
                    <a:pt x="7193788" y="8260842"/>
                  </a:lnTo>
                  <a:cubicBezTo>
                    <a:pt x="7193788" y="8362315"/>
                    <a:pt x="7111619" y="8444484"/>
                    <a:pt x="7010146" y="8444484"/>
                  </a:cubicBezTo>
                  <a:lnTo>
                    <a:pt x="183642" y="8444484"/>
                  </a:lnTo>
                  <a:cubicBezTo>
                    <a:pt x="82169" y="8444484"/>
                    <a:pt x="0" y="8362188"/>
                    <a:pt x="0" y="826084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39314" y="2992422"/>
            <a:ext cx="2745343" cy="343167"/>
            <a:chOff x="0" y="0"/>
            <a:chExt cx="3660458" cy="4575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60460" cy="457557"/>
            </a:xfrm>
            <a:custGeom>
              <a:avLst/>
              <a:gdLst/>
              <a:ahLst/>
              <a:cxnLst/>
              <a:rect r="r" b="b" t="t" l="l"/>
              <a:pathLst>
                <a:path h="457557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3660458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b="true" sz="1200" spc="300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FROM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39314" y="3321863"/>
            <a:ext cx="4689967" cy="549069"/>
            <a:chOff x="0" y="0"/>
            <a:chExt cx="6253290" cy="7320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53285" cy="732092"/>
            </a:xfrm>
            <a:custGeom>
              <a:avLst/>
              <a:gdLst/>
              <a:ahLst/>
              <a:cxnLst/>
              <a:rect r="r" b="b" t="t" l="l"/>
              <a:pathLst>
                <a:path h="732092" w="6253285">
                  <a:moveTo>
                    <a:pt x="0" y="0"/>
                  </a:moveTo>
                  <a:lnTo>
                    <a:pt x="6253285" y="0"/>
                  </a:lnTo>
                  <a:lnTo>
                    <a:pt x="625328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6253290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CarMax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30754" y="4076052"/>
            <a:ext cx="4507087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Sell the experience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29789" y="5069357"/>
            <a:ext cx="4626664" cy="19069"/>
            <a:chOff x="0" y="0"/>
            <a:chExt cx="6168885" cy="254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68898" cy="25400"/>
            </a:xfrm>
            <a:custGeom>
              <a:avLst/>
              <a:gdLst/>
              <a:ahLst/>
              <a:cxnLst/>
              <a:rect r="r" b="b" t="t" l="l"/>
              <a:pathLst>
                <a:path h="25400" w="6168898">
                  <a:moveTo>
                    <a:pt x="0" y="0"/>
                  </a:moveTo>
                  <a:lnTo>
                    <a:pt x="6168898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682271" r="0" b="-4682371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39314" y="5243608"/>
            <a:ext cx="2745343" cy="343167"/>
            <a:chOff x="0" y="0"/>
            <a:chExt cx="3660458" cy="4575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60460" cy="457557"/>
            </a:xfrm>
            <a:custGeom>
              <a:avLst/>
              <a:gdLst/>
              <a:ahLst/>
              <a:cxnLst/>
              <a:rect r="r" b="b" t="t" l="l"/>
              <a:pathLst>
                <a:path h="457557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3660458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b="true" sz="1200" spc="225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LESSON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30754" y="5645106"/>
            <a:ext cx="4507087" cy="295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2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309K on TikTok around the buying journey — process, people, confidence. Motor Souq should post the journey, not just price graphics.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451178" y="2598544"/>
            <a:ext cx="5395370" cy="6333353"/>
            <a:chOff x="0" y="0"/>
            <a:chExt cx="7193826" cy="84444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93788" cy="8444484"/>
            </a:xfrm>
            <a:custGeom>
              <a:avLst/>
              <a:gdLst/>
              <a:ahLst/>
              <a:cxnLst/>
              <a:rect r="r" b="b" t="t" l="l"/>
              <a:pathLst>
                <a:path h="8444484" w="7193788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7010146" y="0"/>
                  </a:lnTo>
                  <a:cubicBezTo>
                    <a:pt x="7111619" y="0"/>
                    <a:pt x="7193788" y="82169"/>
                    <a:pt x="7193788" y="183642"/>
                  </a:cubicBezTo>
                  <a:lnTo>
                    <a:pt x="7193788" y="8260842"/>
                  </a:lnTo>
                  <a:cubicBezTo>
                    <a:pt x="7193788" y="8362315"/>
                    <a:pt x="7111619" y="8444484"/>
                    <a:pt x="7010146" y="8444484"/>
                  </a:cubicBezTo>
                  <a:lnTo>
                    <a:pt x="183642" y="8444484"/>
                  </a:lnTo>
                  <a:cubicBezTo>
                    <a:pt x="82169" y="8444484"/>
                    <a:pt x="0" y="8362188"/>
                    <a:pt x="0" y="826084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845056" y="2992422"/>
            <a:ext cx="2745343" cy="343167"/>
            <a:chOff x="0" y="0"/>
            <a:chExt cx="3660458" cy="4575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60460" cy="457557"/>
            </a:xfrm>
            <a:custGeom>
              <a:avLst/>
              <a:gdLst/>
              <a:ahLst/>
              <a:cxnLst/>
              <a:rect r="r" b="b" t="t" l="l"/>
              <a:pathLst>
                <a:path h="457557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3660458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b="true" sz="1200" spc="300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FROM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845056" y="3321863"/>
            <a:ext cx="4689967" cy="549069"/>
            <a:chOff x="0" y="0"/>
            <a:chExt cx="6253290" cy="7320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253285" cy="732092"/>
            </a:xfrm>
            <a:custGeom>
              <a:avLst/>
              <a:gdLst/>
              <a:ahLst/>
              <a:cxnLst/>
              <a:rect r="r" b="b" t="t" l="l"/>
              <a:pathLst>
                <a:path h="732092" w="6253285">
                  <a:moveTo>
                    <a:pt x="0" y="0"/>
                  </a:moveTo>
                  <a:lnTo>
                    <a:pt x="6253285" y="0"/>
                  </a:lnTo>
                  <a:lnTo>
                    <a:pt x="625328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6253290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Syarah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936496" y="4076052"/>
            <a:ext cx="4507087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A repeatable mechanic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835531" y="5069357"/>
            <a:ext cx="4626664" cy="19069"/>
            <a:chOff x="0" y="0"/>
            <a:chExt cx="6168885" cy="2542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168898" cy="25400"/>
            </a:xfrm>
            <a:custGeom>
              <a:avLst/>
              <a:gdLst/>
              <a:ahLst/>
              <a:cxnLst/>
              <a:rect r="r" b="b" t="t" l="l"/>
              <a:pathLst>
                <a:path h="25400" w="6168898">
                  <a:moveTo>
                    <a:pt x="0" y="0"/>
                  </a:moveTo>
                  <a:lnTo>
                    <a:pt x="6168898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682271" r="0" b="-4682371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6845056" y="5243608"/>
            <a:ext cx="2745343" cy="343167"/>
            <a:chOff x="0" y="0"/>
            <a:chExt cx="3660458" cy="4575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60460" cy="457557"/>
            </a:xfrm>
            <a:custGeom>
              <a:avLst/>
              <a:gdLst/>
              <a:ahLst/>
              <a:cxnLst/>
              <a:rect r="r" b="b" t="t" l="l"/>
              <a:pathLst>
                <a:path h="457557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3660458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b="true" sz="1200" spc="225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LESSON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6936496" y="5645106"/>
            <a:ext cx="4507087" cy="295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2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“Buy in a tap · try 10 days · return” — one simple, memorable promise repeated everywhere. Motor Souq needs one ownable mechanic.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2156919" y="2598544"/>
            <a:ext cx="5395370" cy="6333353"/>
            <a:chOff x="0" y="0"/>
            <a:chExt cx="7193826" cy="84444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193788" cy="8444484"/>
            </a:xfrm>
            <a:custGeom>
              <a:avLst/>
              <a:gdLst/>
              <a:ahLst/>
              <a:cxnLst/>
              <a:rect r="r" b="b" t="t" l="l"/>
              <a:pathLst>
                <a:path h="8444484" w="7193788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7010146" y="0"/>
                  </a:lnTo>
                  <a:cubicBezTo>
                    <a:pt x="7111619" y="0"/>
                    <a:pt x="7193788" y="82169"/>
                    <a:pt x="7193788" y="183642"/>
                  </a:cubicBezTo>
                  <a:lnTo>
                    <a:pt x="7193788" y="8260842"/>
                  </a:lnTo>
                  <a:cubicBezTo>
                    <a:pt x="7193788" y="8362315"/>
                    <a:pt x="7111619" y="8444484"/>
                    <a:pt x="7010146" y="8444484"/>
                  </a:cubicBezTo>
                  <a:lnTo>
                    <a:pt x="183642" y="8444484"/>
                  </a:lnTo>
                  <a:cubicBezTo>
                    <a:pt x="82169" y="8444484"/>
                    <a:pt x="0" y="8362188"/>
                    <a:pt x="0" y="826084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550797" y="2992422"/>
            <a:ext cx="2745343" cy="343167"/>
            <a:chOff x="0" y="0"/>
            <a:chExt cx="3660458" cy="45755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60460" cy="457557"/>
            </a:xfrm>
            <a:custGeom>
              <a:avLst/>
              <a:gdLst/>
              <a:ahLst/>
              <a:cxnLst/>
              <a:rect r="r" b="b" t="t" l="l"/>
              <a:pathLst>
                <a:path h="457557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3660458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b="true" sz="1200" spc="300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FROM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550797" y="3321863"/>
            <a:ext cx="4689967" cy="549069"/>
            <a:chOff x="0" y="0"/>
            <a:chExt cx="6253290" cy="7320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253285" cy="732092"/>
            </a:xfrm>
            <a:custGeom>
              <a:avLst/>
              <a:gdLst/>
              <a:ahLst/>
              <a:cxnLst/>
              <a:rect r="r" b="b" t="t" l="l"/>
              <a:pathLst>
                <a:path h="732092" w="6253285">
                  <a:moveTo>
                    <a:pt x="0" y="0"/>
                  </a:moveTo>
                  <a:lnTo>
                    <a:pt x="6253285" y="0"/>
                  </a:lnTo>
                  <a:lnTo>
                    <a:pt x="625328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6253290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Aljomaih &amp; Aljazirah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2642237" y="4076052"/>
            <a:ext cx="4507087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A dealer can build scale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2541272" y="5069357"/>
            <a:ext cx="4626664" cy="19069"/>
            <a:chOff x="0" y="0"/>
            <a:chExt cx="6168885" cy="2542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168898" cy="25400"/>
            </a:xfrm>
            <a:custGeom>
              <a:avLst/>
              <a:gdLst/>
              <a:ahLst/>
              <a:cxnLst/>
              <a:rect r="r" b="b" t="t" l="l"/>
              <a:pathLst>
                <a:path h="25400" w="6168898">
                  <a:moveTo>
                    <a:pt x="0" y="0"/>
                  </a:moveTo>
                  <a:lnTo>
                    <a:pt x="6168898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682271" r="0" b="-4682371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2550797" y="5243608"/>
            <a:ext cx="2745343" cy="343167"/>
            <a:chOff x="0" y="0"/>
            <a:chExt cx="3660458" cy="4575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60460" cy="457557"/>
            </a:xfrm>
            <a:custGeom>
              <a:avLst/>
              <a:gdLst/>
              <a:ahLst/>
              <a:cxnLst/>
              <a:rect r="r" b="b" t="t" l="l"/>
              <a:pathLst>
                <a:path h="457557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3660458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b="true" sz="1200" spc="225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LESSON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2642237" y="5645106"/>
            <a:ext cx="4507087" cy="295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2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212K and 189K prove a local dealer can build a real audience with consistent content. The dead 78K is a content problem, not a ceiling.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24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 · RESEARCH · BENCHMARKS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Ceiling for Bestune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73862" y="2076155"/>
            <a:ext cx="16289188" cy="62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8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The brands that prove trust and premium can be built, not bought.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2941711"/>
            <a:ext cx="8207054" cy="6196089"/>
            <a:chOff x="0" y="0"/>
            <a:chExt cx="10942739" cy="82614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42701" cy="8261350"/>
            </a:xfrm>
            <a:custGeom>
              <a:avLst/>
              <a:gdLst/>
              <a:ahLst/>
              <a:cxnLst/>
              <a:rect r="r" b="b" t="t" l="l"/>
              <a:pathLst>
                <a:path h="8261350" w="10942701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10759186" y="0"/>
                  </a:lnTo>
                  <a:cubicBezTo>
                    <a:pt x="10860532" y="0"/>
                    <a:pt x="10942701" y="82169"/>
                    <a:pt x="10942701" y="183515"/>
                  </a:cubicBezTo>
                  <a:lnTo>
                    <a:pt x="10942701" y="8077835"/>
                  </a:lnTo>
                  <a:cubicBezTo>
                    <a:pt x="10942701" y="8179181"/>
                    <a:pt x="10860532" y="8261350"/>
                    <a:pt x="10759186" y="8261350"/>
                  </a:cubicBezTo>
                  <a:lnTo>
                    <a:pt x="183515" y="8261350"/>
                  </a:lnTo>
                  <a:cubicBezTo>
                    <a:pt x="82169" y="8261477"/>
                    <a:pt x="0" y="8179308"/>
                    <a:pt x="0" y="807783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66774" y="3363049"/>
            <a:ext cx="7433024" cy="617706"/>
            <a:chOff x="0" y="0"/>
            <a:chExt cx="9910699" cy="8236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10695" cy="823603"/>
            </a:xfrm>
            <a:custGeom>
              <a:avLst/>
              <a:gdLst/>
              <a:ahLst/>
              <a:cxnLst/>
              <a:rect r="r" b="b" t="t" l="l"/>
              <a:pathLst>
                <a:path h="823603" w="9910695">
                  <a:moveTo>
                    <a:pt x="0" y="0"/>
                  </a:moveTo>
                  <a:lnTo>
                    <a:pt x="9910695" y="0"/>
                  </a:lnTo>
                  <a:lnTo>
                    <a:pt x="9910695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469" r="0" b="-18447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9910699" cy="852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Rivian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6774" y="4021931"/>
            <a:ext cx="7433024" cy="411804"/>
            <a:chOff x="0" y="0"/>
            <a:chExt cx="9910699" cy="5490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10695" cy="549069"/>
            </a:xfrm>
            <a:custGeom>
              <a:avLst/>
              <a:gdLst/>
              <a:ahLst/>
              <a:cxnLst/>
              <a:rect r="r" b="b" t="t" l="l"/>
              <a:pathLst>
                <a:path h="549069" w="9910695">
                  <a:moveTo>
                    <a:pt x="0" y="0"/>
                  </a:moveTo>
                  <a:lnTo>
                    <a:pt x="9910695" y="0"/>
                  </a:lnTo>
                  <a:lnTo>
                    <a:pt x="991069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704" r="0" b="-30170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9910699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426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854K followers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57240" y="4520289"/>
            <a:ext cx="7383456" cy="19069"/>
            <a:chOff x="0" y="0"/>
            <a:chExt cx="9844608" cy="254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844659" cy="25400"/>
            </a:xfrm>
            <a:custGeom>
              <a:avLst/>
              <a:gdLst/>
              <a:ahLst/>
              <a:cxnLst/>
              <a:rect r="r" b="b" t="t" l="l"/>
              <a:pathLst>
                <a:path h="25400" w="9844659">
                  <a:moveTo>
                    <a:pt x="0" y="0"/>
                  </a:moveTo>
                  <a:lnTo>
                    <a:pt x="9844659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7502019" r="0" b="-7502119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66774" y="4667088"/>
            <a:ext cx="2745343" cy="301990"/>
            <a:chOff x="0" y="0"/>
            <a:chExt cx="3660458" cy="40265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60460" cy="402651"/>
            </a:xfrm>
            <a:custGeom>
              <a:avLst/>
              <a:gdLst/>
              <a:ahLst/>
              <a:cxnLst/>
              <a:rect r="r" b="b" t="t" l="l"/>
              <a:pathLst>
                <a:path h="402651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3660458" cy="42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b="true" sz="1125" spc="225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FOCUS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58214" y="5009474"/>
            <a:ext cx="7250144" cy="116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Mission over machine — adventure lifestyle, owner journeys, near-zero spec language.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66774" y="6382931"/>
            <a:ext cx="2745343" cy="301990"/>
            <a:chOff x="0" y="0"/>
            <a:chExt cx="3660458" cy="40265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60460" cy="402651"/>
            </a:xfrm>
            <a:custGeom>
              <a:avLst/>
              <a:gdLst/>
              <a:ahLst/>
              <a:cxnLst/>
              <a:rect r="r" b="b" t="t" l="l"/>
              <a:pathLst>
                <a:path h="402651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3660458" cy="42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b="true" sz="1125" spc="225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TAKEAWAY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58214" y="6725307"/>
            <a:ext cx="7250144" cy="2055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Attach a feeling to the family SUV; don't lead with installments.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345235" y="2941711"/>
            <a:ext cx="8207054" cy="6196089"/>
            <a:chOff x="0" y="0"/>
            <a:chExt cx="10942739" cy="82614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42701" cy="8261350"/>
            </a:xfrm>
            <a:custGeom>
              <a:avLst/>
              <a:gdLst/>
              <a:ahLst/>
              <a:cxnLst/>
              <a:rect r="r" b="b" t="t" l="l"/>
              <a:pathLst>
                <a:path h="8261350" w="10942701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10759186" y="0"/>
                  </a:lnTo>
                  <a:cubicBezTo>
                    <a:pt x="10860532" y="0"/>
                    <a:pt x="10942701" y="82169"/>
                    <a:pt x="10942701" y="183515"/>
                  </a:cubicBezTo>
                  <a:lnTo>
                    <a:pt x="10942701" y="8077835"/>
                  </a:lnTo>
                  <a:cubicBezTo>
                    <a:pt x="10942701" y="8179181"/>
                    <a:pt x="10860532" y="8261350"/>
                    <a:pt x="10759186" y="8261350"/>
                  </a:cubicBezTo>
                  <a:lnTo>
                    <a:pt x="183515" y="8261350"/>
                  </a:lnTo>
                  <a:cubicBezTo>
                    <a:pt x="82169" y="8261477"/>
                    <a:pt x="0" y="8179308"/>
                    <a:pt x="0" y="807783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766564" y="3363049"/>
            <a:ext cx="7433024" cy="617706"/>
            <a:chOff x="0" y="0"/>
            <a:chExt cx="9910699" cy="8236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910695" cy="823603"/>
            </a:xfrm>
            <a:custGeom>
              <a:avLst/>
              <a:gdLst/>
              <a:ahLst/>
              <a:cxnLst/>
              <a:rect r="r" b="b" t="t" l="l"/>
              <a:pathLst>
                <a:path h="823603" w="9910695">
                  <a:moveTo>
                    <a:pt x="0" y="0"/>
                  </a:moveTo>
                  <a:lnTo>
                    <a:pt x="9910695" y="0"/>
                  </a:lnTo>
                  <a:lnTo>
                    <a:pt x="9910695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469" r="0" b="-18447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9910699" cy="852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Hongqi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766564" y="4021931"/>
            <a:ext cx="7433024" cy="411804"/>
            <a:chOff x="0" y="0"/>
            <a:chExt cx="9910699" cy="5490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910695" cy="549069"/>
            </a:xfrm>
            <a:custGeom>
              <a:avLst/>
              <a:gdLst/>
              <a:ahLst/>
              <a:cxnLst/>
              <a:rect r="r" b="b" t="t" l="l"/>
              <a:pathLst>
                <a:path h="549069" w="9910695">
                  <a:moveTo>
                    <a:pt x="0" y="0"/>
                  </a:moveTo>
                  <a:lnTo>
                    <a:pt x="9910695" y="0"/>
                  </a:lnTo>
                  <a:lnTo>
                    <a:pt x="991069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704" r="0" b="-30170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9910699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426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Premium Chinese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757029" y="4520289"/>
            <a:ext cx="7383456" cy="19069"/>
            <a:chOff x="0" y="0"/>
            <a:chExt cx="9844608" cy="2542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844659" cy="25400"/>
            </a:xfrm>
            <a:custGeom>
              <a:avLst/>
              <a:gdLst/>
              <a:ahLst/>
              <a:cxnLst/>
              <a:rect r="r" b="b" t="t" l="l"/>
              <a:pathLst>
                <a:path h="25400" w="9844659">
                  <a:moveTo>
                    <a:pt x="0" y="0"/>
                  </a:moveTo>
                  <a:lnTo>
                    <a:pt x="9844659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7502019" r="0" b="-7502119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766564" y="4667088"/>
            <a:ext cx="2745343" cy="301990"/>
            <a:chOff x="0" y="0"/>
            <a:chExt cx="3660458" cy="40265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660460" cy="402651"/>
            </a:xfrm>
            <a:custGeom>
              <a:avLst/>
              <a:gdLst/>
              <a:ahLst/>
              <a:cxnLst/>
              <a:rect r="r" b="b" t="t" l="l"/>
              <a:pathLst>
                <a:path h="402651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3660458" cy="42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b="true" sz="1125" spc="225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FOCUS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9858004" y="5009474"/>
            <a:ext cx="7250144" cy="116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Elevated product cinematography, heritage-of-the-future tone, national pride.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766564" y="6382931"/>
            <a:ext cx="2745343" cy="301990"/>
            <a:chOff x="0" y="0"/>
            <a:chExt cx="3660458" cy="40265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660460" cy="402651"/>
            </a:xfrm>
            <a:custGeom>
              <a:avLst/>
              <a:gdLst/>
              <a:ahLst/>
              <a:cxnLst/>
              <a:rect r="r" b="b" t="t" l="l"/>
              <a:pathLst>
                <a:path h="402651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3660458" cy="42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b="true" sz="1125" spc="225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TAKEAWAY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858004" y="6725307"/>
            <a:ext cx="7250144" cy="2055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A Chinese badge can sit upmarket — premium is a content choice, not just a price.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25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 · RESEARCH · BENCHMARKS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Ceiling for 212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73862" y="2076155"/>
            <a:ext cx="16289188" cy="62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8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The brands that turned heritage and authenticity into a movement.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2941711"/>
            <a:ext cx="8207054" cy="6196089"/>
            <a:chOff x="0" y="0"/>
            <a:chExt cx="10942739" cy="82614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42701" cy="8261350"/>
            </a:xfrm>
            <a:custGeom>
              <a:avLst/>
              <a:gdLst/>
              <a:ahLst/>
              <a:cxnLst/>
              <a:rect r="r" b="b" t="t" l="l"/>
              <a:pathLst>
                <a:path h="8261350" w="10942701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10759186" y="0"/>
                  </a:lnTo>
                  <a:cubicBezTo>
                    <a:pt x="10860532" y="0"/>
                    <a:pt x="10942701" y="82169"/>
                    <a:pt x="10942701" y="183515"/>
                  </a:cubicBezTo>
                  <a:lnTo>
                    <a:pt x="10942701" y="8077835"/>
                  </a:lnTo>
                  <a:cubicBezTo>
                    <a:pt x="10942701" y="8179181"/>
                    <a:pt x="10860532" y="8261350"/>
                    <a:pt x="10759186" y="8261350"/>
                  </a:cubicBezTo>
                  <a:lnTo>
                    <a:pt x="183515" y="8261350"/>
                  </a:lnTo>
                  <a:cubicBezTo>
                    <a:pt x="82169" y="8261477"/>
                    <a:pt x="0" y="8179308"/>
                    <a:pt x="0" y="807783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66774" y="3363049"/>
            <a:ext cx="7433024" cy="617706"/>
            <a:chOff x="0" y="0"/>
            <a:chExt cx="9910699" cy="8236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10695" cy="823603"/>
            </a:xfrm>
            <a:custGeom>
              <a:avLst/>
              <a:gdLst/>
              <a:ahLst/>
              <a:cxnLst/>
              <a:rect r="r" b="b" t="t" l="l"/>
              <a:pathLst>
                <a:path h="823603" w="9910695">
                  <a:moveTo>
                    <a:pt x="0" y="0"/>
                  </a:moveTo>
                  <a:lnTo>
                    <a:pt x="9910695" y="0"/>
                  </a:lnTo>
                  <a:lnTo>
                    <a:pt x="9910695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469" r="0" b="-18447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9910699" cy="852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Jeep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6774" y="4021931"/>
            <a:ext cx="7433024" cy="411804"/>
            <a:chOff x="0" y="0"/>
            <a:chExt cx="9910699" cy="5490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10695" cy="549069"/>
            </a:xfrm>
            <a:custGeom>
              <a:avLst/>
              <a:gdLst/>
              <a:ahLst/>
              <a:cxnLst/>
              <a:rect r="r" b="b" t="t" l="l"/>
              <a:pathLst>
                <a:path h="549069" w="9910695">
                  <a:moveTo>
                    <a:pt x="0" y="0"/>
                  </a:moveTo>
                  <a:lnTo>
                    <a:pt x="9910695" y="0"/>
                  </a:lnTo>
                  <a:lnTo>
                    <a:pt x="991069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704" r="0" b="-30170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9910699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426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13M+ followers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57240" y="4520289"/>
            <a:ext cx="7383456" cy="19069"/>
            <a:chOff x="0" y="0"/>
            <a:chExt cx="9844608" cy="254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844659" cy="25400"/>
            </a:xfrm>
            <a:custGeom>
              <a:avLst/>
              <a:gdLst/>
              <a:ahLst/>
              <a:cxnLst/>
              <a:rect r="r" b="b" t="t" l="l"/>
              <a:pathLst>
                <a:path h="25400" w="9844659">
                  <a:moveTo>
                    <a:pt x="0" y="0"/>
                  </a:moveTo>
                  <a:lnTo>
                    <a:pt x="9844659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7502019" r="0" b="-7502119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66774" y="4667088"/>
            <a:ext cx="2745343" cy="301990"/>
            <a:chOff x="0" y="0"/>
            <a:chExt cx="3660458" cy="40265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60460" cy="402651"/>
            </a:xfrm>
            <a:custGeom>
              <a:avLst/>
              <a:gdLst/>
              <a:ahLst/>
              <a:cxnLst/>
              <a:rect r="r" b="b" t="t" l="l"/>
              <a:pathLst>
                <a:path h="402651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3660458" cy="42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b="true" sz="1125" spc="225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FOCUS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58214" y="5009474"/>
            <a:ext cx="7250144" cy="116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UGC engine (#JeepLife, #JeepFamily), owner trails, WWII heritage, cinematic off-road film.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66774" y="6382931"/>
            <a:ext cx="2745343" cy="301990"/>
            <a:chOff x="0" y="0"/>
            <a:chExt cx="3660458" cy="40265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60460" cy="402651"/>
            </a:xfrm>
            <a:custGeom>
              <a:avLst/>
              <a:gdLst/>
              <a:ahLst/>
              <a:cxnLst/>
              <a:rect r="r" b="b" t="t" l="l"/>
              <a:pathLst>
                <a:path h="402651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3660458" cy="42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b="true" sz="1125" spc="225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TAKEAWAY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58214" y="6725307"/>
            <a:ext cx="7250144" cy="2055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212's 1960s origin is the same raw material — build the community, don't just sell the truck.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345235" y="2941711"/>
            <a:ext cx="8207054" cy="6196089"/>
            <a:chOff x="0" y="0"/>
            <a:chExt cx="10942739" cy="82614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42701" cy="8261350"/>
            </a:xfrm>
            <a:custGeom>
              <a:avLst/>
              <a:gdLst/>
              <a:ahLst/>
              <a:cxnLst/>
              <a:rect r="r" b="b" t="t" l="l"/>
              <a:pathLst>
                <a:path h="8261350" w="10942701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10759186" y="0"/>
                  </a:lnTo>
                  <a:cubicBezTo>
                    <a:pt x="10860532" y="0"/>
                    <a:pt x="10942701" y="82169"/>
                    <a:pt x="10942701" y="183515"/>
                  </a:cubicBezTo>
                  <a:lnTo>
                    <a:pt x="10942701" y="8077835"/>
                  </a:lnTo>
                  <a:cubicBezTo>
                    <a:pt x="10942701" y="8179181"/>
                    <a:pt x="10860532" y="8261350"/>
                    <a:pt x="10759186" y="8261350"/>
                  </a:cubicBezTo>
                  <a:lnTo>
                    <a:pt x="183515" y="8261350"/>
                  </a:lnTo>
                  <a:cubicBezTo>
                    <a:pt x="82169" y="8261477"/>
                    <a:pt x="0" y="8179308"/>
                    <a:pt x="0" y="807783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766564" y="3363049"/>
            <a:ext cx="7433024" cy="617706"/>
            <a:chOff x="0" y="0"/>
            <a:chExt cx="9910699" cy="8236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910695" cy="823603"/>
            </a:xfrm>
            <a:custGeom>
              <a:avLst/>
              <a:gdLst/>
              <a:ahLst/>
              <a:cxnLst/>
              <a:rect r="r" b="b" t="t" l="l"/>
              <a:pathLst>
                <a:path h="823603" w="9910695">
                  <a:moveTo>
                    <a:pt x="0" y="0"/>
                  </a:moveTo>
                  <a:lnTo>
                    <a:pt x="9910695" y="0"/>
                  </a:lnTo>
                  <a:lnTo>
                    <a:pt x="9910695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469" r="0" b="-18447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9910699" cy="852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Ineos + Defender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766564" y="4021931"/>
            <a:ext cx="7433024" cy="411804"/>
            <a:chOff x="0" y="0"/>
            <a:chExt cx="9910699" cy="5490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910695" cy="549069"/>
            </a:xfrm>
            <a:custGeom>
              <a:avLst/>
              <a:gdLst/>
              <a:ahLst/>
              <a:cxnLst/>
              <a:rect r="r" b="b" t="t" l="l"/>
              <a:pathLst>
                <a:path h="549069" w="9910695">
                  <a:moveTo>
                    <a:pt x="0" y="0"/>
                  </a:moveTo>
                  <a:lnTo>
                    <a:pt x="9910695" y="0"/>
                  </a:lnTo>
                  <a:lnTo>
                    <a:pt x="991069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704" r="0" b="-30170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9910699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426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Built differently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757029" y="4520289"/>
            <a:ext cx="7383456" cy="19069"/>
            <a:chOff x="0" y="0"/>
            <a:chExt cx="9844608" cy="2542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844659" cy="25400"/>
            </a:xfrm>
            <a:custGeom>
              <a:avLst/>
              <a:gdLst/>
              <a:ahLst/>
              <a:cxnLst/>
              <a:rect r="r" b="b" t="t" l="l"/>
              <a:pathLst>
                <a:path h="25400" w="9844659">
                  <a:moveTo>
                    <a:pt x="0" y="0"/>
                  </a:moveTo>
                  <a:lnTo>
                    <a:pt x="9844659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7502019" r="0" b="-7502119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766564" y="4667088"/>
            <a:ext cx="2745343" cy="301990"/>
            <a:chOff x="0" y="0"/>
            <a:chExt cx="3660458" cy="40265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660460" cy="402651"/>
            </a:xfrm>
            <a:custGeom>
              <a:avLst/>
              <a:gdLst/>
              <a:ahLst/>
              <a:cxnLst/>
              <a:rect r="r" b="b" t="t" l="l"/>
              <a:pathLst>
                <a:path h="402651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3660458" cy="42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b="true" sz="1125" spc="225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FOCUS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9858004" y="5009474"/>
            <a:ext cx="7250144" cy="116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Capability proof, #BuiltForMore / #MyGrenadier UGC, design-icon reverence.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766564" y="6382931"/>
            <a:ext cx="2745343" cy="301990"/>
            <a:chOff x="0" y="0"/>
            <a:chExt cx="3660458" cy="40265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660460" cy="402651"/>
            </a:xfrm>
            <a:custGeom>
              <a:avLst/>
              <a:gdLst/>
              <a:ahLst/>
              <a:cxnLst/>
              <a:rect r="r" b="b" t="t" l="l"/>
              <a:pathLst>
                <a:path h="402651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3660458" cy="42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b="true" sz="1125" spc="225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TAKEAWAY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858004" y="6725307"/>
            <a:ext cx="7250144" cy="2055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Own the origin with pride; being the value option is a strength, not something to hide.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26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 · RESEARCH · BENCHMARKS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Ceiling for Motor Souq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73862" y="2076155"/>
            <a:ext cx="16289188" cy="62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8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The dealer that sells the experience of buying, not the inventory.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2941711"/>
            <a:ext cx="16806853" cy="6196089"/>
            <a:chOff x="0" y="0"/>
            <a:chExt cx="22409137" cy="82614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409023" cy="8261350"/>
            </a:xfrm>
            <a:custGeom>
              <a:avLst/>
              <a:gdLst/>
              <a:ahLst/>
              <a:cxnLst/>
              <a:rect r="r" b="b" t="t" l="l"/>
              <a:pathLst>
                <a:path h="8261350" w="22409023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22225508" y="0"/>
                  </a:lnTo>
                  <a:cubicBezTo>
                    <a:pt x="22326854" y="0"/>
                    <a:pt x="22409023" y="82169"/>
                    <a:pt x="22409023" y="183515"/>
                  </a:cubicBezTo>
                  <a:lnTo>
                    <a:pt x="22409023" y="8077835"/>
                  </a:lnTo>
                  <a:cubicBezTo>
                    <a:pt x="22409023" y="8179181"/>
                    <a:pt x="22326854" y="8261350"/>
                    <a:pt x="22225508" y="8261350"/>
                  </a:cubicBezTo>
                  <a:lnTo>
                    <a:pt x="183515" y="8261350"/>
                  </a:lnTo>
                  <a:cubicBezTo>
                    <a:pt x="82169" y="8261477"/>
                    <a:pt x="0" y="8179308"/>
                    <a:pt x="0" y="807783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66774" y="3363049"/>
            <a:ext cx="16032813" cy="617706"/>
            <a:chOff x="0" y="0"/>
            <a:chExt cx="21377084" cy="8236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377084" cy="823603"/>
            </a:xfrm>
            <a:custGeom>
              <a:avLst/>
              <a:gdLst/>
              <a:ahLst/>
              <a:cxnLst/>
              <a:rect r="r" b="b" t="t" l="l"/>
              <a:pathLst>
                <a:path h="823603" w="21377084">
                  <a:moveTo>
                    <a:pt x="0" y="0"/>
                  </a:moveTo>
                  <a:lnTo>
                    <a:pt x="21377084" y="0"/>
                  </a:lnTo>
                  <a:lnTo>
                    <a:pt x="21377084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744" r="0" b="-45574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1377084" cy="852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CarMax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6774" y="4021931"/>
            <a:ext cx="16032813" cy="411804"/>
            <a:chOff x="0" y="0"/>
            <a:chExt cx="21377084" cy="5490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377084" cy="549069"/>
            </a:xfrm>
            <a:custGeom>
              <a:avLst/>
              <a:gdLst/>
              <a:ahLst/>
              <a:cxnLst/>
              <a:rect r="r" b="b" t="t" l="l"/>
              <a:pathLst>
                <a:path h="549069" w="21377084">
                  <a:moveTo>
                    <a:pt x="0" y="0"/>
                  </a:moveTo>
                  <a:lnTo>
                    <a:pt x="21377084" y="0"/>
                  </a:lnTo>
                  <a:lnTo>
                    <a:pt x="2137708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8617" r="0" b="-70861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1377084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426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TikTok 309K · 2M likes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57240" y="4520289"/>
            <a:ext cx="15983245" cy="19069"/>
            <a:chOff x="0" y="0"/>
            <a:chExt cx="21310994" cy="254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310981" cy="25400"/>
            </a:xfrm>
            <a:custGeom>
              <a:avLst/>
              <a:gdLst/>
              <a:ahLst/>
              <a:cxnLst/>
              <a:rect r="r" b="b" t="t" l="l"/>
              <a:pathLst>
                <a:path h="25400" w="21310981">
                  <a:moveTo>
                    <a:pt x="0" y="0"/>
                  </a:moveTo>
                  <a:lnTo>
                    <a:pt x="21310981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6298199" r="0" b="-16298299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66774" y="4667088"/>
            <a:ext cx="2745343" cy="301990"/>
            <a:chOff x="0" y="0"/>
            <a:chExt cx="3660458" cy="40265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60460" cy="402651"/>
            </a:xfrm>
            <a:custGeom>
              <a:avLst/>
              <a:gdLst/>
              <a:ahLst/>
              <a:cxnLst/>
              <a:rect r="r" b="b" t="t" l="l"/>
              <a:pathLst>
                <a:path h="402651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3660458" cy="42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b="true" sz="1125" spc="225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FOCUS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58214" y="5009474"/>
            <a:ext cx="15849933" cy="116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The buying journey — real people, process transparency, budget tools, delivery; heavy short-form video.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66774" y="6382931"/>
            <a:ext cx="2745343" cy="301990"/>
            <a:chOff x="0" y="0"/>
            <a:chExt cx="3660458" cy="40265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60460" cy="402651"/>
            </a:xfrm>
            <a:custGeom>
              <a:avLst/>
              <a:gdLst/>
              <a:ahLst/>
              <a:cxnLst/>
              <a:rect r="r" b="b" t="t" l="l"/>
              <a:pathLst>
                <a:path h="402651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3660458" cy="42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b="true" sz="1125" spc="225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TAKEAWAY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58214" y="6725307"/>
            <a:ext cx="15849933" cy="2055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Post branches, advisors and the journey — the exact assets Motor Souq owns and never shows.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27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823608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809873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 · RESEARCH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235402"/>
            <a:ext cx="15099392" cy="1098137"/>
            <a:chOff x="0" y="0"/>
            <a:chExt cx="20132523" cy="14641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32529" cy="1464184"/>
            </a:xfrm>
            <a:custGeom>
              <a:avLst/>
              <a:gdLst/>
              <a:ahLst/>
              <a:cxnLst/>
              <a:rect r="r" b="b" t="t" l="l"/>
              <a:pathLst>
                <a:path h="1464184" w="20132529">
                  <a:moveTo>
                    <a:pt x="0" y="0"/>
                  </a:moveTo>
                  <a:lnTo>
                    <a:pt x="20132529" y="0"/>
                  </a:lnTo>
                  <a:lnTo>
                    <a:pt x="20132529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0132523" cy="15118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64"/>
                </a:lnSpc>
              </a:pPr>
              <a:r>
                <a:rPr lang="en-US" sz="48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Research Takeouts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82422" y="2196274"/>
            <a:ext cx="15099392" cy="480431"/>
            <a:chOff x="0" y="0"/>
            <a:chExt cx="20132523" cy="6405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132529" cy="640580"/>
            </a:xfrm>
            <a:custGeom>
              <a:avLst/>
              <a:gdLst/>
              <a:ahLst/>
              <a:cxnLst/>
              <a:rect r="r" b="b" t="t" l="l"/>
              <a:pathLst>
                <a:path h="640580" w="20132529">
                  <a:moveTo>
                    <a:pt x="0" y="0"/>
                  </a:moveTo>
                  <a:lnTo>
                    <a:pt x="20132529" y="0"/>
                  </a:lnTo>
                  <a:lnTo>
                    <a:pt x="20132529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387" r="0" b="-56238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0132523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5C6879"/>
                  </a:solidFill>
                  <a:latin typeface="Poppins"/>
                  <a:ea typeface="Poppins"/>
                  <a:cs typeface="Poppins"/>
                  <a:sym typeface="Poppins"/>
                </a:rPr>
                <a:t>Six findings that become the strategy that follows.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5436" y="2804446"/>
            <a:ext cx="8255098" cy="1968256"/>
            <a:chOff x="0" y="0"/>
            <a:chExt cx="11006798" cy="26243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06836" cy="2624328"/>
            </a:xfrm>
            <a:custGeom>
              <a:avLst/>
              <a:gdLst/>
              <a:ahLst/>
              <a:cxnLst/>
              <a:rect r="r" b="b" t="t" l="l"/>
              <a:pathLst>
                <a:path h="2624328" w="11006836">
                  <a:moveTo>
                    <a:pt x="0" y="184785"/>
                  </a:moveTo>
                  <a:cubicBezTo>
                    <a:pt x="0" y="82804"/>
                    <a:pt x="82804" y="0"/>
                    <a:pt x="184785" y="0"/>
                  </a:cubicBezTo>
                  <a:lnTo>
                    <a:pt x="10822051" y="0"/>
                  </a:lnTo>
                  <a:cubicBezTo>
                    <a:pt x="10924159" y="0"/>
                    <a:pt x="11006836" y="82804"/>
                    <a:pt x="11006836" y="184785"/>
                  </a:cubicBezTo>
                  <a:lnTo>
                    <a:pt x="11006836" y="2439543"/>
                  </a:lnTo>
                  <a:cubicBezTo>
                    <a:pt x="11006836" y="2541651"/>
                    <a:pt x="10924032" y="2624328"/>
                    <a:pt x="10822051" y="2624328"/>
                  </a:cubicBezTo>
                  <a:lnTo>
                    <a:pt x="184785" y="2624328"/>
                  </a:lnTo>
                  <a:cubicBezTo>
                    <a:pt x="82804" y="2624328"/>
                    <a:pt x="0" y="2541651"/>
                    <a:pt x="0" y="2439543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54971" y="2813980"/>
            <a:ext cx="150990" cy="1949196"/>
            <a:chOff x="0" y="0"/>
            <a:chExt cx="201320" cy="25989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1295" cy="2598928"/>
            </a:xfrm>
            <a:custGeom>
              <a:avLst/>
              <a:gdLst/>
              <a:ahLst/>
              <a:cxnLst/>
              <a:rect r="r" b="b" t="t" l="l"/>
              <a:pathLst>
                <a:path h="2598928" w="201295">
                  <a:moveTo>
                    <a:pt x="0" y="0"/>
                  </a:moveTo>
                  <a:lnTo>
                    <a:pt x="201295" y="0"/>
                  </a:lnTo>
                  <a:lnTo>
                    <a:pt x="201295" y="2598928"/>
                  </a:lnTo>
                  <a:lnTo>
                    <a:pt x="0" y="2598928"/>
                  </a:lnTo>
                  <a:close/>
                </a:path>
              </a:pathLst>
            </a:custGeom>
            <a:solidFill>
              <a:srgbClr val="B8873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39314" y="3088510"/>
            <a:ext cx="823608" cy="686333"/>
            <a:chOff x="0" y="0"/>
            <a:chExt cx="1098144" cy="915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8138" cy="915115"/>
            </a:xfrm>
            <a:custGeom>
              <a:avLst/>
              <a:gdLst/>
              <a:ahLst/>
              <a:cxnLst/>
              <a:rect r="r" b="b" t="t" l="l"/>
              <a:pathLst>
                <a:path h="915115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8" t="0" r="-56919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098144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 b="true">
                  <a:solidFill>
                    <a:srgbClr val="B887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150450" y="3124705"/>
            <a:ext cx="6405944" cy="60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026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Trust is the category's open wound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50450" y="3746611"/>
            <a:ext cx="6405944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5"/>
              </a:lnSpc>
            </a:pPr>
            <a:r>
              <a:rPr lang="en-US" sz="150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Parts, service, resale, durability — the dominant negative for Chinese auto in KSA. Whichever brand addresses it openly owns a gap the whole category avoids.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297191" y="2804446"/>
            <a:ext cx="8255098" cy="1968256"/>
            <a:chOff x="0" y="0"/>
            <a:chExt cx="11006798" cy="262434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006836" cy="2624328"/>
            </a:xfrm>
            <a:custGeom>
              <a:avLst/>
              <a:gdLst/>
              <a:ahLst/>
              <a:cxnLst/>
              <a:rect r="r" b="b" t="t" l="l"/>
              <a:pathLst>
                <a:path h="2624328" w="11006836">
                  <a:moveTo>
                    <a:pt x="0" y="184785"/>
                  </a:moveTo>
                  <a:cubicBezTo>
                    <a:pt x="0" y="82804"/>
                    <a:pt x="82804" y="0"/>
                    <a:pt x="184785" y="0"/>
                  </a:cubicBezTo>
                  <a:lnTo>
                    <a:pt x="10822051" y="0"/>
                  </a:lnTo>
                  <a:cubicBezTo>
                    <a:pt x="10924159" y="0"/>
                    <a:pt x="11006836" y="82804"/>
                    <a:pt x="11006836" y="184785"/>
                  </a:cubicBezTo>
                  <a:lnTo>
                    <a:pt x="11006836" y="2439543"/>
                  </a:lnTo>
                  <a:cubicBezTo>
                    <a:pt x="11006836" y="2541651"/>
                    <a:pt x="10924032" y="2624328"/>
                    <a:pt x="10822051" y="2624328"/>
                  </a:cubicBezTo>
                  <a:lnTo>
                    <a:pt x="184785" y="2624328"/>
                  </a:lnTo>
                  <a:cubicBezTo>
                    <a:pt x="82804" y="2624328"/>
                    <a:pt x="0" y="2541651"/>
                    <a:pt x="0" y="2439543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306716" y="2813980"/>
            <a:ext cx="150990" cy="1949196"/>
            <a:chOff x="0" y="0"/>
            <a:chExt cx="201320" cy="25989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1295" cy="2598928"/>
            </a:xfrm>
            <a:custGeom>
              <a:avLst/>
              <a:gdLst/>
              <a:ahLst/>
              <a:cxnLst/>
              <a:rect r="r" b="b" t="t" l="l"/>
              <a:pathLst>
                <a:path h="2598928" w="201295">
                  <a:moveTo>
                    <a:pt x="0" y="0"/>
                  </a:moveTo>
                  <a:lnTo>
                    <a:pt x="201295" y="0"/>
                  </a:lnTo>
                  <a:lnTo>
                    <a:pt x="201295" y="2598928"/>
                  </a:lnTo>
                  <a:lnTo>
                    <a:pt x="0" y="2598928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91068" y="3088510"/>
            <a:ext cx="823608" cy="686333"/>
            <a:chOff x="0" y="0"/>
            <a:chExt cx="1098144" cy="91511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8138" cy="915115"/>
            </a:xfrm>
            <a:custGeom>
              <a:avLst/>
              <a:gdLst/>
              <a:ahLst/>
              <a:cxnLst/>
              <a:rect r="r" b="b" t="t" l="l"/>
              <a:pathLst>
                <a:path h="915115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8" t="0" r="-56919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098144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 b="true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702195" y="3124705"/>
            <a:ext cx="6405944" cy="60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026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The market watches video; brands post static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702195" y="3746611"/>
            <a:ext cx="6405944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5"/>
              </a:lnSpc>
            </a:pPr>
            <a:r>
              <a:rPr lang="en-US" sz="150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TikTok leads KSA (34h 48m/week). All three brands are dormant or absent. Vertical video is the single highest-leverage move.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45436" y="5028171"/>
            <a:ext cx="8255098" cy="1968256"/>
            <a:chOff x="0" y="0"/>
            <a:chExt cx="11006798" cy="262434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006836" cy="2624328"/>
            </a:xfrm>
            <a:custGeom>
              <a:avLst/>
              <a:gdLst/>
              <a:ahLst/>
              <a:cxnLst/>
              <a:rect r="r" b="b" t="t" l="l"/>
              <a:pathLst>
                <a:path h="2624328" w="11006836">
                  <a:moveTo>
                    <a:pt x="0" y="184785"/>
                  </a:moveTo>
                  <a:cubicBezTo>
                    <a:pt x="0" y="82804"/>
                    <a:pt x="82804" y="0"/>
                    <a:pt x="184785" y="0"/>
                  </a:cubicBezTo>
                  <a:lnTo>
                    <a:pt x="10822051" y="0"/>
                  </a:lnTo>
                  <a:cubicBezTo>
                    <a:pt x="10924159" y="0"/>
                    <a:pt x="11006836" y="82804"/>
                    <a:pt x="11006836" y="184785"/>
                  </a:cubicBezTo>
                  <a:lnTo>
                    <a:pt x="11006836" y="2439543"/>
                  </a:lnTo>
                  <a:cubicBezTo>
                    <a:pt x="11006836" y="2541651"/>
                    <a:pt x="10924032" y="2624328"/>
                    <a:pt x="10822051" y="2624328"/>
                  </a:cubicBezTo>
                  <a:lnTo>
                    <a:pt x="184785" y="2624328"/>
                  </a:lnTo>
                  <a:cubicBezTo>
                    <a:pt x="82804" y="2624328"/>
                    <a:pt x="0" y="2541651"/>
                    <a:pt x="0" y="2439543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754971" y="5037706"/>
            <a:ext cx="150990" cy="1949196"/>
            <a:chOff x="0" y="0"/>
            <a:chExt cx="201320" cy="259892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1295" cy="2598928"/>
            </a:xfrm>
            <a:custGeom>
              <a:avLst/>
              <a:gdLst/>
              <a:ahLst/>
              <a:cxnLst/>
              <a:rect r="r" b="b" t="t" l="l"/>
              <a:pathLst>
                <a:path h="2598928" w="201295">
                  <a:moveTo>
                    <a:pt x="0" y="0"/>
                  </a:moveTo>
                  <a:lnTo>
                    <a:pt x="201295" y="0"/>
                  </a:lnTo>
                  <a:lnTo>
                    <a:pt x="201295" y="2598928"/>
                  </a:lnTo>
                  <a:lnTo>
                    <a:pt x="0" y="2598928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39314" y="5312245"/>
            <a:ext cx="823608" cy="686333"/>
            <a:chOff x="0" y="0"/>
            <a:chExt cx="1098144" cy="91511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8138" cy="915115"/>
            </a:xfrm>
            <a:custGeom>
              <a:avLst/>
              <a:gdLst/>
              <a:ahLst/>
              <a:cxnLst/>
              <a:rect r="r" b="b" t="t" l="l"/>
              <a:pathLst>
                <a:path h="915115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8" t="0" r="-56919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098144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 b="true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150450" y="5348440"/>
            <a:ext cx="6405944" cy="60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026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Three brands, three voices — never one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150450" y="5970346"/>
            <a:ext cx="6405944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5"/>
              </a:lnSpc>
            </a:pPr>
            <a:r>
              <a:rPr lang="en-US" sz="150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Bestune = family trust. 212 = heritage &amp; adventure. Motor Souq = the buying experience. One shared tone breaks all three.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297191" y="5028171"/>
            <a:ext cx="8255098" cy="1968256"/>
            <a:chOff x="0" y="0"/>
            <a:chExt cx="11006798" cy="262434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006836" cy="2624328"/>
            </a:xfrm>
            <a:custGeom>
              <a:avLst/>
              <a:gdLst/>
              <a:ahLst/>
              <a:cxnLst/>
              <a:rect r="r" b="b" t="t" l="l"/>
              <a:pathLst>
                <a:path h="2624328" w="11006836">
                  <a:moveTo>
                    <a:pt x="0" y="184785"/>
                  </a:moveTo>
                  <a:cubicBezTo>
                    <a:pt x="0" y="82804"/>
                    <a:pt x="82804" y="0"/>
                    <a:pt x="184785" y="0"/>
                  </a:cubicBezTo>
                  <a:lnTo>
                    <a:pt x="10822051" y="0"/>
                  </a:lnTo>
                  <a:cubicBezTo>
                    <a:pt x="10924159" y="0"/>
                    <a:pt x="11006836" y="82804"/>
                    <a:pt x="11006836" y="184785"/>
                  </a:cubicBezTo>
                  <a:lnTo>
                    <a:pt x="11006836" y="2439543"/>
                  </a:lnTo>
                  <a:cubicBezTo>
                    <a:pt x="11006836" y="2541651"/>
                    <a:pt x="10924032" y="2624328"/>
                    <a:pt x="10822051" y="2624328"/>
                  </a:cubicBezTo>
                  <a:lnTo>
                    <a:pt x="184785" y="2624328"/>
                  </a:lnTo>
                  <a:cubicBezTo>
                    <a:pt x="82804" y="2624328"/>
                    <a:pt x="0" y="2541651"/>
                    <a:pt x="0" y="2439543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306716" y="5037706"/>
            <a:ext cx="150990" cy="1949196"/>
            <a:chOff x="0" y="0"/>
            <a:chExt cx="201320" cy="259892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1295" cy="2598928"/>
            </a:xfrm>
            <a:custGeom>
              <a:avLst/>
              <a:gdLst/>
              <a:ahLst/>
              <a:cxnLst/>
              <a:rect r="r" b="b" t="t" l="l"/>
              <a:pathLst>
                <a:path h="2598928" w="201295">
                  <a:moveTo>
                    <a:pt x="0" y="0"/>
                  </a:moveTo>
                  <a:lnTo>
                    <a:pt x="201295" y="0"/>
                  </a:lnTo>
                  <a:lnTo>
                    <a:pt x="201295" y="2598928"/>
                  </a:lnTo>
                  <a:lnTo>
                    <a:pt x="0" y="2598928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691068" y="5312245"/>
            <a:ext cx="823608" cy="686333"/>
            <a:chOff x="0" y="0"/>
            <a:chExt cx="1098144" cy="91511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98138" cy="915115"/>
            </a:xfrm>
            <a:custGeom>
              <a:avLst/>
              <a:gdLst/>
              <a:ahLst/>
              <a:cxnLst/>
              <a:rect r="r" b="b" t="t" l="l"/>
              <a:pathLst>
                <a:path h="915115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8" t="0" r="-56919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1098144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 b="true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0702195" y="5348440"/>
            <a:ext cx="6405944" cy="60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026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Scale is a content problem, not a ceiling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702195" y="5970346"/>
            <a:ext cx="6405944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5"/>
              </a:lnSpc>
            </a:pPr>
            <a:r>
              <a:rPr lang="en-US" sz="150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Motor Souq's 78K sit dead while Aljomaih's 212K stay active. The gap is consistency and format, not audience size.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745436" y="7251906"/>
            <a:ext cx="8255098" cy="1968256"/>
            <a:chOff x="0" y="0"/>
            <a:chExt cx="11006798" cy="262434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006836" cy="2624328"/>
            </a:xfrm>
            <a:custGeom>
              <a:avLst/>
              <a:gdLst/>
              <a:ahLst/>
              <a:cxnLst/>
              <a:rect r="r" b="b" t="t" l="l"/>
              <a:pathLst>
                <a:path h="2624328" w="11006836">
                  <a:moveTo>
                    <a:pt x="0" y="184785"/>
                  </a:moveTo>
                  <a:cubicBezTo>
                    <a:pt x="0" y="82804"/>
                    <a:pt x="82804" y="0"/>
                    <a:pt x="184785" y="0"/>
                  </a:cubicBezTo>
                  <a:lnTo>
                    <a:pt x="10822051" y="0"/>
                  </a:lnTo>
                  <a:cubicBezTo>
                    <a:pt x="10924159" y="0"/>
                    <a:pt x="11006836" y="82804"/>
                    <a:pt x="11006836" y="184785"/>
                  </a:cubicBezTo>
                  <a:lnTo>
                    <a:pt x="11006836" y="2439543"/>
                  </a:lnTo>
                  <a:cubicBezTo>
                    <a:pt x="11006836" y="2541651"/>
                    <a:pt x="10924032" y="2624328"/>
                    <a:pt x="10822051" y="2624328"/>
                  </a:cubicBezTo>
                  <a:lnTo>
                    <a:pt x="184785" y="2624328"/>
                  </a:lnTo>
                  <a:cubicBezTo>
                    <a:pt x="82804" y="2624328"/>
                    <a:pt x="0" y="2541651"/>
                    <a:pt x="0" y="2439543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754971" y="7261441"/>
            <a:ext cx="150990" cy="1949196"/>
            <a:chOff x="0" y="0"/>
            <a:chExt cx="201320" cy="259892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1295" cy="2598928"/>
            </a:xfrm>
            <a:custGeom>
              <a:avLst/>
              <a:gdLst/>
              <a:ahLst/>
              <a:cxnLst/>
              <a:rect r="r" b="b" t="t" l="l"/>
              <a:pathLst>
                <a:path h="2598928" w="201295">
                  <a:moveTo>
                    <a:pt x="0" y="0"/>
                  </a:moveTo>
                  <a:lnTo>
                    <a:pt x="201295" y="0"/>
                  </a:lnTo>
                  <a:lnTo>
                    <a:pt x="201295" y="2598928"/>
                  </a:lnTo>
                  <a:lnTo>
                    <a:pt x="0" y="2598928"/>
                  </a:lnTo>
                  <a:close/>
                </a:path>
              </a:pathLst>
            </a:custGeom>
            <a:solidFill>
              <a:srgbClr val="1878A8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39314" y="7535970"/>
            <a:ext cx="823608" cy="686333"/>
            <a:chOff x="0" y="0"/>
            <a:chExt cx="1098144" cy="91511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8138" cy="915115"/>
            </a:xfrm>
            <a:custGeom>
              <a:avLst/>
              <a:gdLst/>
              <a:ahLst/>
              <a:cxnLst/>
              <a:rect r="r" b="b" t="t" l="l"/>
              <a:pathLst>
                <a:path h="915115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8" t="0" r="-56919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1098144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 b="true">
                  <a:solidFill>
                    <a:srgbClr val="1878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2150450" y="7572165"/>
            <a:ext cx="6405944" cy="60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026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Heritage is the portfolio's unused asset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150450" y="8194072"/>
            <a:ext cx="6405944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5"/>
              </a:lnSpc>
            </a:pPr>
            <a:r>
              <a:rPr lang="en-US" sz="150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FAW's 68 years and 212's 1960s origin are both dormant. Competitors build identity on heritage; ours hide it in fine print.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9297191" y="7251906"/>
            <a:ext cx="8255098" cy="1968256"/>
            <a:chOff x="0" y="0"/>
            <a:chExt cx="11006798" cy="262434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006836" cy="2624328"/>
            </a:xfrm>
            <a:custGeom>
              <a:avLst/>
              <a:gdLst/>
              <a:ahLst/>
              <a:cxnLst/>
              <a:rect r="r" b="b" t="t" l="l"/>
              <a:pathLst>
                <a:path h="2624328" w="11006836">
                  <a:moveTo>
                    <a:pt x="0" y="184785"/>
                  </a:moveTo>
                  <a:cubicBezTo>
                    <a:pt x="0" y="82804"/>
                    <a:pt x="82804" y="0"/>
                    <a:pt x="184785" y="0"/>
                  </a:cubicBezTo>
                  <a:lnTo>
                    <a:pt x="10822051" y="0"/>
                  </a:lnTo>
                  <a:cubicBezTo>
                    <a:pt x="10924159" y="0"/>
                    <a:pt x="11006836" y="82804"/>
                    <a:pt x="11006836" y="184785"/>
                  </a:cubicBezTo>
                  <a:lnTo>
                    <a:pt x="11006836" y="2439543"/>
                  </a:lnTo>
                  <a:cubicBezTo>
                    <a:pt x="11006836" y="2541651"/>
                    <a:pt x="10924032" y="2624328"/>
                    <a:pt x="10822051" y="2624328"/>
                  </a:cubicBezTo>
                  <a:lnTo>
                    <a:pt x="184785" y="2624328"/>
                  </a:lnTo>
                  <a:cubicBezTo>
                    <a:pt x="82804" y="2624328"/>
                    <a:pt x="0" y="2541651"/>
                    <a:pt x="0" y="2439543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9306716" y="7261441"/>
            <a:ext cx="150990" cy="1949196"/>
            <a:chOff x="0" y="0"/>
            <a:chExt cx="201320" cy="259892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01295" cy="2598928"/>
            </a:xfrm>
            <a:custGeom>
              <a:avLst/>
              <a:gdLst/>
              <a:ahLst/>
              <a:cxnLst/>
              <a:rect r="r" b="b" t="t" l="l"/>
              <a:pathLst>
                <a:path h="2598928" w="201295">
                  <a:moveTo>
                    <a:pt x="0" y="0"/>
                  </a:moveTo>
                  <a:lnTo>
                    <a:pt x="201295" y="0"/>
                  </a:lnTo>
                  <a:lnTo>
                    <a:pt x="201295" y="2598928"/>
                  </a:lnTo>
                  <a:lnTo>
                    <a:pt x="0" y="2598928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691068" y="7535970"/>
            <a:ext cx="823608" cy="686333"/>
            <a:chOff x="0" y="0"/>
            <a:chExt cx="1098144" cy="91511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98138" cy="915115"/>
            </a:xfrm>
            <a:custGeom>
              <a:avLst/>
              <a:gdLst/>
              <a:ahLst/>
              <a:cxnLst/>
              <a:rect r="r" b="b" t="t" l="l"/>
              <a:pathLst>
                <a:path h="915115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8" t="0" r="-56919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1098144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 b="true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6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0702195" y="7572165"/>
            <a:ext cx="6405944" cy="60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026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Community beats broadcast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702195" y="8194072"/>
            <a:ext cx="6405944" cy="88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5"/>
              </a:lnSpc>
            </a:pPr>
            <a:r>
              <a:rPr lang="en-US" sz="150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Jeep and Ineos win on owner UGC. None of our three run a structured community programme — unclaimed territory.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28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033695" y="34509"/>
            <a:ext cx="5856875" cy="623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028"/>
              </a:lnSpc>
            </a:pPr>
            <a:r>
              <a:rPr lang="en-US" sz="30023" b="true">
                <a:solidFill>
                  <a:srgbClr val="B8873C">
                    <a:alpha val="15686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23608" y="4323921"/>
            <a:ext cx="686333" cy="68637"/>
            <a:chOff x="0" y="0"/>
            <a:chExt cx="915111" cy="915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5162" cy="91567"/>
            </a:xfrm>
            <a:custGeom>
              <a:avLst/>
              <a:gdLst/>
              <a:ahLst/>
              <a:cxnLst/>
              <a:rect r="r" b="b" t="t" l="l"/>
              <a:pathLst>
                <a:path h="91567" w="915162">
                  <a:moveTo>
                    <a:pt x="0" y="0"/>
                  </a:moveTo>
                  <a:lnTo>
                    <a:pt x="915162" y="0"/>
                  </a:lnTo>
                  <a:lnTo>
                    <a:pt x="915162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B8873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3608" y="4529823"/>
            <a:ext cx="10981382" cy="549069"/>
            <a:chOff x="0" y="0"/>
            <a:chExt cx="14641843" cy="7320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1840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4641843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b="true" sz="1951" spc="750">
                  <a:solidFill>
                    <a:srgbClr val="B887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SECTION THREE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77773" y="5067462"/>
            <a:ext cx="12857512" cy="1887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6"/>
              </a:lnSpc>
            </a:pPr>
            <a:r>
              <a:rPr lang="en-US" sz="690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Approach &amp; Methodology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54971" y="8922372"/>
            <a:ext cx="7137892" cy="905961"/>
            <a:chOff x="0" y="0"/>
            <a:chExt cx="9517190" cy="12079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17253" cy="1208024"/>
            </a:xfrm>
            <a:custGeom>
              <a:avLst/>
              <a:gdLst/>
              <a:ahLst/>
              <a:cxnLst/>
              <a:rect r="r" b="b" t="t" l="l"/>
              <a:pathLst>
                <a:path h="1208024" w="9517253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9370822" y="0"/>
                  </a:lnTo>
                  <a:cubicBezTo>
                    <a:pt x="9451721" y="0"/>
                    <a:pt x="9517253" y="65532"/>
                    <a:pt x="9517253" y="146431"/>
                  </a:cubicBezTo>
                  <a:lnTo>
                    <a:pt x="9517253" y="1061593"/>
                  </a:lnTo>
                  <a:cubicBezTo>
                    <a:pt x="9517253" y="1142492"/>
                    <a:pt x="9451721" y="1208024"/>
                    <a:pt x="9370822" y="1208024"/>
                  </a:cubicBezTo>
                  <a:lnTo>
                    <a:pt x="146431" y="1208024"/>
                  </a:lnTo>
                  <a:cubicBezTo>
                    <a:pt x="65532" y="1207897"/>
                    <a:pt x="0" y="1142365"/>
                    <a:pt x="0" y="106159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9500" y="9087088"/>
            <a:ext cx="6588824" cy="968950"/>
            <a:chOff x="0" y="0"/>
            <a:chExt cx="8785098" cy="1291933"/>
          </a:xfrm>
        </p:grpSpPr>
        <p:sp>
          <p:nvSpPr>
            <p:cNvPr name="Freeform 13" id="13" descr="/tmp/build/brands_strip.png"/>
            <p:cNvSpPr/>
            <p:nvPr/>
          </p:nvSpPr>
          <p:spPr>
            <a:xfrm flipH="false" flipV="false" rot="0">
              <a:off x="0" y="0"/>
              <a:ext cx="8785098" cy="1291971"/>
            </a:xfrm>
            <a:custGeom>
              <a:avLst/>
              <a:gdLst/>
              <a:ahLst/>
              <a:cxnLst/>
              <a:rect r="r" b="b" t="t" l="l"/>
              <a:pathLst>
                <a:path h="1291971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291971"/>
                  </a:lnTo>
                  <a:lnTo>
                    <a:pt x="0" y="1291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B8873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B887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 · APPROACH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Our Methodology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73862" y="2076155"/>
            <a:ext cx="16289188" cy="62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8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A five-stage, insight-driven model applied across all three brands — diagnosis shared, execution tailored.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3216250"/>
            <a:ext cx="3148755" cy="5097951"/>
            <a:chOff x="0" y="0"/>
            <a:chExt cx="4198341" cy="67972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98366" cy="6797294"/>
            </a:xfrm>
            <a:custGeom>
              <a:avLst/>
              <a:gdLst/>
              <a:ahLst/>
              <a:cxnLst/>
              <a:rect r="r" b="b" t="t" l="l"/>
              <a:pathLst>
                <a:path h="6797294" w="4198366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4014216" y="0"/>
                  </a:lnTo>
                  <a:cubicBezTo>
                    <a:pt x="4115943" y="0"/>
                    <a:pt x="4198366" y="82423"/>
                    <a:pt x="4198366" y="184150"/>
                  </a:cubicBezTo>
                  <a:lnTo>
                    <a:pt x="4198366" y="6613144"/>
                  </a:lnTo>
                  <a:cubicBezTo>
                    <a:pt x="4198366" y="6714871"/>
                    <a:pt x="4115943" y="6797294"/>
                    <a:pt x="4014216" y="6797294"/>
                  </a:cubicBezTo>
                  <a:lnTo>
                    <a:pt x="184150" y="6797294"/>
                  </a:lnTo>
                  <a:cubicBezTo>
                    <a:pt x="82423" y="6797294"/>
                    <a:pt x="0" y="6714871"/>
                    <a:pt x="0" y="661314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54971" y="3225784"/>
            <a:ext cx="3129696" cy="123539"/>
            <a:chOff x="0" y="0"/>
            <a:chExt cx="4172928" cy="1647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72966" cy="164719"/>
            </a:xfrm>
            <a:custGeom>
              <a:avLst/>
              <a:gdLst/>
              <a:ahLst/>
              <a:cxnLst/>
              <a:rect r="r" b="b" t="t" l="l"/>
              <a:pathLst>
                <a:path h="164719" w="4172966">
                  <a:moveTo>
                    <a:pt x="0" y="0"/>
                  </a:moveTo>
                  <a:lnTo>
                    <a:pt x="4172966" y="0"/>
                  </a:lnTo>
                  <a:lnTo>
                    <a:pt x="4172966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B8873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29500" y="3568951"/>
            <a:ext cx="2580627" cy="754971"/>
            <a:chOff x="0" y="0"/>
            <a:chExt cx="3440836" cy="10066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40832" cy="1006626"/>
            </a:xfrm>
            <a:custGeom>
              <a:avLst/>
              <a:gdLst/>
              <a:ahLst/>
              <a:cxnLst/>
              <a:rect r="r" b="b" t="t" l="l"/>
              <a:pathLst>
                <a:path h="1006626" w="3440832">
                  <a:moveTo>
                    <a:pt x="0" y="0"/>
                  </a:moveTo>
                  <a:lnTo>
                    <a:pt x="3440832" y="0"/>
                  </a:lnTo>
                  <a:lnTo>
                    <a:pt x="3440832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03" r="0" b="-1660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440836" cy="1044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B887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20940" y="4497381"/>
            <a:ext cx="2466375" cy="741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4"/>
              </a:lnSpc>
            </a:pPr>
            <a:r>
              <a:rPr lang="en-US" sz="195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Discover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19975" y="5343887"/>
            <a:ext cx="2599687" cy="19069"/>
            <a:chOff x="0" y="0"/>
            <a:chExt cx="3466249" cy="254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66211" cy="25400"/>
            </a:xfrm>
            <a:custGeom>
              <a:avLst/>
              <a:gdLst/>
              <a:ahLst/>
              <a:cxnLst/>
              <a:rect r="r" b="b" t="t" l="l"/>
              <a:pathLst>
                <a:path h="25400" w="3466211">
                  <a:moveTo>
                    <a:pt x="0" y="0"/>
                  </a:moveTo>
                  <a:lnTo>
                    <a:pt x="3466211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609004" r="-1" b="-2609104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120940" y="5507831"/>
            <a:ext cx="2452649" cy="199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35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Brief decoding · brand audit · social listening · competitive &amp; benchmark analysis.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20940" y="7517263"/>
            <a:ext cx="2452649" cy="60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i="true">
                <a:solidFill>
                  <a:srgbClr val="B8873C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This proposal is the output of this stage.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3857206" y="5559323"/>
            <a:ext cx="274539" cy="411804"/>
            <a:chOff x="0" y="0"/>
            <a:chExt cx="366052" cy="5490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6046" cy="549069"/>
            </a:xfrm>
            <a:custGeom>
              <a:avLst/>
              <a:gdLst/>
              <a:ahLst/>
              <a:cxnLst/>
              <a:rect r="r" b="b" t="t" l="l"/>
              <a:pathLst>
                <a:path h="549069" w="366046">
                  <a:moveTo>
                    <a:pt x="0" y="0"/>
                  </a:moveTo>
                  <a:lnTo>
                    <a:pt x="366046" y="0"/>
                  </a:lnTo>
                  <a:lnTo>
                    <a:pt x="36604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t="0" r="-142457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366052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>
                  <a:solidFill>
                    <a:srgbClr val="B8873C"/>
                  </a:solidFill>
                  <a:latin typeface="Poppins"/>
                  <a:ea typeface="Poppins"/>
                  <a:cs typeface="Poppins"/>
                  <a:sym typeface="Poppins"/>
                </a:rPr>
                <a:t>▶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135936" y="3216250"/>
            <a:ext cx="3148755" cy="5097951"/>
            <a:chOff x="0" y="0"/>
            <a:chExt cx="4198341" cy="679726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98366" cy="6797294"/>
            </a:xfrm>
            <a:custGeom>
              <a:avLst/>
              <a:gdLst/>
              <a:ahLst/>
              <a:cxnLst/>
              <a:rect r="r" b="b" t="t" l="l"/>
              <a:pathLst>
                <a:path h="6797294" w="4198366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4014216" y="0"/>
                  </a:lnTo>
                  <a:cubicBezTo>
                    <a:pt x="4115943" y="0"/>
                    <a:pt x="4198366" y="82423"/>
                    <a:pt x="4198366" y="184150"/>
                  </a:cubicBezTo>
                  <a:lnTo>
                    <a:pt x="4198366" y="6613144"/>
                  </a:lnTo>
                  <a:cubicBezTo>
                    <a:pt x="4198366" y="6714871"/>
                    <a:pt x="4115943" y="6797294"/>
                    <a:pt x="4014216" y="6797294"/>
                  </a:cubicBezTo>
                  <a:lnTo>
                    <a:pt x="184150" y="6797294"/>
                  </a:lnTo>
                  <a:cubicBezTo>
                    <a:pt x="82423" y="6797294"/>
                    <a:pt x="0" y="6714871"/>
                    <a:pt x="0" y="661314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4145471" y="3225784"/>
            <a:ext cx="3129696" cy="123539"/>
            <a:chOff x="0" y="0"/>
            <a:chExt cx="4172928" cy="1647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72966" cy="164719"/>
            </a:xfrm>
            <a:custGeom>
              <a:avLst/>
              <a:gdLst/>
              <a:ahLst/>
              <a:cxnLst/>
              <a:rect r="r" b="b" t="t" l="l"/>
              <a:pathLst>
                <a:path h="164719" w="4172966">
                  <a:moveTo>
                    <a:pt x="0" y="0"/>
                  </a:moveTo>
                  <a:lnTo>
                    <a:pt x="4172966" y="0"/>
                  </a:lnTo>
                  <a:lnTo>
                    <a:pt x="4172966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B8873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420010" y="3568951"/>
            <a:ext cx="2580627" cy="754971"/>
            <a:chOff x="0" y="0"/>
            <a:chExt cx="3440836" cy="100662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40832" cy="1006626"/>
            </a:xfrm>
            <a:custGeom>
              <a:avLst/>
              <a:gdLst/>
              <a:ahLst/>
              <a:cxnLst/>
              <a:rect r="r" b="b" t="t" l="l"/>
              <a:pathLst>
                <a:path h="1006626" w="3440832">
                  <a:moveTo>
                    <a:pt x="0" y="0"/>
                  </a:moveTo>
                  <a:lnTo>
                    <a:pt x="3440832" y="0"/>
                  </a:lnTo>
                  <a:lnTo>
                    <a:pt x="3440832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03" r="0" b="-1660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440836" cy="1044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B887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4511450" y="4497381"/>
            <a:ext cx="2466375" cy="741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4"/>
              </a:lnSpc>
            </a:pPr>
            <a:r>
              <a:rPr lang="en-US" sz="195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Strategy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4410475" y="5343887"/>
            <a:ext cx="2599687" cy="19069"/>
            <a:chOff x="0" y="0"/>
            <a:chExt cx="3466249" cy="2542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466211" cy="25400"/>
            </a:xfrm>
            <a:custGeom>
              <a:avLst/>
              <a:gdLst/>
              <a:ahLst/>
              <a:cxnLst/>
              <a:rect r="r" b="b" t="t" l="l"/>
              <a:pathLst>
                <a:path h="25400" w="3466211">
                  <a:moveTo>
                    <a:pt x="0" y="0"/>
                  </a:moveTo>
                  <a:lnTo>
                    <a:pt x="3466211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609004" r="-1" b="-2609104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4511450" y="5507831"/>
            <a:ext cx="2452649" cy="199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35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Positioning &amp; archetype per brand · content pillars · channel strategy · trust framework.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247706" y="5559323"/>
            <a:ext cx="274539" cy="411804"/>
            <a:chOff x="0" y="0"/>
            <a:chExt cx="366052" cy="54907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66046" cy="549069"/>
            </a:xfrm>
            <a:custGeom>
              <a:avLst/>
              <a:gdLst/>
              <a:ahLst/>
              <a:cxnLst/>
              <a:rect r="r" b="b" t="t" l="l"/>
              <a:pathLst>
                <a:path h="549069" w="366046">
                  <a:moveTo>
                    <a:pt x="0" y="0"/>
                  </a:moveTo>
                  <a:lnTo>
                    <a:pt x="366046" y="0"/>
                  </a:lnTo>
                  <a:lnTo>
                    <a:pt x="36604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t="0" r="-142457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366052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>
                  <a:solidFill>
                    <a:srgbClr val="B8873C"/>
                  </a:solidFill>
                  <a:latin typeface="Poppins"/>
                  <a:ea typeface="Poppins"/>
                  <a:cs typeface="Poppins"/>
                  <a:sym typeface="Poppins"/>
                </a:rPr>
                <a:t>▶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526436" y="3216250"/>
            <a:ext cx="3148755" cy="5097951"/>
            <a:chOff x="0" y="0"/>
            <a:chExt cx="4198341" cy="679726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98366" cy="6797294"/>
            </a:xfrm>
            <a:custGeom>
              <a:avLst/>
              <a:gdLst/>
              <a:ahLst/>
              <a:cxnLst/>
              <a:rect r="r" b="b" t="t" l="l"/>
              <a:pathLst>
                <a:path h="6797294" w="4198366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4014216" y="0"/>
                  </a:lnTo>
                  <a:cubicBezTo>
                    <a:pt x="4115943" y="0"/>
                    <a:pt x="4198366" y="82423"/>
                    <a:pt x="4198366" y="184150"/>
                  </a:cubicBezTo>
                  <a:lnTo>
                    <a:pt x="4198366" y="6613144"/>
                  </a:lnTo>
                  <a:cubicBezTo>
                    <a:pt x="4198366" y="6714871"/>
                    <a:pt x="4115943" y="6797294"/>
                    <a:pt x="4014216" y="6797294"/>
                  </a:cubicBezTo>
                  <a:lnTo>
                    <a:pt x="184150" y="6797294"/>
                  </a:lnTo>
                  <a:cubicBezTo>
                    <a:pt x="82423" y="6797294"/>
                    <a:pt x="0" y="6714871"/>
                    <a:pt x="0" y="661314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7535970" y="3225784"/>
            <a:ext cx="3129696" cy="123539"/>
            <a:chOff x="0" y="0"/>
            <a:chExt cx="4172928" cy="16471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172966" cy="164719"/>
            </a:xfrm>
            <a:custGeom>
              <a:avLst/>
              <a:gdLst/>
              <a:ahLst/>
              <a:cxnLst/>
              <a:rect r="r" b="b" t="t" l="l"/>
              <a:pathLst>
                <a:path h="164719" w="4172966">
                  <a:moveTo>
                    <a:pt x="0" y="0"/>
                  </a:moveTo>
                  <a:lnTo>
                    <a:pt x="4172966" y="0"/>
                  </a:lnTo>
                  <a:lnTo>
                    <a:pt x="4172966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B8873C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7810510" y="3568951"/>
            <a:ext cx="2580627" cy="754971"/>
            <a:chOff x="0" y="0"/>
            <a:chExt cx="3440836" cy="100662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440832" cy="1006626"/>
            </a:xfrm>
            <a:custGeom>
              <a:avLst/>
              <a:gdLst/>
              <a:ahLst/>
              <a:cxnLst/>
              <a:rect r="r" b="b" t="t" l="l"/>
              <a:pathLst>
                <a:path h="1006626" w="3440832">
                  <a:moveTo>
                    <a:pt x="0" y="0"/>
                  </a:moveTo>
                  <a:lnTo>
                    <a:pt x="3440832" y="0"/>
                  </a:lnTo>
                  <a:lnTo>
                    <a:pt x="3440832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03" r="0" b="-1660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3440836" cy="1044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B887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7901950" y="4497381"/>
            <a:ext cx="2466375" cy="741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4"/>
              </a:lnSpc>
            </a:pPr>
            <a:r>
              <a:rPr lang="en-US" sz="195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Creative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7800975" y="5343887"/>
            <a:ext cx="2599687" cy="19069"/>
            <a:chOff x="0" y="0"/>
            <a:chExt cx="3466249" cy="2542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466211" cy="25400"/>
            </a:xfrm>
            <a:custGeom>
              <a:avLst/>
              <a:gdLst/>
              <a:ahLst/>
              <a:cxnLst/>
              <a:rect r="r" b="b" t="t" l="l"/>
              <a:pathLst>
                <a:path h="25400" w="3466211">
                  <a:moveTo>
                    <a:pt x="0" y="0"/>
                  </a:moveTo>
                  <a:lnTo>
                    <a:pt x="3466211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609004" r="-1" b="-2609104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51" id="51"/>
          <p:cNvSpPr txBox="true"/>
          <p:nvPr/>
        </p:nvSpPr>
        <p:spPr>
          <a:xfrm rot="0">
            <a:off x="7901950" y="5507831"/>
            <a:ext cx="2452649" cy="199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35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Conceptualizing · copywriting · art direction · vertical-video-first production.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0638215" y="5559323"/>
            <a:ext cx="274539" cy="411804"/>
            <a:chOff x="0" y="0"/>
            <a:chExt cx="366052" cy="54907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6046" cy="549069"/>
            </a:xfrm>
            <a:custGeom>
              <a:avLst/>
              <a:gdLst/>
              <a:ahLst/>
              <a:cxnLst/>
              <a:rect r="r" b="b" t="t" l="l"/>
              <a:pathLst>
                <a:path h="549069" w="366046">
                  <a:moveTo>
                    <a:pt x="0" y="0"/>
                  </a:moveTo>
                  <a:lnTo>
                    <a:pt x="366046" y="0"/>
                  </a:lnTo>
                  <a:lnTo>
                    <a:pt x="36604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t="0" r="-142457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366052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>
                  <a:solidFill>
                    <a:srgbClr val="B8873C"/>
                  </a:solidFill>
                  <a:latin typeface="Poppins"/>
                  <a:ea typeface="Poppins"/>
                  <a:cs typeface="Poppins"/>
                  <a:sym typeface="Poppins"/>
                </a:rPr>
                <a:t>▶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916936" y="3216250"/>
            <a:ext cx="3148755" cy="5097951"/>
            <a:chOff x="0" y="0"/>
            <a:chExt cx="4198341" cy="679726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198366" cy="6797294"/>
            </a:xfrm>
            <a:custGeom>
              <a:avLst/>
              <a:gdLst/>
              <a:ahLst/>
              <a:cxnLst/>
              <a:rect r="r" b="b" t="t" l="l"/>
              <a:pathLst>
                <a:path h="6797294" w="4198366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4014216" y="0"/>
                  </a:lnTo>
                  <a:cubicBezTo>
                    <a:pt x="4115943" y="0"/>
                    <a:pt x="4198366" y="82423"/>
                    <a:pt x="4198366" y="184150"/>
                  </a:cubicBezTo>
                  <a:lnTo>
                    <a:pt x="4198366" y="6613144"/>
                  </a:lnTo>
                  <a:cubicBezTo>
                    <a:pt x="4198366" y="6714871"/>
                    <a:pt x="4115943" y="6797294"/>
                    <a:pt x="4014216" y="6797294"/>
                  </a:cubicBezTo>
                  <a:lnTo>
                    <a:pt x="184150" y="6797294"/>
                  </a:lnTo>
                  <a:cubicBezTo>
                    <a:pt x="82423" y="6797294"/>
                    <a:pt x="0" y="6714871"/>
                    <a:pt x="0" y="661314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0926470" y="3225784"/>
            <a:ext cx="3129696" cy="123539"/>
            <a:chOff x="0" y="0"/>
            <a:chExt cx="4172928" cy="16471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172966" cy="164719"/>
            </a:xfrm>
            <a:custGeom>
              <a:avLst/>
              <a:gdLst/>
              <a:ahLst/>
              <a:cxnLst/>
              <a:rect r="r" b="b" t="t" l="l"/>
              <a:pathLst>
                <a:path h="164719" w="4172966">
                  <a:moveTo>
                    <a:pt x="0" y="0"/>
                  </a:moveTo>
                  <a:lnTo>
                    <a:pt x="4172966" y="0"/>
                  </a:lnTo>
                  <a:lnTo>
                    <a:pt x="4172966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B8873C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201009" y="3568951"/>
            <a:ext cx="2580627" cy="754971"/>
            <a:chOff x="0" y="0"/>
            <a:chExt cx="3440836" cy="100662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440832" cy="1006626"/>
            </a:xfrm>
            <a:custGeom>
              <a:avLst/>
              <a:gdLst/>
              <a:ahLst/>
              <a:cxnLst/>
              <a:rect r="r" b="b" t="t" l="l"/>
              <a:pathLst>
                <a:path h="1006626" w="3440832">
                  <a:moveTo>
                    <a:pt x="0" y="0"/>
                  </a:moveTo>
                  <a:lnTo>
                    <a:pt x="3440832" y="0"/>
                  </a:lnTo>
                  <a:lnTo>
                    <a:pt x="3440832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03" r="0" b="-1660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3440836" cy="1044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B887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04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1292449" y="4497381"/>
            <a:ext cx="2466375" cy="741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4"/>
              </a:lnSpc>
            </a:pPr>
            <a:r>
              <a:rPr lang="en-US" sz="195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Launch &amp; Optimize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1191475" y="5343887"/>
            <a:ext cx="2599687" cy="19069"/>
            <a:chOff x="0" y="0"/>
            <a:chExt cx="3466249" cy="2542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466211" cy="25400"/>
            </a:xfrm>
            <a:custGeom>
              <a:avLst/>
              <a:gdLst/>
              <a:ahLst/>
              <a:cxnLst/>
              <a:rect r="r" b="b" t="t" l="l"/>
              <a:pathLst>
                <a:path h="25400" w="3466211">
                  <a:moveTo>
                    <a:pt x="0" y="0"/>
                  </a:moveTo>
                  <a:lnTo>
                    <a:pt x="3466211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609004" r="-1" b="-2609104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65" id="65"/>
          <p:cNvSpPr txBox="true"/>
          <p:nvPr/>
        </p:nvSpPr>
        <p:spPr>
          <a:xfrm rot="0">
            <a:off x="11292449" y="5507831"/>
            <a:ext cx="2452649" cy="199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35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Campaign rollout · always-on content · community management · real-time monitoring.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4028715" y="5559323"/>
            <a:ext cx="274539" cy="411804"/>
            <a:chOff x="0" y="0"/>
            <a:chExt cx="366052" cy="54907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66046" cy="549069"/>
            </a:xfrm>
            <a:custGeom>
              <a:avLst/>
              <a:gdLst/>
              <a:ahLst/>
              <a:cxnLst/>
              <a:rect r="r" b="b" t="t" l="l"/>
              <a:pathLst>
                <a:path h="549069" w="366046">
                  <a:moveTo>
                    <a:pt x="0" y="0"/>
                  </a:moveTo>
                  <a:lnTo>
                    <a:pt x="366046" y="0"/>
                  </a:lnTo>
                  <a:lnTo>
                    <a:pt x="36604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t="0" r="-142457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366052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>
                  <a:solidFill>
                    <a:srgbClr val="B8873C"/>
                  </a:solidFill>
                  <a:latin typeface="Poppins"/>
                  <a:ea typeface="Poppins"/>
                  <a:cs typeface="Poppins"/>
                  <a:sym typeface="Poppins"/>
                </a:rPr>
                <a:t>▶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4307445" y="3216250"/>
            <a:ext cx="3148755" cy="5097951"/>
            <a:chOff x="0" y="0"/>
            <a:chExt cx="4198341" cy="679726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198366" cy="6797294"/>
            </a:xfrm>
            <a:custGeom>
              <a:avLst/>
              <a:gdLst/>
              <a:ahLst/>
              <a:cxnLst/>
              <a:rect r="r" b="b" t="t" l="l"/>
              <a:pathLst>
                <a:path h="6797294" w="4198366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4014216" y="0"/>
                  </a:lnTo>
                  <a:cubicBezTo>
                    <a:pt x="4115943" y="0"/>
                    <a:pt x="4198366" y="82423"/>
                    <a:pt x="4198366" y="184150"/>
                  </a:cubicBezTo>
                  <a:lnTo>
                    <a:pt x="4198366" y="6613144"/>
                  </a:lnTo>
                  <a:cubicBezTo>
                    <a:pt x="4198366" y="6714871"/>
                    <a:pt x="4115943" y="6797294"/>
                    <a:pt x="4014216" y="6797294"/>
                  </a:cubicBezTo>
                  <a:lnTo>
                    <a:pt x="184150" y="6797294"/>
                  </a:lnTo>
                  <a:cubicBezTo>
                    <a:pt x="82423" y="6797294"/>
                    <a:pt x="0" y="6714871"/>
                    <a:pt x="0" y="661314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4316970" y="3225784"/>
            <a:ext cx="3129696" cy="123539"/>
            <a:chOff x="0" y="0"/>
            <a:chExt cx="4172928" cy="16471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172966" cy="164719"/>
            </a:xfrm>
            <a:custGeom>
              <a:avLst/>
              <a:gdLst/>
              <a:ahLst/>
              <a:cxnLst/>
              <a:rect r="r" b="b" t="t" l="l"/>
              <a:pathLst>
                <a:path h="164719" w="4172966">
                  <a:moveTo>
                    <a:pt x="0" y="0"/>
                  </a:moveTo>
                  <a:lnTo>
                    <a:pt x="4172966" y="0"/>
                  </a:lnTo>
                  <a:lnTo>
                    <a:pt x="4172966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B8873C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4591509" y="3568951"/>
            <a:ext cx="2580627" cy="754971"/>
            <a:chOff x="0" y="0"/>
            <a:chExt cx="3440836" cy="1006627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440832" cy="1006626"/>
            </a:xfrm>
            <a:custGeom>
              <a:avLst/>
              <a:gdLst/>
              <a:ahLst/>
              <a:cxnLst/>
              <a:rect r="r" b="b" t="t" l="l"/>
              <a:pathLst>
                <a:path h="1006626" w="3440832">
                  <a:moveTo>
                    <a:pt x="0" y="0"/>
                  </a:moveTo>
                  <a:lnTo>
                    <a:pt x="3440832" y="0"/>
                  </a:lnTo>
                  <a:lnTo>
                    <a:pt x="3440832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03" r="0" b="-16603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3440836" cy="1044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B887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05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14682949" y="4497381"/>
            <a:ext cx="2466375" cy="741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4"/>
              </a:lnSpc>
            </a:pPr>
            <a:r>
              <a:rPr lang="en-US" sz="195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Review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4581975" y="5343887"/>
            <a:ext cx="2599687" cy="19069"/>
            <a:chOff x="0" y="0"/>
            <a:chExt cx="3466249" cy="2542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466211" cy="25400"/>
            </a:xfrm>
            <a:custGeom>
              <a:avLst/>
              <a:gdLst/>
              <a:ahLst/>
              <a:cxnLst/>
              <a:rect r="r" b="b" t="t" l="l"/>
              <a:pathLst>
                <a:path h="25400" w="3466211">
                  <a:moveTo>
                    <a:pt x="0" y="0"/>
                  </a:moveTo>
                  <a:lnTo>
                    <a:pt x="3466211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609004" r="-1" b="-2609104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79" id="79"/>
          <p:cNvSpPr txBox="true"/>
          <p:nvPr/>
        </p:nvSpPr>
        <p:spPr>
          <a:xfrm rot="0">
            <a:off x="14682949" y="5507831"/>
            <a:ext cx="2452649" cy="199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35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Performance reporting · listening · optimization vs KPIs · quarterly competitive tracking.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29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B8873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B887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 · APPROACH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Customer-Centric Approach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73862" y="2076155"/>
            <a:ext cx="16289188" cy="62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8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We build from the buyer inward, not the product outward — mapping the journey from first scroll to advocacy.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3284877"/>
            <a:ext cx="5441118" cy="4960687"/>
            <a:chOff x="0" y="0"/>
            <a:chExt cx="7254824" cy="66142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54875" cy="6614287"/>
            </a:xfrm>
            <a:custGeom>
              <a:avLst/>
              <a:gdLst/>
              <a:ahLst/>
              <a:cxnLst/>
              <a:rect r="r" b="b" t="t" l="l"/>
              <a:pathLst>
                <a:path h="6614287" w="7254875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7071106" y="0"/>
                  </a:lnTo>
                  <a:cubicBezTo>
                    <a:pt x="7172579" y="0"/>
                    <a:pt x="7254875" y="82296"/>
                    <a:pt x="7254875" y="183769"/>
                  </a:cubicBezTo>
                  <a:lnTo>
                    <a:pt x="7254875" y="6430518"/>
                  </a:lnTo>
                  <a:cubicBezTo>
                    <a:pt x="7254875" y="6531991"/>
                    <a:pt x="7172579" y="6614287"/>
                    <a:pt x="7071106" y="6614287"/>
                  </a:cubicBezTo>
                  <a:lnTo>
                    <a:pt x="183769" y="6614287"/>
                  </a:lnTo>
                  <a:cubicBezTo>
                    <a:pt x="82296" y="6614287"/>
                    <a:pt x="0" y="6531991"/>
                    <a:pt x="0" y="643051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66774" y="3706216"/>
            <a:ext cx="2059010" cy="466706"/>
            <a:chOff x="0" y="0"/>
            <a:chExt cx="2745346" cy="6222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45359" cy="622300"/>
            </a:xfrm>
            <a:custGeom>
              <a:avLst/>
              <a:gdLst/>
              <a:ahLst/>
              <a:cxnLst/>
              <a:rect r="r" b="b" t="t" l="l"/>
              <a:pathLst>
                <a:path h="622300" w="2745359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lnTo>
                    <a:pt x="2434209" y="0"/>
                  </a:lnTo>
                  <a:cubicBezTo>
                    <a:pt x="2606040" y="0"/>
                    <a:pt x="2745359" y="139319"/>
                    <a:pt x="2745359" y="311150"/>
                  </a:cubicBezTo>
                  <a:cubicBezTo>
                    <a:pt x="2745359" y="482981"/>
                    <a:pt x="2606040" y="622300"/>
                    <a:pt x="2434209" y="622300"/>
                  </a:cubicBezTo>
                  <a:lnTo>
                    <a:pt x="311150" y="622300"/>
                  </a:ln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66774" y="3706216"/>
            <a:ext cx="2059010" cy="466706"/>
            <a:chOff x="0" y="0"/>
            <a:chExt cx="2745346" cy="6222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45345" cy="622278"/>
            </a:xfrm>
            <a:custGeom>
              <a:avLst/>
              <a:gdLst/>
              <a:ahLst/>
              <a:cxnLst/>
              <a:rect r="r" b="b" t="t" l="l"/>
              <a:pathLst>
                <a:path h="622278" w="2745345">
                  <a:moveTo>
                    <a:pt x="0" y="0"/>
                  </a:moveTo>
                  <a:lnTo>
                    <a:pt x="2745345" y="0"/>
                  </a:lnTo>
                  <a:lnTo>
                    <a:pt x="2745345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63" r="0" b="-3596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745346" cy="6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b="true" sz="1200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PHASE 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66774" y="4392549"/>
            <a:ext cx="4735716" cy="480431"/>
            <a:chOff x="0" y="0"/>
            <a:chExt cx="6314288" cy="6405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14293" cy="640580"/>
            </a:xfrm>
            <a:custGeom>
              <a:avLst/>
              <a:gdLst/>
              <a:ahLst/>
              <a:cxnLst/>
              <a:rect r="r" b="b" t="t" l="l"/>
              <a:pathLst>
                <a:path h="640580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067" r="0" b="-14206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314288" cy="65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b="true" sz="1651" spc="150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AWARENESS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66774" y="4831804"/>
            <a:ext cx="4735716" cy="686333"/>
            <a:chOff x="0" y="0"/>
            <a:chExt cx="6314288" cy="9151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14293" cy="915115"/>
            </a:xfrm>
            <a:custGeom>
              <a:avLst/>
              <a:gdLst/>
              <a:ahLst/>
              <a:cxnLst/>
              <a:rect r="r" b="b" t="t" l="l"/>
              <a:pathLst>
                <a:path h="915115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446" r="0" b="-8444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6314288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2"/>
                </a:lnSpc>
              </a:pPr>
              <a:r>
                <a:rPr lang="en-US" sz="3002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 discovered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57240" y="5618426"/>
            <a:ext cx="4617520" cy="19069"/>
            <a:chOff x="0" y="0"/>
            <a:chExt cx="6156693" cy="2542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156706" cy="25400"/>
            </a:xfrm>
            <a:custGeom>
              <a:avLst/>
              <a:gdLst/>
              <a:ahLst/>
              <a:cxnLst/>
              <a:rect r="r" b="b" t="t" l="l"/>
              <a:pathLst>
                <a:path h="25400" w="6156706">
                  <a:moveTo>
                    <a:pt x="0" y="0"/>
                  </a:moveTo>
                  <a:lnTo>
                    <a:pt x="6156706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672918" r="0" b="-4673018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258214" y="5809821"/>
            <a:ext cx="4484208" cy="172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65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Creative, culturally-relevant content that stops the scroll and introduces each brand's distinct story.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66774" y="7481068"/>
            <a:ext cx="4667088" cy="549069"/>
            <a:chOff x="0" y="0"/>
            <a:chExt cx="6222784" cy="7320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222781" cy="732092"/>
            </a:xfrm>
            <a:custGeom>
              <a:avLst/>
              <a:gdLst/>
              <a:ahLst/>
              <a:cxnLst/>
              <a:rect r="r" b="b" t="t" l="l"/>
              <a:pathLst>
                <a:path h="732092" w="6222781">
                  <a:moveTo>
                    <a:pt x="0" y="0"/>
                  </a:moveTo>
                  <a:lnTo>
                    <a:pt x="6222781" y="0"/>
                  </a:lnTo>
                  <a:lnTo>
                    <a:pt x="6222781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6222784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 b="true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Priority:  </a:t>
              </a:r>
              <a:r>
                <a:rPr lang="en-US" sz="1501">
                  <a:solidFill>
                    <a:srgbClr val="5C6879"/>
                  </a:solidFill>
                  <a:latin typeface="Poppins"/>
                  <a:ea typeface="Poppins"/>
                  <a:cs typeface="Poppins"/>
                  <a:sym typeface="Poppins"/>
                </a:rPr>
                <a:t>Reach &amp; recognition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149569" y="5559323"/>
            <a:ext cx="384353" cy="411804"/>
            <a:chOff x="0" y="0"/>
            <a:chExt cx="512470" cy="5490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2464" cy="549069"/>
            </a:xfrm>
            <a:custGeom>
              <a:avLst/>
              <a:gdLst/>
              <a:ahLst/>
              <a:cxnLst/>
              <a:rect r="r" b="b" t="t" l="l"/>
              <a:pathLst>
                <a:path h="549069" w="512464">
                  <a:moveTo>
                    <a:pt x="0" y="0"/>
                  </a:moveTo>
                  <a:lnTo>
                    <a:pt x="512464" y="0"/>
                  </a:lnTo>
                  <a:lnTo>
                    <a:pt x="51246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468" t="0" r="-87469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512470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▶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496936" y="3284877"/>
            <a:ext cx="5441118" cy="4960687"/>
            <a:chOff x="0" y="0"/>
            <a:chExt cx="7254824" cy="661424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54875" cy="6614287"/>
            </a:xfrm>
            <a:custGeom>
              <a:avLst/>
              <a:gdLst/>
              <a:ahLst/>
              <a:cxnLst/>
              <a:rect r="r" b="b" t="t" l="l"/>
              <a:pathLst>
                <a:path h="6614287" w="7254875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7071106" y="0"/>
                  </a:lnTo>
                  <a:cubicBezTo>
                    <a:pt x="7172579" y="0"/>
                    <a:pt x="7254875" y="82296"/>
                    <a:pt x="7254875" y="183769"/>
                  </a:cubicBezTo>
                  <a:lnTo>
                    <a:pt x="7254875" y="6430518"/>
                  </a:lnTo>
                  <a:cubicBezTo>
                    <a:pt x="7254875" y="6531991"/>
                    <a:pt x="7172579" y="6614287"/>
                    <a:pt x="7071106" y="6614287"/>
                  </a:cubicBezTo>
                  <a:lnTo>
                    <a:pt x="183769" y="6614287"/>
                  </a:lnTo>
                  <a:cubicBezTo>
                    <a:pt x="82296" y="6614287"/>
                    <a:pt x="0" y="6531991"/>
                    <a:pt x="0" y="643051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918265" y="3706216"/>
            <a:ext cx="2059010" cy="466706"/>
            <a:chOff x="0" y="0"/>
            <a:chExt cx="2745346" cy="62227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745359" cy="622300"/>
            </a:xfrm>
            <a:custGeom>
              <a:avLst/>
              <a:gdLst/>
              <a:ahLst/>
              <a:cxnLst/>
              <a:rect r="r" b="b" t="t" l="l"/>
              <a:pathLst>
                <a:path h="622300" w="2745359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lnTo>
                    <a:pt x="2434209" y="0"/>
                  </a:lnTo>
                  <a:cubicBezTo>
                    <a:pt x="2606040" y="0"/>
                    <a:pt x="2745359" y="139319"/>
                    <a:pt x="2745359" y="311150"/>
                  </a:cubicBezTo>
                  <a:cubicBezTo>
                    <a:pt x="2745359" y="482981"/>
                    <a:pt x="2606040" y="622300"/>
                    <a:pt x="2434209" y="622300"/>
                  </a:cubicBezTo>
                  <a:lnTo>
                    <a:pt x="311150" y="622300"/>
                  </a:ln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918265" y="3706216"/>
            <a:ext cx="2059010" cy="466706"/>
            <a:chOff x="0" y="0"/>
            <a:chExt cx="2745346" cy="62227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745345" cy="622278"/>
            </a:xfrm>
            <a:custGeom>
              <a:avLst/>
              <a:gdLst/>
              <a:ahLst/>
              <a:cxnLst/>
              <a:rect r="r" b="b" t="t" l="l"/>
              <a:pathLst>
                <a:path h="622278" w="2745345">
                  <a:moveTo>
                    <a:pt x="0" y="0"/>
                  </a:moveTo>
                  <a:lnTo>
                    <a:pt x="2745345" y="0"/>
                  </a:lnTo>
                  <a:lnTo>
                    <a:pt x="2745345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63" r="0" b="-3596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2745346" cy="6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b="true" sz="1200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PHASE 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918265" y="4392549"/>
            <a:ext cx="4735716" cy="480431"/>
            <a:chOff x="0" y="0"/>
            <a:chExt cx="6314288" cy="6405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314293" cy="640580"/>
            </a:xfrm>
            <a:custGeom>
              <a:avLst/>
              <a:gdLst/>
              <a:ahLst/>
              <a:cxnLst/>
              <a:rect r="r" b="b" t="t" l="l"/>
              <a:pathLst>
                <a:path h="640580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067" r="0" b="-14206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6314288" cy="65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b="true" sz="1651" spc="150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CONSIDERATION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918265" y="4831804"/>
            <a:ext cx="4735716" cy="686333"/>
            <a:chOff x="0" y="0"/>
            <a:chExt cx="6314288" cy="9151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314293" cy="915115"/>
            </a:xfrm>
            <a:custGeom>
              <a:avLst/>
              <a:gdLst/>
              <a:ahLst/>
              <a:cxnLst/>
              <a:rect r="r" b="b" t="t" l="l"/>
              <a:pathLst>
                <a:path h="915115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446" r="0" b="-8444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6314288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2"/>
                </a:lnSpc>
              </a:pPr>
              <a:r>
                <a:rPr lang="en-US" sz="3002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 chosen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908740" y="5618426"/>
            <a:ext cx="4617520" cy="19069"/>
            <a:chOff x="0" y="0"/>
            <a:chExt cx="6156693" cy="2542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156706" cy="25400"/>
            </a:xfrm>
            <a:custGeom>
              <a:avLst/>
              <a:gdLst/>
              <a:ahLst/>
              <a:cxnLst/>
              <a:rect r="r" b="b" t="t" l="l"/>
              <a:pathLst>
                <a:path h="25400" w="6156706">
                  <a:moveTo>
                    <a:pt x="0" y="0"/>
                  </a:moveTo>
                  <a:lnTo>
                    <a:pt x="6156706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672918" r="0" b="-4673018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7009705" y="5809821"/>
            <a:ext cx="4484208" cy="172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65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Guide the interested buyer from content to showroom — product deep-dives, comparisons, trust-building on weak spots.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6918265" y="7481068"/>
            <a:ext cx="4667088" cy="549069"/>
            <a:chOff x="0" y="0"/>
            <a:chExt cx="6222784" cy="7320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222781" cy="732092"/>
            </a:xfrm>
            <a:custGeom>
              <a:avLst/>
              <a:gdLst/>
              <a:ahLst/>
              <a:cxnLst/>
              <a:rect r="r" b="b" t="t" l="l"/>
              <a:pathLst>
                <a:path h="732092" w="6222781">
                  <a:moveTo>
                    <a:pt x="0" y="0"/>
                  </a:moveTo>
                  <a:lnTo>
                    <a:pt x="6222781" y="0"/>
                  </a:lnTo>
                  <a:lnTo>
                    <a:pt x="6222781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6222784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 b="true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Priority:  </a:t>
              </a:r>
              <a:r>
                <a:rPr lang="en-US" sz="1501">
                  <a:solidFill>
                    <a:srgbClr val="5C6879"/>
                  </a:solidFill>
                  <a:latin typeface="Poppins"/>
                  <a:ea typeface="Poppins"/>
                  <a:cs typeface="Poppins"/>
                  <a:sym typeface="Poppins"/>
                </a:rPr>
                <a:t>Leads &amp; conversion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901068" y="5559323"/>
            <a:ext cx="384353" cy="411804"/>
            <a:chOff x="0" y="0"/>
            <a:chExt cx="512470" cy="54907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12464" cy="549069"/>
            </a:xfrm>
            <a:custGeom>
              <a:avLst/>
              <a:gdLst/>
              <a:ahLst/>
              <a:cxnLst/>
              <a:rect r="r" b="b" t="t" l="l"/>
              <a:pathLst>
                <a:path h="549069" w="512464">
                  <a:moveTo>
                    <a:pt x="0" y="0"/>
                  </a:moveTo>
                  <a:lnTo>
                    <a:pt x="512464" y="0"/>
                  </a:lnTo>
                  <a:lnTo>
                    <a:pt x="51246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468" t="0" r="-87469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512470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▶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248436" y="3284877"/>
            <a:ext cx="5441118" cy="4960687"/>
            <a:chOff x="0" y="0"/>
            <a:chExt cx="7254824" cy="661424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254875" cy="6614287"/>
            </a:xfrm>
            <a:custGeom>
              <a:avLst/>
              <a:gdLst/>
              <a:ahLst/>
              <a:cxnLst/>
              <a:rect r="r" b="b" t="t" l="l"/>
              <a:pathLst>
                <a:path h="6614287" w="7254875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7071106" y="0"/>
                  </a:lnTo>
                  <a:cubicBezTo>
                    <a:pt x="7172579" y="0"/>
                    <a:pt x="7254875" y="82296"/>
                    <a:pt x="7254875" y="183769"/>
                  </a:cubicBezTo>
                  <a:lnTo>
                    <a:pt x="7254875" y="6430518"/>
                  </a:lnTo>
                  <a:cubicBezTo>
                    <a:pt x="7254875" y="6531991"/>
                    <a:pt x="7172579" y="6614287"/>
                    <a:pt x="7071106" y="6614287"/>
                  </a:cubicBezTo>
                  <a:lnTo>
                    <a:pt x="183769" y="6614287"/>
                  </a:lnTo>
                  <a:cubicBezTo>
                    <a:pt x="82296" y="6614287"/>
                    <a:pt x="0" y="6531991"/>
                    <a:pt x="0" y="643051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2669764" y="3706216"/>
            <a:ext cx="2059010" cy="466706"/>
            <a:chOff x="0" y="0"/>
            <a:chExt cx="2745346" cy="62227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745359" cy="622300"/>
            </a:xfrm>
            <a:custGeom>
              <a:avLst/>
              <a:gdLst/>
              <a:ahLst/>
              <a:cxnLst/>
              <a:rect r="r" b="b" t="t" l="l"/>
              <a:pathLst>
                <a:path h="622300" w="2745359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lnTo>
                    <a:pt x="2434209" y="0"/>
                  </a:lnTo>
                  <a:cubicBezTo>
                    <a:pt x="2606040" y="0"/>
                    <a:pt x="2745359" y="139319"/>
                    <a:pt x="2745359" y="311150"/>
                  </a:cubicBezTo>
                  <a:cubicBezTo>
                    <a:pt x="2745359" y="482981"/>
                    <a:pt x="2606040" y="622300"/>
                    <a:pt x="2434209" y="622300"/>
                  </a:cubicBezTo>
                  <a:lnTo>
                    <a:pt x="311150" y="622300"/>
                  </a:ln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B8873C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2669764" y="3706216"/>
            <a:ext cx="2059010" cy="466706"/>
            <a:chOff x="0" y="0"/>
            <a:chExt cx="2745346" cy="62227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745345" cy="622278"/>
            </a:xfrm>
            <a:custGeom>
              <a:avLst/>
              <a:gdLst/>
              <a:ahLst/>
              <a:cxnLst/>
              <a:rect r="r" b="b" t="t" l="l"/>
              <a:pathLst>
                <a:path h="622278" w="2745345">
                  <a:moveTo>
                    <a:pt x="0" y="0"/>
                  </a:moveTo>
                  <a:lnTo>
                    <a:pt x="2745345" y="0"/>
                  </a:lnTo>
                  <a:lnTo>
                    <a:pt x="2745345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63" r="0" b="-3596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2745346" cy="6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b="true" sz="1200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PHASE 3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669764" y="4392549"/>
            <a:ext cx="4735716" cy="480431"/>
            <a:chOff x="0" y="0"/>
            <a:chExt cx="6314288" cy="64057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314293" cy="640580"/>
            </a:xfrm>
            <a:custGeom>
              <a:avLst/>
              <a:gdLst/>
              <a:ahLst/>
              <a:cxnLst/>
              <a:rect r="r" b="b" t="t" l="l"/>
              <a:pathLst>
                <a:path h="640580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067" r="0" b="-142066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6314288" cy="65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b="true" sz="1651" spc="150">
                  <a:solidFill>
                    <a:srgbClr val="B887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ADVOCACY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669764" y="4831804"/>
            <a:ext cx="4735716" cy="686333"/>
            <a:chOff x="0" y="0"/>
            <a:chExt cx="6314288" cy="91511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314293" cy="915115"/>
            </a:xfrm>
            <a:custGeom>
              <a:avLst/>
              <a:gdLst/>
              <a:ahLst/>
              <a:cxnLst/>
              <a:rect r="r" b="b" t="t" l="l"/>
              <a:pathLst>
                <a:path h="915115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446" r="0" b="-8444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6314288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2"/>
                </a:lnSpc>
              </a:pPr>
              <a:r>
                <a:rPr lang="en-US" sz="3002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 trusted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660230" y="5618426"/>
            <a:ext cx="4617520" cy="19069"/>
            <a:chOff x="0" y="0"/>
            <a:chExt cx="6156693" cy="2542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156706" cy="25400"/>
            </a:xfrm>
            <a:custGeom>
              <a:avLst/>
              <a:gdLst/>
              <a:ahLst/>
              <a:cxnLst/>
              <a:rect r="r" b="b" t="t" l="l"/>
              <a:pathLst>
                <a:path h="25400" w="6156706">
                  <a:moveTo>
                    <a:pt x="0" y="0"/>
                  </a:moveTo>
                  <a:lnTo>
                    <a:pt x="6156706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672918" r="0" b="-4673018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71" id="71"/>
          <p:cNvSpPr txBox="true"/>
          <p:nvPr/>
        </p:nvSpPr>
        <p:spPr>
          <a:xfrm rot="0">
            <a:off x="12761204" y="5809821"/>
            <a:ext cx="4484208" cy="172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65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Turn owners into voices — UGC, real off-road &amp; family stories, community programmes — closing the trust gap.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2669764" y="7481068"/>
            <a:ext cx="4667088" cy="549069"/>
            <a:chOff x="0" y="0"/>
            <a:chExt cx="6222784" cy="73209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222781" cy="732092"/>
            </a:xfrm>
            <a:custGeom>
              <a:avLst/>
              <a:gdLst/>
              <a:ahLst/>
              <a:cxnLst/>
              <a:rect r="r" b="b" t="t" l="l"/>
              <a:pathLst>
                <a:path h="732092" w="6222781">
                  <a:moveTo>
                    <a:pt x="0" y="0"/>
                  </a:moveTo>
                  <a:lnTo>
                    <a:pt x="6222781" y="0"/>
                  </a:lnTo>
                  <a:lnTo>
                    <a:pt x="6222781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6222784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 b="true">
                  <a:solidFill>
                    <a:srgbClr val="B887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Priority:  </a:t>
              </a:r>
              <a:r>
                <a:rPr lang="en-US" sz="1501">
                  <a:solidFill>
                    <a:srgbClr val="5C6879"/>
                  </a:solidFill>
                  <a:latin typeface="Poppins"/>
                  <a:ea typeface="Poppins"/>
                  <a:cs typeface="Poppins"/>
                  <a:sym typeface="Poppins"/>
                </a:rPr>
                <a:t>Word-of-mouth &amp; sentiment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30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B8873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B887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 · APPROACH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Communication Intensity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73862" y="2076155"/>
            <a:ext cx="16289188" cy="62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8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Not every message carries the same weight. We calibrate intensity across three levels through the year.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3284877"/>
            <a:ext cx="16806853" cy="1666275"/>
            <a:chOff x="0" y="0"/>
            <a:chExt cx="22409137" cy="22217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409150" cy="2221738"/>
            </a:xfrm>
            <a:custGeom>
              <a:avLst/>
              <a:gdLst/>
              <a:ahLst/>
              <a:cxnLst/>
              <a:rect r="r" b="b" t="t" l="l"/>
              <a:pathLst>
                <a:path h="2221738" w="22409150">
                  <a:moveTo>
                    <a:pt x="0" y="185166"/>
                  </a:moveTo>
                  <a:cubicBezTo>
                    <a:pt x="0" y="82931"/>
                    <a:pt x="82931" y="0"/>
                    <a:pt x="185166" y="0"/>
                  </a:cubicBezTo>
                  <a:lnTo>
                    <a:pt x="22223985" y="0"/>
                  </a:lnTo>
                  <a:cubicBezTo>
                    <a:pt x="22326220" y="0"/>
                    <a:pt x="22409150" y="82931"/>
                    <a:pt x="22409150" y="185166"/>
                  </a:cubicBezTo>
                  <a:lnTo>
                    <a:pt x="22409150" y="2036572"/>
                  </a:lnTo>
                  <a:cubicBezTo>
                    <a:pt x="22409150" y="2138807"/>
                    <a:pt x="22326220" y="2221738"/>
                    <a:pt x="22223985" y="2221738"/>
                  </a:cubicBezTo>
                  <a:lnTo>
                    <a:pt x="185166" y="2221738"/>
                  </a:lnTo>
                  <a:cubicBezTo>
                    <a:pt x="82931" y="2221738"/>
                    <a:pt x="0" y="2138807"/>
                    <a:pt x="0" y="203657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54971" y="3294412"/>
            <a:ext cx="4063108" cy="164725"/>
            <a:chOff x="0" y="0"/>
            <a:chExt cx="5417477" cy="2196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17439" cy="219583"/>
            </a:xfrm>
            <a:custGeom>
              <a:avLst/>
              <a:gdLst/>
              <a:ahLst/>
              <a:cxnLst/>
              <a:rect r="r" b="b" t="t" l="l"/>
              <a:pathLst>
                <a:path h="219583" w="5417439">
                  <a:moveTo>
                    <a:pt x="0" y="0"/>
                  </a:moveTo>
                  <a:lnTo>
                    <a:pt x="5417439" y="0"/>
                  </a:lnTo>
                  <a:lnTo>
                    <a:pt x="5417439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B8873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04039" y="3623853"/>
            <a:ext cx="3019882" cy="1098137"/>
            <a:chOff x="0" y="0"/>
            <a:chExt cx="4026510" cy="14641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26506" cy="1464184"/>
            </a:xfrm>
            <a:custGeom>
              <a:avLst/>
              <a:gdLst/>
              <a:ahLst/>
              <a:cxnLst/>
              <a:rect r="r" b="b" t="t" l="l"/>
              <a:pathLst>
                <a:path h="1464184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3" r="0" b="-358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026510" cy="15022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B887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SHOUT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4483989" y="3705435"/>
            <a:ext cx="3386071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Campaign spikes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483989" y="4227052"/>
            <a:ext cx="3866502" cy="61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High-impact, shareable brand moments and launches.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785108" y="3706216"/>
            <a:ext cx="3980755" cy="1098137"/>
            <a:chOff x="0" y="0"/>
            <a:chExt cx="5307673" cy="146418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07667" cy="1464184"/>
            </a:xfrm>
            <a:custGeom>
              <a:avLst/>
              <a:gdLst/>
              <a:ahLst/>
              <a:cxnLst/>
              <a:rect r="r" b="b" t="t" l="l"/>
              <a:pathLst>
                <a:path h="1464184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33" r="0" b="-2063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5307673" cy="1492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6"/>
                </a:lnSpc>
              </a:pPr>
              <a:r>
                <a:rPr lang="en-US" b="true" sz="1125" spc="225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PILLAR</a:t>
              </a:r>
            </a:p>
            <a:p>
              <a:pPr algn="l">
                <a:lnSpc>
                  <a:spcPts val="2179"/>
                </a:lnSpc>
              </a:pPr>
              <a:r>
                <a:rPr lang="en-US" b="true" sz="1651" spc="330">
                  <a:solidFill>
                    <a:srgbClr val="B887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Campaigns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040392" y="3706216"/>
            <a:ext cx="4255284" cy="1098137"/>
            <a:chOff x="0" y="0"/>
            <a:chExt cx="5673712" cy="146418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673713" cy="1464184"/>
            </a:xfrm>
            <a:custGeom>
              <a:avLst/>
              <a:gdLst/>
              <a:ahLst/>
              <a:cxnLst/>
              <a:rect r="r" b="b" t="t" l="l"/>
              <a:pathLst>
                <a:path h="1464184" w="5673713">
                  <a:moveTo>
                    <a:pt x="0" y="0"/>
                  </a:moveTo>
                  <a:lnTo>
                    <a:pt x="5673713" y="0"/>
                  </a:lnTo>
                  <a:lnTo>
                    <a:pt x="5673713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5673712" cy="1483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01" i="true">
                  <a:solidFill>
                    <a:srgbClr val="5C6879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e.g. a 212 heritage film, a Bestune trust campaign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45436" y="5137985"/>
            <a:ext cx="16806853" cy="1666275"/>
            <a:chOff x="0" y="0"/>
            <a:chExt cx="22409137" cy="22217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409150" cy="2221738"/>
            </a:xfrm>
            <a:custGeom>
              <a:avLst/>
              <a:gdLst/>
              <a:ahLst/>
              <a:cxnLst/>
              <a:rect r="r" b="b" t="t" l="l"/>
              <a:pathLst>
                <a:path h="2221738" w="22409150">
                  <a:moveTo>
                    <a:pt x="0" y="185166"/>
                  </a:moveTo>
                  <a:cubicBezTo>
                    <a:pt x="0" y="82931"/>
                    <a:pt x="82931" y="0"/>
                    <a:pt x="185166" y="0"/>
                  </a:cubicBezTo>
                  <a:lnTo>
                    <a:pt x="22223985" y="0"/>
                  </a:lnTo>
                  <a:cubicBezTo>
                    <a:pt x="22326220" y="0"/>
                    <a:pt x="22409150" y="82931"/>
                    <a:pt x="22409150" y="185166"/>
                  </a:cubicBezTo>
                  <a:lnTo>
                    <a:pt x="22409150" y="2036572"/>
                  </a:lnTo>
                  <a:cubicBezTo>
                    <a:pt x="22409150" y="2138807"/>
                    <a:pt x="22326220" y="2221738"/>
                    <a:pt x="22223985" y="2221738"/>
                  </a:cubicBezTo>
                  <a:lnTo>
                    <a:pt x="185166" y="2221738"/>
                  </a:lnTo>
                  <a:cubicBezTo>
                    <a:pt x="82931" y="2221738"/>
                    <a:pt x="0" y="2138807"/>
                    <a:pt x="0" y="203657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754971" y="5147520"/>
            <a:ext cx="2602582" cy="164725"/>
            <a:chOff x="0" y="0"/>
            <a:chExt cx="3470110" cy="21963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70148" cy="219583"/>
            </a:xfrm>
            <a:custGeom>
              <a:avLst/>
              <a:gdLst/>
              <a:ahLst/>
              <a:cxnLst/>
              <a:rect r="r" b="b" t="t" l="l"/>
              <a:pathLst>
                <a:path h="219583" w="3470148">
                  <a:moveTo>
                    <a:pt x="0" y="0"/>
                  </a:moveTo>
                  <a:lnTo>
                    <a:pt x="3470148" y="0"/>
                  </a:lnTo>
                  <a:lnTo>
                    <a:pt x="3470148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C9A87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04039" y="5476961"/>
            <a:ext cx="3019882" cy="1098137"/>
            <a:chOff x="0" y="0"/>
            <a:chExt cx="4026510" cy="14641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026506" cy="1464184"/>
            </a:xfrm>
            <a:custGeom>
              <a:avLst/>
              <a:gdLst/>
              <a:ahLst/>
              <a:cxnLst/>
              <a:rect r="r" b="b" t="t" l="l"/>
              <a:pathLst>
                <a:path h="1464184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3" r="0" b="-358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026510" cy="15022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C9A87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SING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4483989" y="5558542"/>
            <a:ext cx="3386071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Sustained engagement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483989" y="6080160"/>
            <a:ext cx="3866502" cy="61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Interim content and activations that hold attention between spikes.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785108" y="5559323"/>
            <a:ext cx="3980755" cy="1098137"/>
            <a:chOff x="0" y="0"/>
            <a:chExt cx="5307673" cy="146418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07667" cy="1464184"/>
            </a:xfrm>
            <a:custGeom>
              <a:avLst/>
              <a:gdLst/>
              <a:ahLst/>
              <a:cxnLst/>
              <a:rect r="r" b="b" t="t" l="l"/>
              <a:pathLst>
                <a:path h="1464184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33" r="0" b="-2063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5307673" cy="1492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6"/>
                </a:lnSpc>
              </a:pPr>
              <a:r>
                <a:rPr lang="en-US" b="true" sz="1125" spc="225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PILLAR</a:t>
              </a:r>
            </a:p>
            <a:p>
              <a:pPr algn="l">
                <a:lnSpc>
                  <a:spcPts val="2179"/>
                </a:lnSpc>
              </a:pPr>
              <a:r>
                <a:rPr lang="en-US" b="true" sz="1651" spc="330">
                  <a:solidFill>
                    <a:srgbClr val="C9A87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Engagement &amp; activations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040392" y="5559323"/>
            <a:ext cx="4255284" cy="1098137"/>
            <a:chOff x="0" y="0"/>
            <a:chExt cx="5673712" cy="146418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673713" cy="1464184"/>
            </a:xfrm>
            <a:custGeom>
              <a:avLst/>
              <a:gdLst/>
              <a:ahLst/>
              <a:cxnLst/>
              <a:rect r="r" b="b" t="t" l="l"/>
              <a:pathLst>
                <a:path h="1464184" w="5673713">
                  <a:moveTo>
                    <a:pt x="0" y="0"/>
                  </a:moveTo>
                  <a:lnTo>
                    <a:pt x="5673713" y="0"/>
                  </a:lnTo>
                  <a:lnTo>
                    <a:pt x="5673713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5673712" cy="1483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01" i="true">
                  <a:solidFill>
                    <a:srgbClr val="5C6879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e.g. Motor Souq comparison series, owner Q&amp;As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45436" y="6991093"/>
            <a:ext cx="16806853" cy="1666275"/>
            <a:chOff x="0" y="0"/>
            <a:chExt cx="22409137" cy="22217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409150" cy="2221738"/>
            </a:xfrm>
            <a:custGeom>
              <a:avLst/>
              <a:gdLst/>
              <a:ahLst/>
              <a:cxnLst/>
              <a:rect r="r" b="b" t="t" l="l"/>
              <a:pathLst>
                <a:path h="2221738" w="22409150">
                  <a:moveTo>
                    <a:pt x="0" y="185166"/>
                  </a:moveTo>
                  <a:cubicBezTo>
                    <a:pt x="0" y="82931"/>
                    <a:pt x="82931" y="0"/>
                    <a:pt x="185166" y="0"/>
                  </a:cubicBezTo>
                  <a:lnTo>
                    <a:pt x="22223985" y="0"/>
                  </a:lnTo>
                  <a:cubicBezTo>
                    <a:pt x="22326220" y="0"/>
                    <a:pt x="22409150" y="82931"/>
                    <a:pt x="22409150" y="185166"/>
                  </a:cubicBezTo>
                  <a:lnTo>
                    <a:pt x="22409150" y="2036572"/>
                  </a:lnTo>
                  <a:cubicBezTo>
                    <a:pt x="22409150" y="2138807"/>
                    <a:pt x="22326220" y="2221738"/>
                    <a:pt x="22223985" y="2221738"/>
                  </a:cubicBezTo>
                  <a:lnTo>
                    <a:pt x="185166" y="2221738"/>
                  </a:lnTo>
                  <a:cubicBezTo>
                    <a:pt x="82931" y="2221738"/>
                    <a:pt x="0" y="2138807"/>
                    <a:pt x="0" y="203657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754971" y="7000627"/>
            <a:ext cx="1449543" cy="164725"/>
            <a:chOff x="0" y="0"/>
            <a:chExt cx="1932724" cy="21963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32686" cy="219583"/>
            </a:xfrm>
            <a:custGeom>
              <a:avLst/>
              <a:gdLst/>
              <a:ahLst/>
              <a:cxnLst/>
              <a:rect r="r" b="b" t="t" l="l"/>
              <a:pathLst>
                <a:path h="219583" w="1932686">
                  <a:moveTo>
                    <a:pt x="0" y="0"/>
                  </a:moveTo>
                  <a:lnTo>
                    <a:pt x="1932686" y="0"/>
                  </a:lnTo>
                  <a:lnTo>
                    <a:pt x="1932686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CC9A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04039" y="7330069"/>
            <a:ext cx="3019882" cy="1098137"/>
            <a:chOff x="0" y="0"/>
            <a:chExt cx="4026510" cy="146418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026506" cy="1464184"/>
            </a:xfrm>
            <a:custGeom>
              <a:avLst/>
              <a:gdLst/>
              <a:ahLst/>
              <a:cxnLst/>
              <a:rect r="r" b="b" t="t" l="l"/>
              <a:pathLst>
                <a:path h="1464184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3" r="0" b="-358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4026510" cy="15022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DCC9A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HUM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4483989" y="7411650"/>
            <a:ext cx="3386071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Always-on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483989" y="7933268"/>
            <a:ext cx="3866502" cy="61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Steady, everyday content that keeps each brand front-of-mind.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8785108" y="7412431"/>
            <a:ext cx="3980755" cy="1098137"/>
            <a:chOff x="0" y="0"/>
            <a:chExt cx="5307673" cy="146418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307667" cy="1464184"/>
            </a:xfrm>
            <a:custGeom>
              <a:avLst/>
              <a:gdLst/>
              <a:ahLst/>
              <a:cxnLst/>
              <a:rect r="r" b="b" t="t" l="l"/>
              <a:pathLst>
                <a:path h="1464184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33" r="0" b="-2063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5307673" cy="1492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6"/>
                </a:lnSpc>
              </a:pPr>
              <a:r>
                <a:rPr lang="en-US" b="true" sz="1125" spc="225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PILLAR</a:t>
              </a:r>
            </a:p>
            <a:p>
              <a:pPr algn="l">
                <a:lnSpc>
                  <a:spcPts val="2179"/>
                </a:lnSpc>
              </a:pPr>
              <a:r>
                <a:rPr lang="en-US" b="true" sz="1651" spc="330">
                  <a:solidFill>
                    <a:srgbClr val="DCC9A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Always-on content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040392" y="7412431"/>
            <a:ext cx="4255284" cy="1098137"/>
            <a:chOff x="0" y="0"/>
            <a:chExt cx="5673712" cy="146418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673713" cy="1464184"/>
            </a:xfrm>
            <a:custGeom>
              <a:avLst/>
              <a:gdLst/>
              <a:ahLst/>
              <a:cxnLst/>
              <a:rect r="r" b="b" t="t" l="l"/>
              <a:pathLst>
                <a:path h="1464184" w="5673713">
                  <a:moveTo>
                    <a:pt x="0" y="0"/>
                  </a:moveTo>
                  <a:lnTo>
                    <a:pt x="5673713" y="0"/>
                  </a:lnTo>
                  <a:lnTo>
                    <a:pt x="5673713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5673712" cy="1483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01" i="true">
                  <a:solidFill>
                    <a:srgbClr val="5C6879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e.g. tips, product, community reposts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31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B8873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B887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 · APPROACH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One Model, Three Priorities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5436" y="2941711"/>
            <a:ext cx="16806853" cy="1652549"/>
            <a:chOff x="0" y="0"/>
            <a:chExt cx="22409137" cy="22033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09150" cy="2203450"/>
            </a:xfrm>
            <a:custGeom>
              <a:avLst/>
              <a:gdLst/>
              <a:ahLst/>
              <a:cxnLst/>
              <a:rect r="r" b="b" t="t" l="l"/>
              <a:pathLst>
                <a:path h="2203450" w="22409150">
                  <a:moveTo>
                    <a:pt x="0" y="185166"/>
                  </a:moveTo>
                  <a:cubicBezTo>
                    <a:pt x="0" y="82931"/>
                    <a:pt x="82931" y="0"/>
                    <a:pt x="185166" y="0"/>
                  </a:cubicBezTo>
                  <a:lnTo>
                    <a:pt x="22223985" y="0"/>
                  </a:lnTo>
                  <a:cubicBezTo>
                    <a:pt x="22326220" y="0"/>
                    <a:pt x="22409150" y="82931"/>
                    <a:pt x="22409150" y="185166"/>
                  </a:cubicBezTo>
                  <a:lnTo>
                    <a:pt x="22409150" y="2018284"/>
                  </a:lnTo>
                  <a:cubicBezTo>
                    <a:pt x="22409150" y="2120519"/>
                    <a:pt x="22326220" y="2203450"/>
                    <a:pt x="22223985" y="2203450"/>
                  </a:cubicBezTo>
                  <a:lnTo>
                    <a:pt x="185166" y="2203450"/>
                  </a:lnTo>
                  <a:cubicBezTo>
                    <a:pt x="82931" y="2203450"/>
                    <a:pt x="0" y="2120519"/>
                    <a:pt x="0" y="201828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54971" y="2951245"/>
            <a:ext cx="178451" cy="1633480"/>
            <a:chOff x="0" y="0"/>
            <a:chExt cx="237934" cy="21779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7871" cy="2177923"/>
            </a:xfrm>
            <a:custGeom>
              <a:avLst/>
              <a:gdLst/>
              <a:ahLst/>
              <a:cxnLst/>
              <a:rect r="r" b="b" t="t" l="l"/>
              <a:pathLst>
                <a:path h="2177923" w="237871">
                  <a:moveTo>
                    <a:pt x="0" y="0"/>
                  </a:moveTo>
                  <a:lnTo>
                    <a:pt x="237871" y="0"/>
                  </a:lnTo>
                  <a:lnTo>
                    <a:pt x="237871" y="2177923"/>
                  </a:lnTo>
                  <a:lnTo>
                    <a:pt x="0" y="2177923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35402" y="2951245"/>
            <a:ext cx="3706216" cy="1633480"/>
            <a:chOff x="0" y="0"/>
            <a:chExt cx="4941621" cy="21779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41620" cy="2177974"/>
            </a:xfrm>
            <a:custGeom>
              <a:avLst/>
              <a:gdLst/>
              <a:ahLst/>
              <a:cxnLst/>
              <a:rect r="r" b="b" t="t" l="l"/>
              <a:pathLst>
                <a:path h="2177974" w="4941620">
                  <a:moveTo>
                    <a:pt x="0" y="0"/>
                  </a:moveTo>
                  <a:lnTo>
                    <a:pt x="4941620" y="0"/>
                  </a:lnTo>
                  <a:lnTo>
                    <a:pt x="4941620" y="2177974"/>
                  </a:lnTo>
                  <a:lnTo>
                    <a:pt x="0" y="21779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48" t="0" r="-6548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941621" cy="22160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Bestune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216157" y="3225784"/>
            <a:ext cx="4804353" cy="1098137"/>
            <a:chOff x="0" y="0"/>
            <a:chExt cx="6405804" cy="146418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05805" cy="1464184"/>
            </a:xfrm>
            <a:custGeom>
              <a:avLst/>
              <a:gdLst/>
              <a:ahLst/>
              <a:cxnLst/>
              <a:rect r="r" b="b" t="t" l="l"/>
              <a:pathLst>
                <a:path h="1464184" w="6405805">
                  <a:moveTo>
                    <a:pt x="0" y="0"/>
                  </a:moveTo>
                  <a:lnTo>
                    <a:pt x="6405805" y="0"/>
                  </a:lnTo>
                  <a:lnTo>
                    <a:pt x="6405805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6405804" cy="1492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57"/>
                </a:lnSpc>
              </a:pPr>
              <a:r>
                <a:rPr lang="en-US" b="true" sz="1200" spc="225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AWARENESS</a:t>
              </a:r>
            </a:p>
            <a:p>
              <a:pPr algn="l">
                <a:lnSpc>
                  <a:spcPts val="2693"/>
                </a:lnSpc>
              </a:pPr>
              <a:r>
                <a:rPr lang="en-US" b="true" sz="1951" spc="365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Family trust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95039" y="3225784"/>
            <a:ext cx="6863363" cy="1098137"/>
            <a:chOff x="0" y="0"/>
            <a:chExt cx="9151150" cy="146418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51149" cy="1464184"/>
            </a:xfrm>
            <a:custGeom>
              <a:avLst/>
              <a:gdLst/>
              <a:ahLst/>
              <a:cxnLst/>
              <a:rect r="r" b="b" t="t" l="l"/>
              <a:pathLst>
                <a:path h="1464184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9151150" cy="1492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57"/>
                </a:lnSpc>
              </a:pPr>
              <a:r>
                <a:rPr lang="en-US" b="true" sz="1200" spc="225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PRIORITY</a:t>
              </a:r>
            </a:p>
            <a:p>
              <a:pPr algn="l">
                <a:lnSpc>
                  <a:spcPts val="2485"/>
                </a:lnSpc>
              </a:pPr>
              <a:r>
                <a:rPr lang="en-US" sz="1801" spc="337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Justify the premium, own reliability.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45436" y="4794818"/>
            <a:ext cx="16806853" cy="1652549"/>
            <a:chOff x="0" y="0"/>
            <a:chExt cx="22409137" cy="220339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409150" cy="2203450"/>
            </a:xfrm>
            <a:custGeom>
              <a:avLst/>
              <a:gdLst/>
              <a:ahLst/>
              <a:cxnLst/>
              <a:rect r="r" b="b" t="t" l="l"/>
              <a:pathLst>
                <a:path h="2203450" w="22409150">
                  <a:moveTo>
                    <a:pt x="0" y="185166"/>
                  </a:moveTo>
                  <a:cubicBezTo>
                    <a:pt x="0" y="82931"/>
                    <a:pt x="82931" y="0"/>
                    <a:pt x="185166" y="0"/>
                  </a:cubicBezTo>
                  <a:lnTo>
                    <a:pt x="22223985" y="0"/>
                  </a:lnTo>
                  <a:cubicBezTo>
                    <a:pt x="22326220" y="0"/>
                    <a:pt x="22409150" y="82931"/>
                    <a:pt x="22409150" y="185166"/>
                  </a:cubicBezTo>
                  <a:lnTo>
                    <a:pt x="22409150" y="2018284"/>
                  </a:lnTo>
                  <a:cubicBezTo>
                    <a:pt x="22409150" y="2120519"/>
                    <a:pt x="22326220" y="2203450"/>
                    <a:pt x="22223985" y="2203450"/>
                  </a:cubicBezTo>
                  <a:lnTo>
                    <a:pt x="185166" y="2203450"/>
                  </a:lnTo>
                  <a:cubicBezTo>
                    <a:pt x="82931" y="2203450"/>
                    <a:pt x="0" y="2120519"/>
                    <a:pt x="0" y="201828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4804353"/>
            <a:ext cx="178451" cy="1633480"/>
            <a:chOff x="0" y="0"/>
            <a:chExt cx="237934" cy="217797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7871" cy="2177923"/>
            </a:xfrm>
            <a:custGeom>
              <a:avLst/>
              <a:gdLst/>
              <a:ahLst/>
              <a:cxnLst/>
              <a:rect r="r" b="b" t="t" l="l"/>
              <a:pathLst>
                <a:path h="2177923" w="237871">
                  <a:moveTo>
                    <a:pt x="0" y="0"/>
                  </a:moveTo>
                  <a:lnTo>
                    <a:pt x="237871" y="0"/>
                  </a:lnTo>
                  <a:lnTo>
                    <a:pt x="237871" y="2177923"/>
                  </a:lnTo>
                  <a:lnTo>
                    <a:pt x="0" y="2177923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35402" y="4804353"/>
            <a:ext cx="3706216" cy="1633480"/>
            <a:chOff x="0" y="0"/>
            <a:chExt cx="4941621" cy="217797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41620" cy="2177974"/>
            </a:xfrm>
            <a:custGeom>
              <a:avLst/>
              <a:gdLst/>
              <a:ahLst/>
              <a:cxnLst/>
              <a:rect r="r" b="b" t="t" l="l"/>
              <a:pathLst>
                <a:path h="2177974" w="4941620">
                  <a:moveTo>
                    <a:pt x="0" y="0"/>
                  </a:moveTo>
                  <a:lnTo>
                    <a:pt x="4941620" y="0"/>
                  </a:lnTo>
                  <a:lnTo>
                    <a:pt x="4941620" y="2177974"/>
                  </a:lnTo>
                  <a:lnTo>
                    <a:pt x="0" y="21779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48" t="0" r="-6548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941621" cy="22160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212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216157" y="5078892"/>
            <a:ext cx="4804353" cy="1098137"/>
            <a:chOff x="0" y="0"/>
            <a:chExt cx="6405804" cy="14641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405805" cy="1464184"/>
            </a:xfrm>
            <a:custGeom>
              <a:avLst/>
              <a:gdLst/>
              <a:ahLst/>
              <a:cxnLst/>
              <a:rect r="r" b="b" t="t" l="l"/>
              <a:pathLst>
                <a:path h="1464184" w="6405805">
                  <a:moveTo>
                    <a:pt x="0" y="0"/>
                  </a:moveTo>
                  <a:lnTo>
                    <a:pt x="6405805" y="0"/>
                  </a:lnTo>
                  <a:lnTo>
                    <a:pt x="6405805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6405804" cy="1492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57"/>
                </a:lnSpc>
              </a:pPr>
              <a:r>
                <a:rPr lang="en-US" b="true" sz="1200" spc="225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AWARENESS</a:t>
              </a:r>
            </a:p>
            <a:p>
              <a:pPr algn="l">
                <a:lnSpc>
                  <a:spcPts val="2693"/>
                </a:lnSpc>
              </a:pPr>
              <a:r>
                <a:rPr lang="en-US" b="true" sz="1951" spc="365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Heritage &amp; adventure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95039" y="5078892"/>
            <a:ext cx="6863363" cy="1098137"/>
            <a:chOff x="0" y="0"/>
            <a:chExt cx="9151150" cy="146418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51149" cy="1464184"/>
            </a:xfrm>
            <a:custGeom>
              <a:avLst/>
              <a:gdLst/>
              <a:ahLst/>
              <a:cxnLst/>
              <a:rect r="r" b="b" t="t" l="l"/>
              <a:pathLst>
                <a:path h="1464184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9151150" cy="1492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57"/>
                </a:lnSpc>
              </a:pPr>
              <a:r>
                <a:rPr lang="en-US" b="true" sz="1200" spc="225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PRIORITY</a:t>
              </a:r>
            </a:p>
            <a:p>
              <a:pPr algn="l">
                <a:lnSpc>
                  <a:spcPts val="2485"/>
                </a:lnSpc>
              </a:pPr>
              <a:r>
                <a:rPr lang="en-US" sz="1801" spc="337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Own the off-road conversation before Tank locks it.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45436" y="6647926"/>
            <a:ext cx="16806853" cy="1652549"/>
            <a:chOff x="0" y="0"/>
            <a:chExt cx="22409137" cy="220339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409150" cy="2203450"/>
            </a:xfrm>
            <a:custGeom>
              <a:avLst/>
              <a:gdLst/>
              <a:ahLst/>
              <a:cxnLst/>
              <a:rect r="r" b="b" t="t" l="l"/>
              <a:pathLst>
                <a:path h="2203450" w="22409150">
                  <a:moveTo>
                    <a:pt x="0" y="185166"/>
                  </a:moveTo>
                  <a:cubicBezTo>
                    <a:pt x="0" y="82931"/>
                    <a:pt x="82931" y="0"/>
                    <a:pt x="185166" y="0"/>
                  </a:cubicBezTo>
                  <a:lnTo>
                    <a:pt x="22223985" y="0"/>
                  </a:lnTo>
                  <a:cubicBezTo>
                    <a:pt x="22326220" y="0"/>
                    <a:pt x="22409150" y="82931"/>
                    <a:pt x="22409150" y="185166"/>
                  </a:cubicBezTo>
                  <a:lnTo>
                    <a:pt x="22409150" y="2018284"/>
                  </a:lnTo>
                  <a:cubicBezTo>
                    <a:pt x="22409150" y="2120519"/>
                    <a:pt x="22326220" y="2203450"/>
                    <a:pt x="22223985" y="2203450"/>
                  </a:cubicBezTo>
                  <a:lnTo>
                    <a:pt x="185166" y="2203450"/>
                  </a:lnTo>
                  <a:cubicBezTo>
                    <a:pt x="82931" y="2203450"/>
                    <a:pt x="0" y="2120519"/>
                    <a:pt x="0" y="201828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754971" y="6657461"/>
            <a:ext cx="178451" cy="1633480"/>
            <a:chOff x="0" y="0"/>
            <a:chExt cx="237934" cy="217797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37871" cy="2177923"/>
            </a:xfrm>
            <a:custGeom>
              <a:avLst/>
              <a:gdLst/>
              <a:ahLst/>
              <a:cxnLst/>
              <a:rect r="r" b="b" t="t" l="l"/>
              <a:pathLst>
                <a:path h="2177923" w="237871">
                  <a:moveTo>
                    <a:pt x="0" y="0"/>
                  </a:moveTo>
                  <a:lnTo>
                    <a:pt x="237871" y="0"/>
                  </a:lnTo>
                  <a:lnTo>
                    <a:pt x="237871" y="2177923"/>
                  </a:lnTo>
                  <a:lnTo>
                    <a:pt x="0" y="2177923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35402" y="6657461"/>
            <a:ext cx="3706216" cy="1633480"/>
            <a:chOff x="0" y="0"/>
            <a:chExt cx="4941621" cy="217797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941620" cy="2177974"/>
            </a:xfrm>
            <a:custGeom>
              <a:avLst/>
              <a:gdLst/>
              <a:ahLst/>
              <a:cxnLst/>
              <a:rect r="r" b="b" t="t" l="l"/>
              <a:pathLst>
                <a:path h="2177974" w="4941620">
                  <a:moveTo>
                    <a:pt x="0" y="0"/>
                  </a:moveTo>
                  <a:lnTo>
                    <a:pt x="4941620" y="0"/>
                  </a:lnTo>
                  <a:lnTo>
                    <a:pt x="4941620" y="2177974"/>
                  </a:lnTo>
                  <a:lnTo>
                    <a:pt x="0" y="21779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48" t="0" r="-6548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941621" cy="22160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Motor Souq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216157" y="6932000"/>
            <a:ext cx="4804353" cy="1098137"/>
            <a:chOff x="0" y="0"/>
            <a:chExt cx="6405804" cy="146418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405805" cy="1464184"/>
            </a:xfrm>
            <a:custGeom>
              <a:avLst/>
              <a:gdLst/>
              <a:ahLst/>
              <a:cxnLst/>
              <a:rect r="r" b="b" t="t" l="l"/>
              <a:pathLst>
                <a:path h="1464184" w="6405805">
                  <a:moveTo>
                    <a:pt x="0" y="0"/>
                  </a:moveTo>
                  <a:lnTo>
                    <a:pt x="6405805" y="0"/>
                  </a:lnTo>
                  <a:lnTo>
                    <a:pt x="6405805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6405804" cy="1492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57"/>
                </a:lnSpc>
              </a:pPr>
              <a:r>
                <a:rPr lang="en-US" b="true" sz="1200" spc="225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AWARENESS</a:t>
              </a:r>
            </a:p>
            <a:p>
              <a:pPr algn="l">
                <a:lnSpc>
                  <a:spcPts val="2693"/>
                </a:lnSpc>
              </a:pPr>
              <a:r>
                <a:rPr lang="en-US" b="true" sz="1951" spc="365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buying experience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295039" y="6932000"/>
            <a:ext cx="6863363" cy="1098137"/>
            <a:chOff x="0" y="0"/>
            <a:chExt cx="9151150" cy="146418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151149" cy="1464184"/>
            </a:xfrm>
            <a:custGeom>
              <a:avLst/>
              <a:gdLst/>
              <a:ahLst/>
              <a:cxnLst/>
              <a:rect r="r" b="b" t="t" l="l"/>
              <a:pathLst>
                <a:path h="1464184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9151150" cy="1492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57"/>
                </a:lnSpc>
              </a:pPr>
              <a:r>
                <a:rPr lang="en-US" b="true" sz="1200" spc="225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PRIORITY</a:t>
              </a:r>
            </a:p>
            <a:p>
              <a:pPr algn="l">
                <a:lnSpc>
                  <a:spcPts val="2485"/>
                </a:lnSpc>
              </a:pPr>
              <a:r>
                <a:rPr lang="en-US" sz="1801" spc="337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Activate a dead audience, drive showroom traffic.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82422" y="8785108"/>
            <a:ext cx="16472068" cy="549069"/>
            <a:chOff x="0" y="0"/>
            <a:chExt cx="21962758" cy="7320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962759" cy="732092"/>
            </a:xfrm>
            <a:custGeom>
              <a:avLst/>
              <a:gdLst/>
              <a:ahLst/>
              <a:cxnLst/>
              <a:rect r="r" b="b" t="t" l="l"/>
              <a:pathLst>
                <a:path h="732092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21962758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>
                  <a:solidFill>
                    <a:srgbClr val="5C6879"/>
                  </a:solidFill>
                  <a:latin typeface="Poppins"/>
                  <a:ea typeface="Poppins"/>
                  <a:cs typeface="Poppins"/>
                  <a:sym typeface="Poppins"/>
                </a:rPr>
                <a:t>One methodology.  </a:t>
              </a:r>
              <a:r>
                <a:rPr lang="en-US" sz="210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Three games. Three sets of priorities.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32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033695" y="34509"/>
            <a:ext cx="5856875" cy="623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028"/>
              </a:lnSpc>
            </a:pPr>
            <a:r>
              <a:rPr lang="en-US" sz="30023" b="true">
                <a:solidFill>
                  <a:srgbClr val="3C63A8">
                    <a:alpha val="15686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23608" y="4323921"/>
            <a:ext cx="686333" cy="68637"/>
            <a:chOff x="0" y="0"/>
            <a:chExt cx="915111" cy="915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5162" cy="91567"/>
            </a:xfrm>
            <a:custGeom>
              <a:avLst/>
              <a:gdLst/>
              <a:ahLst/>
              <a:cxnLst/>
              <a:rect r="r" b="b" t="t" l="l"/>
              <a:pathLst>
                <a:path h="91567" w="915162">
                  <a:moveTo>
                    <a:pt x="0" y="0"/>
                  </a:moveTo>
                  <a:lnTo>
                    <a:pt x="915162" y="0"/>
                  </a:lnTo>
                  <a:lnTo>
                    <a:pt x="915162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3608" y="4529823"/>
            <a:ext cx="10981382" cy="549069"/>
            <a:chOff x="0" y="0"/>
            <a:chExt cx="14641843" cy="7320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1840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4641843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b="true" sz="1951" spc="750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SECTION FOUR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77773" y="5067462"/>
            <a:ext cx="12857512" cy="1887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6"/>
              </a:lnSpc>
            </a:pPr>
            <a:r>
              <a:rPr lang="en-US" sz="690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Audience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54971" y="8922372"/>
            <a:ext cx="7137892" cy="905961"/>
            <a:chOff x="0" y="0"/>
            <a:chExt cx="9517190" cy="12079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17253" cy="1208024"/>
            </a:xfrm>
            <a:custGeom>
              <a:avLst/>
              <a:gdLst/>
              <a:ahLst/>
              <a:cxnLst/>
              <a:rect r="r" b="b" t="t" l="l"/>
              <a:pathLst>
                <a:path h="1208024" w="9517253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9370822" y="0"/>
                  </a:lnTo>
                  <a:cubicBezTo>
                    <a:pt x="9451721" y="0"/>
                    <a:pt x="9517253" y="65532"/>
                    <a:pt x="9517253" y="146431"/>
                  </a:cubicBezTo>
                  <a:lnTo>
                    <a:pt x="9517253" y="1061593"/>
                  </a:lnTo>
                  <a:cubicBezTo>
                    <a:pt x="9517253" y="1142492"/>
                    <a:pt x="9451721" y="1208024"/>
                    <a:pt x="9370822" y="1208024"/>
                  </a:cubicBezTo>
                  <a:lnTo>
                    <a:pt x="146431" y="1208024"/>
                  </a:lnTo>
                  <a:cubicBezTo>
                    <a:pt x="65532" y="1207897"/>
                    <a:pt x="0" y="1142365"/>
                    <a:pt x="0" y="106159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9500" y="9087088"/>
            <a:ext cx="6588824" cy="968950"/>
            <a:chOff x="0" y="0"/>
            <a:chExt cx="8785098" cy="1291933"/>
          </a:xfrm>
        </p:grpSpPr>
        <p:sp>
          <p:nvSpPr>
            <p:cNvPr name="Freeform 13" id="13" descr="/tmp/build/brands_strip.png"/>
            <p:cNvSpPr/>
            <p:nvPr/>
          </p:nvSpPr>
          <p:spPr>
            <a:xfrm flipH="false" flipV="false" rot="0">
              <a:off x="0" y="0"/>
              <a:ext cx="8785098" cy="1291971"/>
            </a:xfrm>
            <a:custGeom>
              <a:avLst/>
              <a:gdLst/>
              <a:ahLst/>
              <a:cxnLst/>
              <a:rect r="r" b="b" t="t" l="l"/>
              <a:pathLst>
                <a:path h="1291971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291971"/>
                  </a:lnTo>
                  <a:lnTo>
                    <a:pt x="0" y="1291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04 · TARGET AUDIENCE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Target Audience — Bestune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54971" y="1949196"/>
            <a:ext cx="16787784" cy="851059"/>
            <a:chOff x="0" y="0"/>
            <a:chExt cx="22383712" cy="11347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383750" cy="1134745"/>
            </a:xfrm>
            <a:custGeom>
              <a:avLst/>
              <a:gdLst/>
              <a:ahLst/>
              <a:cxnLst/>
              <a:rect r="r" b="b" t="t" l="l"/>
              <a:pathLst>
                <a:path h="1134745" w="22383750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22200743" y="0"/>
                  </a:lnTo>
                  <a:cubicBezTo>
                    <a:pt x="22301834" y="0"/>
                    <a:pt x="22383750" y="81915"/>
                    <a:pt x="22383750" y="183007"/>
                  </a:cubicBezTo>
                  <a:lnTo>
                    <a:pt x="22383750" y="951738"/>
                  </a:lnTo>
                  <a:cubicBezTo>
                    <a:pt x="22383750" y="1052830"/>
                    <a:pt x="22301834" y="1134745"/>
                    <a:pt x="22200743" y="1134745"/>
                  </a:cubicBezTo>
                  <a:lnTo>
                    <a:pt x="183007" y="1134745"/>
                  </a:lnTo>
                  <a:cubicBezTo>
                    <a:pt x="81915" y="1134745"/>
                    <a:pt x="0" y="1052830"/>
                    <a:pt x="0" y="951738"/>
                  </a:cubicBezTo>
                  <a:close/>
                </a:path>
              </a:pathLst>
            </a:custGeom>
            <a:solidFill>
              <a:srgbClr val="F1F4F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98137" y="1949196"/>
            <a:ext cx="16060264" cy="851059"/>
            <a:chOff x="0" y="0"/>
            <a:chExt cx="21413686" cy="11347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413690" cy="1134743"/>
            </a:xfrm>
            <a:custGeom>
              <a:avLst/>
              <a:gdLst/>
              <a:ahLst/>
              <a:cxnLst/>
              <a:rect r="r" b="b" t="t" l="l"/>
              <a:pathLst>
                <a:path h="1134743" w="21413690">
                  <a:moveTo>
                    <a:pt x="0" y="0"/>
                  </a:moveTo>
                  <a:lnTo>
                    <a:pt x="21413690" y="0"/>
                  </a:lnTo>
                  <a:lnTo>
                    <a:pt x="21413690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7701" r="0" b="-3177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1413686" cy="1153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13"/>
                </a:lnSpc>
              </a:pPr>
              <a:r>
                <a:rPr lang="en-US" b="true" sz="1726" i="true">
                  <a:solidFill>
                    <a:srgbClr val="3C63A8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Audience thesis   </a:t>
              </a:r>
              <a:r>
                <a:rPr lang="en-US" sz="1726" i="true">
                  <a:solidFill>
                    <a:srgbClr val="141A2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Bestune's buyer isn't shopping for a Chinese car — they're shopping for a family car and hoping the Chinese one is safe to trust. Every message must close that gap.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45436" y="3010348"/>
            <a:ext cx="8337461" cy="6127461"/>
            <a:chOff x="0" y="0"/>
            <a:chExt cx="11116615" cy="81699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116691" cy="8170037"/>
            </a:xfrm>
            <a:custGeom>
              <a:avLst/>
              <a:gdLst/>
              <a:ahLst/>
              <a:cxnLst/>
              <a:rect r="r" b="b" t="t" l="l"/>
              <a:pathLst>
                <a:path h="8170037" w="11116691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10933049" y="0"/>
                  </a:lnTo>
                  <a:cubicBezTo>
                    <a:pt x="11034395" y="0"/>
                    <a:pt x="11116691" y="82169"/>
                    <a:pt x="11116691" y="183642"/>
                  </a:cubicBezTo>
                  <a:lnTo>
                    <a:pt x="11116691" y="7986395"/>
                  </a:lnTo>
                  <a:cubicBezTo>
                    <a:pt x="11116691" y="8087740"/>
                    <a:pt x="11034522" y="8170037"/>
                    <a:pt x="10933049" y="8170037"/>
                  </a:cubicBezTo>
                  <a:lnTo>
                    <a:pt x="183642" y="8170037"/>
                  </a:lnTo>
                  <a:cubicBezTo>
                    <a:pt x="82169" y="8169910"/>
                    <a:pt x="0" y="8087741"/>
                    <a:pt x="0" y="798639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54971" y="3019882"/>
            <a:ext cx="8318392" cy="123539"/>
            <a:chOff x="0" y="0"/>
            <a:chExt cx="11091189" cy="1647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91164" cy="164719"/>
            </a:xfrm>
            <a:custGeom>
              <a:avLst/>
              <a:gdLst/>
              <a:ahLst/>
              <a:cxnLst/>
              <a:rect r="r" b="b" t="t" l="l"/>
              <a:pathLst>
                <a:path h="164719" w="11091164">
                  <a:moveTo>
                    <a:pt x="0" y="0"/>
                  </a:moveTo>
                  <a:lnTo>
                    <a:pt x="11091164" y="0"/>
                  </a:lnTo>
                  <a:lnTo>
                    <a:pt x="11091164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66774" y="3376774"/>
            <a:ext cx="7563421" cy="549069"/>
            <a:chOff x="0" y="0"/>
            <a:chExt cx="10084562" cy="7320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84567" cy="732092"/>
            </a:xfrm>
            <a:custGeom>
              <a:avLst/>
              <a:gdLst/>
              <a:ahLst/>
              <a:cxnLst/>
              <a:rect r="r" b="b" t="t" l="l"/>
              <a:pathLst>
                <a:path h="732092" w="10084567">
                  <a:moveTo>
                    <a:pt x="0" y="0"/>
                  </a:moveTo>
                  <a:lnTo>
                    <a:pt x="10084567" y="0"/>
                  </a:lnTo>
                  <a:lnTo>
                    <a:pt x="1008456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406" r="0" b="-21840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0084562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Growing Family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58214" y="4025351"/>
            <a:ext cx="7380542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5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Age 30–45 · married, 1–3 kids · SAR 12–25K/mo · upgrading from an aging Corolla or first-gen Chinese SUV.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8214" y="4899660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3C63A8"/>
                </a:solidFill>
                <a:latin typeface="Poppins Bold"/>
                <a:ea typeface="Poppins Bold"/>
                <a:cs typeface="Poppins Bold"/>
                <a:sym typeface="Poppins Bold"/>
              </a:rPr>
              <a:t>TRIGGER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003558" y="4872199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A third child, an outgrown sedan, or a warranty about to expire. Need-driven, rarely impulsive.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8214" y="5750709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3C63A8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003558" y="5723258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“If it breaks, will I find parts? Is service expensive?” — the category's open wound.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8214" y="6601768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3C63A8"/>
                </a:solidFill>
                <a:latin typeface="Poppins Bold"/>
                <a:ea typeface="Poppins Bold"/>
                <a:cs typeface="Poppins Bold"/>
                <a:sym typeface="Poppins Bold"/>
              </a:rPr>
              <a:t>COUNTER-MESSAGE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003558" y="6574317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Lead with the 5-yr / 150K km warranty and FAW's 68-year scale as proof of permanence, not fine print.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8214" y="7452827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3C63A8"/>
                </a:solidFill>
                <a:latin typeface="Poppins Bold"/>
                <a:ea typeface="Poppins Bold"/>
                <a:cs typeface="Poppins Bold"/>
                <a:sym typeface="Poppins Bold"/>
              </a:rPr>
              <a:t>SAUDI INSIGHT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003558" y="7425376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Asks the family WhatsApp group and their mechanic before the dealer. UGC beats any ad.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58214" y="8303885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3C63A8"/>
                </a:solidFill>
                <a:latin typeface="Poppins Bold"/>
                <a:ea typeface="Poppins Bold"/>
                <a:cs typeface="Poppins Bold"/>
                <a:sym typeface="Poppins Bold"/>
              </a:rPr>
              <a:t>CHANNELS &amp; MOMENT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003558" y="8276434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IG/FB research, YouTube reviews, TikTok owner stories. Peak: pre-Ramadan, back-to-school.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365818" y="3010348"/>
            <a:ext cx="8337461" cy="6127461"/>
            <a:chOff x="0" y="0"/>
            <a:chExt cx="11116615" cy="816994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116691" cy="8170037"/>
            </a:xfrm>
            <a:custGeom>
              <a:avLst/>
              <a:gdLst/>
              <a:ahLst/>
              <a:cxnLst/>
              <a:rect r="r" b="b" t="t" l="l"/>
              <a:pathLst>
                <a:path h="8170037" w="11116691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10933049" y="0"/>
                  </a:lnTo>
                  <a:cubicBezTo>
                    <a:pt x="11034395" y="0"/>
                    <a:pt x="11116691" y="82169"/>
                    <a:pt x="11116691" y="183642"/>
                  </a:cubicBezTo>
                  <a:lnTo>
                    <a:pt x="11116691" y="7986395"/>
                  </a:lnTo>
                  <a:cubicBezTo>
                    <a:pt x="11116691" y="8087740"/>
                    <a:pt x="11034522" y="8170037"/>
                    <a:pt x="10933049" y="8170037"/>
                  </a:cubicBezTo>
                  <a:lnTo>
                    <a:pt x="183642" y="8170037"/>
                  </a:lnTo>
                  <a:cubicBezTo>
                    <a:pt x="82169" y="8169910"/>
                    <a:pt x="0" y="8087741"/>
                    <a:pt x="0" y="798639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375353" y="3019882"/>
            <a:ext cx="8318392" cy="123539"/>
            <a:chOff x="0" y="0"/>
            <a:chExt cx="11091189" cy="16471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91164" cy="164719"/>
            </a:xfrm>
            <a:custGeom>
              <a:avLst/>
              <a:gdLst/>
              <a:ahLst/>
              <a:cxnLst/>
              <a:rect r="r" b="b" t="t" l="l"/>
              <a:pathLst>
                <a:path h="164719" w="11091164">
                  <a:moveTo>
                    <a:pt x="0" y="0"/>
                  </a:moveTo>
                  <a:lnTo>
                    <a:pt x="11091164" y="0"/>
                  </a:lnTo>
                  <a:lnTo>
                    <a:pt x="11091164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787157" y="3376774"/>
            <a:ext cx="7563421" cy="549069"/>
            <a:chOff x="0" y="0"/>
            <a:chExt cx="10084562" cy="7320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084567" cy="732092"/>
            </a:xfrm>
            <a:custGeom>
              <a:avLst/>
              <a:gdLst/>
              <a:ahLst/>
              <a:cxnLst/>
              <a:rect r="r" b="b" t="t" l="l"/>
              <a:pathLst>
                <a:path h="732092" w="10084567">
                  <a:moveTo>
                    <a:pt x="0" y="0"/>
                  </a:moveTo>
                  <a:lnTo>
                    <a:pt x="10084567" y="0"/>
                  </a:lnTo>
                  <a:lnTo>
                    <a:pt x="1008456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406" r="0" b="-21840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0084562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Practical Upgrader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878597" y="4025351"/>
            <a:ext cx="7380542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5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Age 28–40 · first “proper” car after an entry model · budget-disciplined professional.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878597" y="4899660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3C63A8"/>
                </a:solidFill>
                <a:latin typeface="Poppins Bold"/>
                <a:ea typeface="Poppins Bold"/>
                <a:cs typeface="Poppins Bold"/>
                <a:sym typeface="Poppins Bold"/>
              </a:rPr>
              <a:t>TRIGGER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623940" y="4872199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A salary bump or marriage — a nicer car's installments are suddenly within reach.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878597" y="5750709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3C63A8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623940" y="5723258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“Why pay more than Changan or MG when it's the same thing?” (SAR 83K vs 40–45K).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878597" y="6601768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3C63A8"/>
                </a:solidFill>
                <a:latin typeface="Poppins Bold"/>
                <a:ea typeface="Poppins Bold"/>
                <a:cs typeface="Poppins Bold"/>
                <a:sym typeface="Poppins Bold"/>
              </a:rPr>
              <a:t>COUNTER-MESSAGE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623940" y="6574317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Reframe the gap as value, not cost — better warranty, heritage, resale. Show the math, don't hide it.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878597" y="7452827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3C63A8"/>
                </a:solidFill>
                <a:latin typeface="Poppins Bold"/>
                <a:ea typeface="Poppins Bold"/>
                <a:cs typeface="Poppins Bold"/>
                <a:sym typeface="Poppins Bold"/>
              </a:rPr>
              <a:t>SAUDI INSIGHT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623940" y="7425376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Price-transparent and comparison-native — opens three dealer tabs at once. Respects honest comparison.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878597" y="8303885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3C63A8"/>
                </a:solidFill>
                <a:latin typeface="Poppins Bold"/>
                <a:ea typeface="Poppins Bold"/>
                <a:cs typeface="Poppins Bold"/>
                <a:sym typeface="Poppins Bold"/>
              </a:rPr>
              <a:t>CHANNELS &amp; MOMENT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623940" y="8276434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TikTok &amp; IG discovery, X for opinions. Peak: salary season, new-model launches.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33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04 · TARGET AUDIENCE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Target Audience — 212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54971" y="1949196"/>
            <a:ext cx="16787784" cy="851059"/>
            <a:chOff x="0" y="0"/>
            <a:chExt cx="22383712" cy="11347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383750" cy="1134745"/>
            </a:xfrm>
            <a:custGeom>
              <a:avLst/>
              <a:gdLst/>
              <a:ahLst/>
              <a:cxnLst/>
              <a:rect r="r" b="b" t="t" l="l"/>
              <a:pathLst>
                <a:path h="1134745" w="22383750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22200743" y="0"/>
                  </a:lnTo>
                  <a:cubicBezTo>
                    <a:pt x="22301834" y="0"/>
                    <a:pt x="22383750" y="81915"/>
                    <a:pt x="22383750" y="183007"/>
                  </a:cubicBezTo>
                  <a:lnTo>
                    <a:pt x="22383750" y="951738"/>
                  </a:lnTo>
                  <a:cubicBezTo>
                    <a:pt x="22383750" y="1052830"/>
                    <a:pt x="22301834" y="1134745"/>
                    <a:pt x="22200743" y="1134745"/>
                  </a:cubicBezTo>
                  <a:lnTo>
                    <a:pt x="183007" y="1134745"/>
                  </a:lnTo>
                  <a:cubicBezTo>
                    <a:pt x="81915" y="1134745"/>
                    <a:pt x="0" y="1052830"/>
                    <a:pt x="0" y="951738"/>
                  </a:cubicBezTo>
                  <a:close/>
                </a:path>
              </a:pathLst>
            </a:custGeom>
            <a:solidFill>
              <a:srgbClr val="F1F4F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98137" y="1949196"/>
            <a:ext cx="16060264" cy="851059"/>
            <a:chOff x="0" y="0"/>
            <a:chExt cx="21413686" cy="11347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413690" cy="1134743"/>
            </a:xfrm>
            <a:custGeom>
              <a:avLst/>
              <a:gdLst/>
              <a:ahLst/>
              <a:cxnLst/>
              <a:rect r="r" b="b" t="t" l="l"/>
              <a:pathLst>
                <a:path h="1134743" w="21413690">
                  <a:moveTo>
                    <a:pt x="0" y="0"/>
                  </a:moveTo>
                  <a:lnTo>
                    <a:pt x="21413690" y="0"/>
                  </a:lnTo>
                  <a:lnTo>
                    <a:pt x="21413690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7701" r="0" b="-3177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1413686" cy="1153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13"/>
                </a:lnSpc>
              </a:pPr>
              <a:r>
                <a:rPr lang="en-US" b="true" sz="1726" i="true">
                  <a:solidFill>
                    <a:srgbClr val="1B8A5A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Audience thesis   </a:t>
              </a:r>
              <a:r>
                <a:rPr lang="en-US" sz="1726" i="true">
                  <a:solidFill>
                    <a:srgbClr val="141A2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212's buyer isn't solving a transport problem — they're buying an identity. Nobody needs a 212; they want what it says about them. Sell the meaning, and the sale follows.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45436" y="3010348"/>
            <a:ext cx="8337461" cy="6127461"/>
            <a:chOff x="0" y="0"/>
            <a:chExt cx="11116615" cy="81699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116691" cy="8170037"/>
            </a:xfrm>
            <a:custGeom>
              <a:avLst/>
              <a:gdLst/>
              <a:ahLst/>
              <a:cxnLst/>
              <a:rect r="r" b="b" t="t" l="l"/>
              <a:pathLst>
                <a:path h="8170037" w="11116691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10933049" y="0"/>
                  </a:lnTo>
                  <a:cubicBezTo>
                    <a:pt x="11034395" y="0"/>
                    <a:pt x="11116691" y="82169"/>
                    <a:pt x="11116691" y="183642"/>
                  </a:cubicBezTo>
                  <a:lnTo>
                    <a:pt x="11116691" y="7986395"/>
                  </a:lnTo>
                  <a:cubicBezTo>
                    <a:pt x="11116691" y="8087740"/>
                    <a:pt x="11034522" y="8170037"/>
                    <a:pt x="10933049" y="8170037"/>
                  </a:cubicBezTo>
                  <a:lnTo>
                    <a:pt x="183642" y="8170037"/>
                  </a:lnTo>
                  <a:cubicBezTo>
                    <a:pt x="82169" y="8169910"/>
                    <a:pt x="0" y="8087741"/>
                    <a:pt x="0" y="798639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54971" y="3019882"/>
            <a:ext cx="8318392" cy="123539"/>
            <a:chOff x="0" y="0"/>
            <a:chExt cx="11091189" cy="1647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91164" cy="164719"/>
            </a:xfrm>
            <a:custGeom>
              <a:avLst/>
              <a:gdLst/>
              <a:ahLst/>
              <a:cxnLst/>
              <a:rect r="r" b="b" t="t" l="l"/>
              <a:pathLst>
                <a:path h="164719" w="11091164">
                  <a:moveTo>
                    <a:pt x="0" y="0"/>
                  </a:moveTo>
                  <a:lnTo>
                    <a:pt x="11091164" y="0"/>
                  </a:lnTo>
                  <a:lnTo>
                    <a:pt x="11091164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66774" y="3376774"/>
            <a:ext cx="7563421" cy="549069"/>
            <a:chOff x="0" y="0"/>
            <a:chExt cx="10084562" cy="7320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84567" cy="732092"/>
            </a:xfrm>
            <a:custGeom>
              <a:avLst/>
              <a:gdLst/>
              <a:ahLst/>
              <a:cxnLst/>
              <a:rect r="r" b="b" t="t" l="l"/>
              <a:pathLst>
                <a:path h="732092" w="10084567">
                  <a:moveTo>
                    <a:pt x="0" y="0"/>
                  </a:moveTo>
                  <a:lnTo>
                    <a:pt x="10084567" y="0"/>
                  </a:lnTo>
                  <a:lnTo>
                    <a:pt x="1008456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406" r="0" b="-21840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0084562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Off-Road Enthusiast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58214" y="4025351"/>
            <a:ext cx="7380542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5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Age 25–45 · deep in desert/trail culture · likely a second “toy” · active in off-road groups.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8214" y="4899660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1B8A5A"/>
                </a:solidFill>
                <a:latin typeface="Poppins Bold"/>
                <a:ea typeface="Poppins Bold"/>
                <a:cs typeface="Poppins Bold"/>
                <a:sym typeface="Poppins Bold"/>
              </a:rPr>
              <a:t>TRIGGER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003558" y="4872199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A new desert season, friends upgrading rigs, or frustration that his 4x4 is too costly or too soft.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8214" y="5750709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1B8A5A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003558" y="5723258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“A new Chinese brand — will it survive the sand? And service if it breaks far out?”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8214" y="6601768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1B8A5A"/>
                </a:solidFill>
                <a:latin typeface="Poppins Bold"/>
                <a:ea typeface="Poppins Bold"/>
                <a:cs typeface="Poppins Bold"/>
                <a:sym typeface="Poppins Bold"/>
              </a:rPr>
              <a:t>COUNTER-MESSAGE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003558" y="6574317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Don't claim capability — prove it in vertical video: sand, rock, inclines. Anchor with military heritage.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8214" y="7452827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1B8A5A"/>
                </a:solidFill>
                <a:latin typeface="Poppins Bold"/>
                <a:ea typeface="Poppins Bold"/>
                <a:cs typeface="Poppins Bold"/>
                <a:sym typeface="Poppins Bold"/>
              </a:rPr>
              <a:t>SAUDI INSIGHT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003558" y="7425376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Respects earned credibility, not ads. A 212 conquering a known Saudi trail, reposted, beats any campaign.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58214" y="8303885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1B8A5A"/>
                </a:solidFill>
                <a:latin typeface="Poppins Bold"/>
                <a:ea typeface="Poppins Bold"/>
                <a:cs typeface="Poppins Bold"/>
                <a:sym typeface="Poppins Bold"/>
              </a:rPr>
              <a:t>CHANNELS &amp; MOMENT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003558" y="8276434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TikTok &amp; IG Reels are the arena; off-road community accounts are kingmakers. Peak: winter/camping.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365818" y="3010348"/>
            <a:ext cx="8337461" cy="6127461"/>
            <a:chOff x="0" y="0"/>
            <a:chExt cx="11116615" cy="816994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116691" cy="8170037"/>
            </a:xfrm>
            <a:custGeom>
              <a:avLst/>
              <a:gdLst/>
              <a:ahLst/>
              <a:cxnLst/>
              <a:rect r="r" b="b" t="t" l="l"/>
              <a:pathLst>
                <a:path h="8170037" w="11116691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10933049" y="0"/>
                  </a:lnTo>
                  <a:cubicBezTo>
                    <a:pt x="11034395" y="0"/>
                    <a:pt x="11116691" y="82169"/>
                    <a:pt x="11116691" y="183642"/>
                  </a:cubicBezTo>
                  <a:lnTo>
                    <a:pt x="11116691" y="7986395"/>
                  </a:lnTo>
                  <a:cubicBezTo>
                    <a:pt x="11116691" y="8087740"/>
                    <a:pt x="11034522" y="8170037"/>
                    <a:pt x="10933049" y="8170037"/>
                  </a:cubicBezTo>
                  <a:lnTo>
                    <a:pt x="183642" y="8170037"/>
                  </a:lnTo>
                  <a:cubicBezTo>
                    <a:pt x="82169" y="8169910"/>
                    <a:pt x="0" y="8087741"/>
                    <a:pt x="0" y="798639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375353" y="3019882"/>
            <a:ext cx="8318392" cy="123539"/>
            <a:chOff x="0" y="0"/>
            <a:chExt cx="11091189" cy="16471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91164" cy="164719"/>
            </a:xfrm>
            <a:custGeom>
              <a:avLst/>
              <a:gdLst/>
              <a:ahLst/>
              <a:cxnLst/>
              <a:rect r="r" b="b" t="t" l="l"/>
              <a:pathLst>
                <a:path h="164719" w="11091164">
                  <a:moveTo>
                    <a:pt x="0" y="0"/>
                  </a:moveTo>
                  <a:lnTo>
                    <a:pt x="11091164" y="0"/>
                  </a:lnTo>
                  <a:lnTo>
                    <a:pt x="11091164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787157" y="3376774"/>
            <a:ext cx="7563421" cy="549069"/>
            <a:chOff x="0" y="0"/>
            <a:chExt cx="10084562" cy="7320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084567" cy="732092"/>
            </a:xfrm>
            <a:custGeom>
              <a:avLst/>
              <a:gdLst/>
              <a:ahLst/>
              <a:cxnLst/>
              <a:rect r="r" b="b" t="t" l="l"/>
              <a:pathLst>
                <a:path h="732092" w="10084567">
                  <a:moveTo>
                    <a:pt x="0" y="0"/>
                  </a:moveTo>
                  <a:lnTo>
                    <a:pt x="10084567" y="0"/>
                  </a:lnTo>
                  <a:lnTo>
                    <a:pt x="1008456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406" r="0" b="-21840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0084562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Statement Seeker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878597" y="4025351"/>
            <a:ext cx="7380542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5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Age 23–38 · design-driven · wants to stand out in a sea of white Camrys · expressive on social.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878597" y="4899660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1B8A5A"/>
                </a:solidFill>
                <a:latin typeface="Poppins Bold"/>
                <a:ea typeface="Poppins Bold"/>
                <a:cs typeface="Poppins Bold"/>
                <a:sym typeface="Poppins Bold"/>
              </a:rPr>
              <a:t>TRIGGER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623940" y="4872199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Boredom with sameness — seeing the boxy retro shape and realizing it's actually attainable.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878597" y="5750709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1B8A5A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623940" y="5723258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“Nice, but Chinese — will people think I bought cheap?” — social-status anxiety.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878597" y="6601768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1B8A5A"/>
                </a:solidFill>
                <a:latin typeface="Poppins Bold"/>
                <a:ea typeface="Poppins Bold"/>
                <a:cs typeface="Poppins Bold"/>
                <a:sym typeface="Poppins Bold"/>
              </a:rPr>
              <a:t>COUNTER-MESSAGE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623940" y="6574317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Flip the frame: 212 isn't cheap, it's distinctive and smart. “The Defender spirit at a sensible price.”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878597" y="7452827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1B8A5A"/>
                </a:solidFill>
                <a:latin typeface="Poppins Bold"/>
                <a:ea typeface="Poppins Bold"/>
                <a:cs typeface="Poppins Bold"/>
                <a:sym typeface="Poppins Bold"/>
              </a:rPr>
              <a:t>SAUDI INSIGHT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623940" y="7425376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Picks a car the way they pick a watch — self-expression. The silhouette and story are the whole product.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878597" y="8303885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1B8A5A"/>
                </a:solidFill>
                <a:latin typeface="Poppins Bold"/>
                <a:ea typeface="Poppins Bold"/>
                <a:cs typeface="Poppins Bold"/>
                <a:sym typeface="Poppins Bold"/>
              </a:rPr>
              <a:t>CHANNELS &amp; MOMENT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623940" y="8276434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TikTok, IG, Snapchat. Design-forward, lifestyle-led. Peak: launches, creator features.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34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04 · TARGET AUDIENCE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Target Audience — Motor Souq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54971" y="1949196"/>
            <a:ext cx="16787784" cy="851059"/>
            <a:chOff x="0" y="0"/>
            <a:chExt cx="22383712" cy="11347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383750" cy="1134745"/>
            </a:xfrm>
            <a:custGeom>
              <a:avLst/>
              <a:gdLst/>
              <a:ahLst/>
              <a:cxnLst/>
              <a:rect r="r" b="b" t="t" l="l"/>
              <a:pathLst>
                <a:path h="1134745" w="22383750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22200743" y="0"/>
                  </a:lnTo>
                  <a:cubicBezTo>
                    <a:pt x="22301834" y="0"/>
                    <a:pt x="22383750" y="81915"/>
                    <a:pt x="22383750" y="183007"/>
                  </a:cubicBezTo>
                  <a:lnTo>
                    <a:pt x="22383750" y="951738"/>
                  </a:lnTo>
                  <a:cubicBezTo>
                    <a:pt x="22383750" y="1052830"/>
                    <a:pt x="22301834" y="1134745"/>
                    <a:pt x="22200743" y="1134745"/>
                  </a:cubicBezTo>
                  <a:lnTo>
                    <a:pt x="183007" y="1134745"/>
                  </a:lnTo>
                  <a:cubicBezTo>
                    <a:pt x="81915" y="1134745"/>
                    <a:pt x="0" y="1052830"/>
                    <a:pt x="0" y="951738"/>
                  </a:cubicBezTo>
                  <a:close/>
                </a:path>
              </a:pathLst>
            </a:custGeom>
            <a:solidFill>
              <a:srgbClr val="F1F4F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98137" y="1949196"/>
            <a:ext cx="16060264" cy="851059"/>
            <a:chOff x="0" y="0"/>
            <a:chExt cx="21413686" cy="11347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413690" cy="1134743"/>
            </a:xfrm>
            <a:custGeom>
              <a:avLst/>
              <a:gdLst/>
              <a:ahLst/>
              <a:cxnLst/>
              <a:rect r="r" b="b" t="t" l="l"/>
              <a:pathLst>
                <a:path h="1134743" w="21413690">
                  <a:moveTo>
                    <a:pt x="0" y="0"/>
                  </a:moveTo>
                  <a:lnTo>
                    <a:pt x="21413690" y="0"/>
                  </a:lnTo>
                  <a:lnTo>
                    <a:pt x="21413690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7701" r="0" b="-3177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1413686" cy="1153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13"/>
                </a:lnSpc>
              </a:pPr>
              <a:r>
                <a:rPr lang="en-US" b="true" sz="1726" i="true">
                  <a:solidFill>
                    <a:srgbClr val="1892C8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Audience thesis   </a:t>
              </a:r>
              <a:r>
                <a:rPr lang="en-US" sz="1726" i="true">
                  <a:solidFill>
                    <a:srgbClr val="141A2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Motor Souq's buyer has already decided to buy a car — the only question is where. They feel no loyalty to the dealer, only to convenience and confidence. Win the “where.”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45436" y="3010348"/>
            <a:ext cx="8337461" cy="6127461"/>
            <a:chOff x="0" y="0"/>
            <a:chExt cx="11116615" cy="81699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116691" cy="8170037"/>
            </a:xfrm>
            <a:custGeom>
              <a:avLst/>
              <a:gdLst/>
              <a:ahLst/>
              <a:cxnLst/>
              <a:rect r="r" b="b" t="t" l="l"/>
              <a:pathLst>
                <a:path h="8170037" w="11116691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10933049" y="0"/>
                  </a:lnTo>
                  <a:cubicBezTo>
                    <a:pt x="11034395" y="0"/>
                    <a:pt x="11116691" y="82169"/>
                    <a:pt x="11116691" y="183642"/>
                  </a:cubicBezTo>
                  <a:lnTo>
                    <a:pt x="11116691" y="7986395"/>
                  </a:lnTo>
                  <a:cubicBezTo>
                    <a:pt x="11116691" y="8087740"/>
                    <a:pt x="11034522" y="8170037"/>
                    <a:pt x="10933049" y="8170037"/>
                  </a:cubicBezTo>
                  <a:lnTo>
                    <a:pt x="183642" y="8170037"/>
                  </a:lnTo>
                  <a:cubicBezTo>
                    <a:pt x="82169" y="8169910"/>
                    <a:pt x="0" y="8087741"/>
                    <a:pt x="0" y="798639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54971" y="3019882"/>
            <a:ext cx="8318392" cy="123539"/>
            <a:chOff x="0" y="0"/>
            <a:chExt cx="11091189" cy="1647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91164" cy="164719"/>
            </a:xfrm>
            <a:custGeom>
              <a:avLst/>
              <a:gdLst/>
              <a:ahLst/>
              <a:cxnLst/>
              <a:rect r="r" b="b" t="t" l="l"/>
              <a:pathLst>
                <a:path h="164719" w="11091164">
                  <a:moveTo>
                    <a:pt x="0" y="0"/>
                  </a:moveTo>
                  <a:lnTo>
                    <a:pt x="11091164" y="0"/>
                  </a:lnTo>
                  <a:lnTo>
                    <a:pt x="11091164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66774" y="3376774"/>
            <a:ext cx="7563421" cy="549069"/>
            <a:chOff x="0" y="0"/>
            <a:chExt cx="10084562" cy="7320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84567" cy="732092"/>
            </a:xfrm>
            <a:custGeom>
              <a:avLst/>
              <a:gdLst/>
              <a:ahLst/>
              <a:cxnLst/>
              <a:rect r="r" b="b" t="t" l="l"/>
              <a:pathLst>
                <a:path h="732092" w="10084567">
                  <a:moveTo>
                    <a:pt x="0" y="0"/>
                  </a:moveTo>
                  <a:lnTo>
                    <a:pt x="10084567" y="0"/>
                  </a:lnTo>
                  <a:lnTo>
                    <a:pt x="1008456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406" r="0" b="-21840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0084562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Active Shopper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58214" y="4025351"/>
            <a:ext cx="7380542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5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Age 25–50 · in a live 30–90 day window · comparing 3–4 models across dealers right now.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8214" y="4899660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1892C8"/>
                </a:solidFill>
                <a:latin typeface="Poppins Bold"/>
                <a:ea typeface="Poppins Bold"/>
                <a:cs typeface="Poppins Bold"/>
                <a:sym typeface="Poppins Bold"/>
              </a:rPr>
              <a:t>TRIGGER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003558" y="4872199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Already committed to buying — a growing family, a work need, a wrecked old car. The dealer isn't decided.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8214" y="5750709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1892C8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003558" y="5723258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“Why buy from Motor Souq and not the showroom next to my house?” — zero differentiation.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8214" y="6601768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1892C8"/>
                </a:solidFill>
                <a:latin typeface="Poppins Bold"/>
                <a:ea typeface="Poppins Bold"/>
                <a:cs typeface="Poppins Bold"/>
                <a:sym typeface="Poppins Bold"/>
              </a:rPr>
              <a:t>COUNTER-MESSAGE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003558" y="6574317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Give a concrete reason: comparison content answering their exact question, 7-branch convenience, transparency.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8214" y="7452827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1892C8"/>
                </a:solidFill>
                <a:latin typeface="Poppins Bold"/>
                <a:ea typeface="Poppins Bold"/>
                <a:cs typeface="Poppins Bold"/>
                <a:sym typeface="Poppins Bold"/>
              </a:rPr>
              <a:t>SAUDI INSIGHT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003558" y="7425376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Mid-comparison as they scroll — screenshots a comparison post to settle a family-group debate.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58214" y="8303885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1892C8"/>
                </a:solidFill>
                <a:latin typeface="Poppins Bold"/>
                <a:ea typeface="Poppins Bold"/>
                <a:cs typeface="Poppins Bold"/>
                <a:sym typeface="Poppins Bold"/>
              </a:rPr>
              <a:t>CHANNELS &amp; MOMENT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003558" y="8276434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X &amp; IG comparisons, TikTok breakdowns, Google intent. Peak: salary season, model changeovers.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365818" y="3010348"/>
            <a:ext cx="8337461" cy="6127461"/>
            <a:chOff x="0" y="0"/>
            <a:chExt cx="11116615" cy="816994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116691" cy="8170037"/>
            </a:xfrm>
            <a:custGeom>
              <a:avLst/>
              <a:gdLst/>
              <a:ahLst/>
              <a:cxnLst/>
              <a:rect r="r" b="b" t="t" l="l"/>
              <a:pathLst>
                <a:path h="8170037" w="11116691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10933049" y="0"/>
                  </a:lnTo>
                  <a:cubicBezTo>
                    <a:pt x="11034395" y="0"/>
                    <a:pt x="11116691" y="82169"/>
                    <a:pt x="11116691" y="183642"/>
                  </a:cubicBezTo>
                  <a:lnTo>
                    <a:pt x="11116691" y="7986395"/>
                  </a:lnTo>
                  <a:cubicBezTo>
                    <a:pt x="11116691" y="8087740"/>
                    <a:pt x="11034522" y="8170037"/>
                    <a:pt x="10933049" y="8170037"/>
                  </a:cubicBezTo>
                  <a:lnTo>
                    <a:pt x="183642" y="8170037"/>
                  </a:lnTo>
                  <a:cubicBezTo>
                    <a:pt x="82169" y="8169910"/>
                    <a:pt x="0" y="8087741"/>
                    <a:pt x="0" y="798639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375353" y="3019882"/>
            <a:ext cx="8318392" cy="123539"/>
            <a:chOff x="0" y="0"/>
            <a:chExt cx="11091189" cy="16471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91164" cy="164719"/>
            </a:xfrm>
            <a:custGeom>
              <a:avLst/>
              <a:gdLst/>
              <a:ahLst/>
              <a:cxnLst/>
              <a:rect r="r" b="b" t="t" l="l"/>
              <a:pathLst>
                <a:path h="164719" w="11091164">
                  <a:moveTo>
                    <a:pt x="0" y="0"/>
                  </a:moveTo>
                  <a:lnTo>
                    <a:pt x="11091164" y="0"/>
                  </a:lnTo>
                  <a:lnTo>
                    <a:pt x="11091164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787157" y="3376774"/>
            <a:ext cx="7563421" cy="549069"/>
            <a:chOff x="0" y="0"/>
            <a:chExt cx="10084562" cy="7320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084567" cy="732092"/>
            </a:xfrm>
            <a:custGeom>
              <a:avLst/>
              <a:gdLst/>
              <a:ahLst/>
              <a:cxnLst/>
              <a:rect r="r" b="b" t="t" l="l"/>
              <a:pathLst>
                <a:path h="732092" w="10084567">
                  <a:moveTo>
                    <a:pt x="0" y="0"/>
                  </a:moveTo>
                  <a:lnTo>
                    <a:pt x="10084567" y="0"/>
                  </a:lnTo>
                  <a:lnTo>
                    <a:pt x="1008456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406" r="0" b="-21840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0084562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Convenience Seeker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878597" y="4025351"/>
            <a:ext cx="7380542" cy="69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5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Age 28–45 · time-poor professional · wants 80% of the journey online before a showroom.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878597" y="4899660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1892C8"/>
                </a:solidFill>
                <a:latin typeface="Poppins Bold"/>
                <a:ea typeface="Poppins Bold"/>
                <a:cs typeface="Poppins Bold"/>
                <a:sym typeface="Poppins Bold"/>
              </a:rPr>
              <a:t>TRIGGER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623940" y="4872199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No time to visit five showrooms; wants to shortlist from the phone, then one confident visit.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878597" y="5750709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1892C8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623940" y="5723258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“Buy a car without seeing it properly? And trust the dealer?” — the remote-buying trust gap.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878597" y="6601768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1892C8"/>
                </a:solidFill>
                <a:latin typeface="Poppins Bold"/>
                <a:ea typeface="Poppins Bold"/>
                <a:cs typeface="Poppins Bold"/>
                <a:sym typeface="Poppins Bold"/>
              </a:rPr>
              <a:t>COUNTER-MESSAGE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623940" y="6574317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Show the online-to-branch journey — 360° browsing, then a smooth, no-pressure branch visit.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878597" y="7452827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1892C8"/>
                </a:solidFill>
                <a:latin typeface="Poppins Bold"/>
                <a:ea typeface="Poppins Bold"/>
                <a:cs typeface="Poppins Bold"/>
                <a:sym typeface="Poppins Bold"/>
              </a:rPr>
              <a:t>SAUDI INSIGHT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623940" y="7425376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Values their time over a few riyals of discount. Rewards “research, decide, visit once.”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878597" y="8303885"/>
            <a:ext cx="2699728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120">
                <a:solidFill>
                  <a:srgbClr val="1892C8"/>
                </a:solidFill>
                <a:latin typeface="Poppins Bold"/>
                <a:ea typeface="Poppins Bold"/>
                <a:cs typeface="Poppins Bold"/>
                <a:sym typeface="Poppins Bold"/>
              </a:rPr>
              <a:t>CHANNELS &amp; MOMENT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623940" y="8276434"/>
            <a:ext cx="463519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IG &amp; TikTok research, website deep-dive. Peak: whenever life forces a fast, low-hassle purchase.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35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033695" y="34509"/>
            <a:ext cx="5856875" cy="623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028"/>
              </a:lnSpc>
            </a:pPr>
            <a:r>
              <a:rPr lang="en-US" sz="30023" b="true">
                <a:solidFill>
                  <a:srgbClr val="1B8A5A">
                    <a:alpha val="15686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23608" y="4323921"/>
            <a:ext cx="686333" cy="68637"/>
            <a:chOff x="0" y="0"/>
            <a:chExt cx="915111" cy="915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5162" cy="91567"/>
            </a:xfrm>
            <a:custGeom>
              <a:avLst/>
              <a:gdLst/>
              <a:ahLst/>
              <a:cxnLst/>
              <a:rect r="r" b="b" t="t" l="l"/>
              <a:pathLst>
                <a:path h="91567" w="915162">
                  <a:moveTo>
                    <a:pt x="0" y="0"/>
                  </a:moveTo>
                  <a:lnTo>
                    <a:pt x="915162" y="0"/>
                  </a:lnTo>
                  <a:lnTo>
                    <a:pt x="915162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3608" y="4529823"/>
            <a:ext cx="10981382" cy="549069"/>
            <a:chOff x="0" y="0"/>
            <a:chExt cx="14641843" cy="7320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1840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4641843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b="true" sz="1951" spc="750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SECTION FIVE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77773" y="5067462"/>
            <a:ext cx="12857512" cy="1887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6"/>
              </a:lnSpc>
            </a:pPr>
            <a:r>
              <a:rPr lang="en-US" sz="690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Social Media Strategy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54971" y="8922372"/>
            <a:ext cx="7137892" cy="905961"/>
            <a:chOff x="0" y="0"/>
            <a:chExt cx="9517190" cy="12079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17253" cy="1208024"/>
            </a:xfrm>
            <a:custGeom>
              <a:avLst/>
              <a:gdLst/>
              <a:ahLst/>
              <a:cxnLst/>
              <a:rect r="r" b="b" t="t" l="l"/>
              <a:pathLst>
                <a:path h="1208024" w="9517253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9370822" y="0"/>
                  </a:lnTo>
                  <a:cubicBezTo>
                    <a:pt x="9451721" y="0"/>
                    <a:pt x="9517253" y="65532"/>
                    <a:pt x="9517253" y="146431"/>
                  </a:cubicBezTo>
                  <a:lnTo>
                    <a:pt x="9517253" y="1061593"/>
                  </a:lnTo>
                  <a:cubicBezTo>
                    <a:pt x="9517253" y="1142492"/>
                    <a:pt x="9451721" y="1208024"/>
                    <a:pt x="9370822" y="1208024"/>
                  </a:cubicBezTo>
                  <a:lnTo>
                    <a:pt x="146431" y="1208024"/>
                  </a:lnTo>
                  <a:cubicBezTo>
                    <a:pt x="65532" y="1207897"/>
                    <a:pt x="0" y="1142365"/>
                    <a:pt x="0" y="106159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9500" y="9087088"/>
            <a:ext cx="6588824" cy="968950"/>
            <a:chOff x="0" y="0"/>
            <a:chExt cx="8785098" cy="1291933"/>
          </a:xfrm>
        </p:grpSpPr>
        <p:sp>
          <p:nvSpPr>
            <p:cNvPr name="Freeform 13" id="13" descr="/tmp/build/brands_strip.png"/>
            <p:cNvSpPr/>
            <p:nvPr/>
          </p:nvSpPr>
          <p:spPr>
            <a:xfrm flipH="false" flipV="false" rot="0">
              <a:off x="0" y="0"/>
              <a:ext cx="8785098" cy="1291971"/>
            </a:xfrm>
            <a:custGeom>
              <a:avLst/>
              <a:gdLst/>
              <a:ahLst/>
              <a:cxnLst/>
              <a:rect r="r" b="b" t="t" l="l"/>
              <a:pathLst>
                <a:path h="1291971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291971"/>
                  </a:lnTo>
                  <a:lnTo>
                    <a:pt x="0" y="1291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05 · STRATEGY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Three Brands, Three Archetypes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73862" y="2076155"/>
            <a:ext cx="16289188" cy="62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8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Before tone, before content, each brand needs a soul. Using the 12 brand archetypes, we anchor each to the identity that fits its game.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3422152"/>
            <a:ext cx="5441118" cy="5166589"/>
            <a:chOff x="0" y="0"/>
            <a:chExt cx="7254824" cy="68887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54875" cy="6888861"/>
            </a:xfrm>
            <a:custGeom>
              <a:avLst/>
              <a:gdLst/>
              <a:ahLst/>
              <a:cxnLst/>
              <a:rect r="r" b="b" t="t" l="l"/>
              <a:pathLst>
                <a:path h="6888861" w="7254875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7071106" y="0"/>
                  </a:lnTo>
                  <a:cubicBezTo>
                    <a:pt x="7172579" y="0"/>
                    <a:pt x="7254875" y="82296"/>
                    <a:pt x="7254875" y="183769"/>
                  </a:cubicBezTo>
                  <a:lnTo>
                    <a:pt x="7254875" y="6705092"/>
                  </a:lnTo>
                  <a:cubicBezTo>
                    <a:pt x="7254875" y="6806565"/>
                    <a:pt x="7172579" y="6888861"/>
                    <a:pt x="7071106" y="6888861"/>
                  </a:cubicBezTo>
                  <a:lnTo>
                    <a:pt x="183769" y="6888861"/>
                  </a:lnTo>
                  <a:cubicBezTo>
                    <a:pt x="82296" y="6888734"/>
                    <a:pt x="0" y="6806565"/>
                    <a:pt x="0" y="670509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66774" y="3816029"/>
            <a:ext cx="4735716" cy="480431"/>
            <a:chOff x="0" y="0"/>
            <a:chExt cx="6314288" cy="6405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14293" cy="640580"/>
            </a:xfrm>
            <a:custGeom>
              <a:avLst/>
              <a:gdLst/>
              <a:ahLst/>
              <a:cxnLst/>
              <a:rect r="r" b="b" t="t" l="l"/>
              <a:pathLst>
                <a:path h="640580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067" r="0" b="-14206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6314288" cy="65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b="true" sz="1651" spc="150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BESTUNE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6774" y="4282735"/>
            <a:ext cx="4735716" cy="686333"/>
            <a:chOff x="0" y="0"/>
            <a:chExt cx="6314288" cy="9151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14293" cy="915115"/>
            </a:xfrm>
            <a:custGeom>
              <a:avLst/>
              <a:gdLst/>
              <a:ahLst/>
              <a:cxnLst/>
              <a:rect r="r" b="b" t="t" l="l"/>
              <a:pathLst>
                <a:path h="915115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446" r="0" b="-8444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6314288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Caregiver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66774" y="5023980"/>
            <a:ext cx="4735716" cy="411804"/>
            <a:chOff x="0" y="0"/>
            <a:chExt cx="6314288" cy="5490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14293" cy="549069"/>
            </a:xfrm>
            <a:custGeom>
              <a:avLst/>
              <a:gdLst/>
              <a:ahLst/>
              <a:cxnLst/>
              <a:rect r="r" b="b" t="t" l="l"/>
              <a:pathLst>
                <a:path h="549069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6314288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i="true">
                  <a:solidFill>
                    <a:srgbClr val="5C6879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+ Everyman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57240" y="5481161"/>
            <a:ext cx="4617520" cy="19069"/>
            <a:chOff x="0" y="0"/>
            <a:chExt cx="6156693" cy="2542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56706" cy="25400"/>
            </a:xfrm>
            <a:custGeom>
              <a:avLst/>
              <a:gdLst/>
              <a:ahLst/>
              <a:cxnLst/>
              <a:rect r="r" b="b" t="t" l="l"/>
              <a:pathLst>
                <a:path h="25400" w="6156706">
                  <a:moveTo>
                    <a:pt x="0" y="0"/>
                  </a:moveTo>
                  <a:lnTo>
                    <a:pt x="6156706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672918" r="0" b="-4673018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258214" y="5682082"/>
            <a:ext cx="4484208" cy="198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Drive: providing structure, service, protection. The answer to “can I trust it with my family?” Everyman keeps it relatable, never falsely premium.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66774" y="7412431"/>
            <a:ext cx="4598451" cy="933421"/>
            <a:chOff x="0" y="0"/>
            <a:chExt cx="6131268" cy="124456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131306" cy="1244600"/>
            </a:xfrm>
            <a:custGeom>
              <a:avLst/>
              <a:gdLst/>
              <a:ahLst/>
              <a:cxnLst/>
              <a:rect r="r" b="b" t="t" l="l"/>
              <a:pathLst>
                <a:path h="1244600" w="6131306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6021451" y="0"/>
                  </a:lnTo>
                  <a:cubicBezTo>
                    <a:pt x="6082157" y="0"/>
                    <a:pt x="6131306" y="49149"/>
                    <a:pt x="6131306" y="109855"/>
                  </a:cubicBezTo>
                  <a:lnTo>
                    <a:pt x="6131306" y="1134745"/>
                  </a:lnTo>
                  <a:cubicBezTo>
                    <a:pt x="6131306" y="1195451"/>
                    <a:pt x="6082157" y="1244600"/>
                    <a:pt x="6021451" y="1244600"/>
                  </a:cubicBezTo>
                  <a:lnTo>
                    <a:pt x="109855" y="1244600"/>
                  </a:lnTo>
                  <a:cubicBezTo>
                    <a:pt x="49149" y="1244600"/>
                    <a:pt x="0" y="1195451"/>
                    <a:pt x="0" y="1134745"/>
                  </a:cubicBezTo>
                  <a:close/>
                </a:path>
              </a:pathLst>
            </a:custGeom>
            <a:solidFill>
              <a:srgbClr val="F1F4F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31490" y="7412431"/>
            <a:ext cx="4269010" cy="933421"/>
            <a:chOff x="0" y="0"/>
            <a:chExt cx="5692013" cy="124456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692015" cy="1244556"/>
            </a:xfrm>
            <a:custGeom>
              <a:avLst/>
              <a:gdLst/>
              <a:ahLst/>
              <a:cxnLst/>
              <a:rect r="r" b="b" t="t" l="l"/>
              <a:pathLst>
                <a:path h="1244556" w="5692015">
                  <a:moveTo>
                    <a:pt x="0" y="0"/>
                  </a:moveTo>
                  <a:lnTo>
                    <a:pt x="5692015" y="0"/>
                  </a:lnTo>
                  <a:lnTo>
                    <a:pt x="5692015" y="1244556"/>
                  </a:lnTo>
                  <a:lnTo>
                    <a:pt x="0" y="1244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115" r="0" b="-3911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5692013" cy="1263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b="true" sz="1501" i="true">
                  <a:solidFill>
                    <a:srgbClr val="3C63A8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“The dependable one that looks after your family.”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496936" y="3422152"/>
            <a:ext cx="5441118" cy="5166589"/>
            <a:chOff x="0" y="0"/>
            <a:chExt cx="7254824" cy="688878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254875" cy="6888861"/>
            </a:xfrm>
            <a:custGeom>
              <a:avLst/>
              <a:gdLst/>
              <a:ahLst/>
              <a:cxnLst/>
              <a:rect r="r" b="b" t="t" l="l"/>
              <a:pathLst>
                <a:path h="6888861" w="7254875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7071106" y="0"/>
                  </a:lnTo>
                  <a:cubicBezTo>
                    <a:pt x="7172579" y="0"/>
                    <a:pt x="7254875" y="82296"/>
                    <a:pt x="7254875" y="183769"/>
                  </a:cubicBezTo>
                  <a:lnTo>
                    <a:pt x="7254875" y="6705092"/>
                  </a:lnTo>
                  <a:cubicBezTo>
                    <a:pt x="7254875" y="6806565"/>
                    <a:pt x="7172579" y="6888861"/>
                    <a:pt x="7071106" y="6888861"/>
                  </a:cubicBezTo>
                  <a:lnTo>
                    <a:pt x="183769" y="6888861"/>
                  </a:lnTo>
                  <a:cubicBezTo>
                    <a:pt x="82296" y="6888734"/>
                    <a:pt x="0" y="6806565"/>
                    <a:pt x="0" y="670509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6918265" y="3816029"/>
            <a:ext cx="4735716" cy="480431"/>
            <a:chOff x="0" y="0"/>
            <a:chExt cx="6314288" cy="64057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314293" cy="640580"/>
            </a:xfrm>
            <a:custGeom>
              <a:avLst/>
              <a:gdLst/>
              <a:ahLst/>
              <a:cxnLst/>
              <a:rect r="r" b="b" t="t" l="l"/>
              <a:pathLst>
                <a:path h="640580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067" r="0" b="-14206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6314288" cy="65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b="true" sz="1651" spc="150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212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918265" y="4282735"/>
            <a:ext cx="4735716" cy="686333"/>
            <a:chOff x="0" y="0"/>
            <a:chExt cx="6314288" cy="91511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314293" cy="915115"/>
            </a:xfrm>
            <a:custGeom>
              <a:avLst/>
              <a:gdLst/>
              <a:ahLst/>
              <a:cxnLst/>
              <a:rect r="r" b="b" t="t" l="l"/>
              <a:pathLst>
                <a:path h="915115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446" r="0" b="-8444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6314288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Explorer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918265" y="5023980"/>
            <a:ext cx="4735716" cy="411804"/>
            <a:chOff x="0" y="0"/>
            <a:chExt cx="6314288" cy="54907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314293" cy="549069"/>
            </a:xfrm>
            <a:custGeom>
              <a:avLst/>
              <a:gdLst/>
              <a:ahLst/>
              <a:cxnLst/>
              <a:rect r="r" b="b" t="t" l="l"/>
              <a:pathLst>
                <a:path h="549069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6314288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i="true">
                  <a:solidFill>
                    <a:srgbClr val="5C6879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+ Outlaw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908740" y="5481161"/>
            <a:ext cx="4617520" cy="19069"/>
            <a:chOff x="0" y="0"/>
            <a:chExt cx="6156693" cy="2542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156706" cy="25400"/>
            </a:xfrm>
            <a:custGeom>
              <a:avLst/>
              <a:gdLst/>
              <a:ahLst/>
              <a:cxnLst/>
              <a:rect r="r" b="b" t="t" l="l"/>
              <a:pathLst>
                <a:path h="25400" w="6156706">
                  <a:moveTo>
                    <a:pt x="0" y="0"/>
                  </a:moveTo>
                  <a:lnTo>
                    <a:pt x="6156706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672918" r="0" b="-4673018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7009705" y="5682082"/>
            <a:ext cx="4484208" cy="198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Drive: freedom, adventure, breaking boundaries. 212's own line is “recognizes no boundaries” — it is the Explorer. The Outlaw edge makes it a statement.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6918265" y="7412431"/>
            <a:ext cx="4598451" cy="933421"/>
            <a:chOff x="0" y="0"/>
            <a:chExt cx="6131268" cy="124456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131306" cy="1244600"/>
            </a:xfrm>
            <a:custGeom>
              <a:avLst/>
              <a:gdLst/>
              <a:ahLst/>
              <a:cxnLst/>
              <a:rect r="r" b="b" t="t" l="l"/>
              <a:pathLst>
                <a:path h="1244600" w="6131306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6021451" y="0"/>
                  </a:lnTo>
                  <a:cubicBezTo>
                    <a:pt x="6082157" y="0"/>
                    <a:pt x="6131306" y="49149"/>
                    <a:pt x="6131306" y="109855"/>
                  </a:cubicBezTo>
                  <a:lnTo>
                    <a:pt x="6131306" y="1134745"/>
                  </a:lnTo>
                  <a:cubicBezTo>
                    <a:pt x="6131306" y="1195451"/>
                    <a:pt x="6082157" y="1244600"/>
                    <a:pt x="6021451" y="1244600"/>
                  </a:cubicBezTo>
                  <a:lnTo>
                    <a:pt x="109855" y="1244600"/>
                  </a:lnTo>
                  <a:cubicBezTo>
                    <a:pt x="49149" y="1244600"/>
                    <a:pt x="0" y="1195451"/>
                    <a:pt x="0" y="1134745"/>
                  </a:cubicBezTo>
                  <a:close/>
                </a:path>
              </a:pathLst>
            </a:custGeom>
            <a:solidFill>
              <a:srgbClr val="F1F4F8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7082990" y="7412431"/>
            <a:ext cx="4269010" cy="933421"/>
            <a:chOff x="0" y="0"/>
            <a:chExt cx="5692013" cy="124456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692015" cy="1244556"/>
            </a:xfrm>
            <a:custGeom>
              <a:avLst/>
              <a:gdLst/>
              <a:ahLst/>
              <a:cxnLst/>
              <a:rect r="r" b="b" t="t" l="l"/>
              <a:pathLst>
                <a:path h="1244556" w="5692015">
                  <a:moveTo>
                    <a:pt x="0" y="0"/>
                  </a:moveTo>
                  <a:lnTo>
                    <a:pt x="5692015" y="0"/>
                  </a:lnTo>
                  <a:lnTo>
                    <a:pt x="5692015" y="1244556"/>
                  </a:lnTo>
                  <a:lnTo>
                    <a:pt x="0" y="1244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115" r="0" b="-3911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5692013" cy="1263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b="true" sz="1501" i="true">
                  <a:solidFill>
                    <a:srgbClr val="1B8A5A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“For those who refuse the paved road — and the ordinary.”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248436" y="3422152"/>
            <a:ext cx="5441118" cy="5166589"/>
            <a:chOff x="0" y="0"/>
            <a:chExt cx="7254824" cy="688878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254875" cy="6888861"/>
            </a:xfrm>
            <a:custGeom>
              <a:avLst/>
              <a:gdLst/>
              <a:ahLst/>
              <a:cxnLst/>
              <a:rect r="r" b="b" t="t" l="l"/>
              <a:pathLst>
                <a:path h="6888861" w="7254875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7071106" y="0"/>
                  </a:lnTo>
                  <a:cubicBezTo>
                    <a:pt x="7172579" y="0"/>
                    <a:pt x="7254875" y="82296"/>
                    <a:pt x="7254875" y="183769"/>
                  </a:cubicBezTo>
                  <a:lnTo>
                    <a:pt x="7254875" y="6705092"/>
                  </a:lnTo>
                  <a:cubicBezTo>
                    <a:pt x="7254875" y="6806565"/>
                    <a:pt x="7172579" y="6888861"/>
                    <a:pt x="7071106" y="6888861"/>
                  </a:cubicBezTo>
                  <a:lnTo>
                    <a:pt x="183769" y="6888861"/>
                  </a:lnTo>
                  <a:cubicBezTo>
                    <a:pt x="82296" y="6888734"/>
                    <a:pt x="0" y="6806565"/>
                    <a:pt x="0" y="670509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2669764" y="3816029"/>
            <a:ext cx="4735716" cy="480431"/>
            <a:chOff x="0" y="0"/>
            <a:chExt cx="6314288" cy="64057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314293" cy="640580"/>
            </a:xfrm>
            <a:custGeom>
              <a:avLst/>
              <a:gdLst/>
              <a:ahLst/>
              <a:cxnLst/>
              <a:rect r="r" b="b" t="t" l="l"/>
              <a:pathLst>
                <a:path h="640580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067" r="0" b="-14206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6314288" cy="65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b="true" sz="1651" spc="150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MOTOR SOUQ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669764" y="4282735"/>
            <a:ext cx="4735716" cy="686333"/>
            <a:chOff x="0" y="0"/>
            <a:chExt cx="6314288" cy="91511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314293" cy="915115"/>
            </a:xfrm>
            <a:custGeom>
              <a:avLst/>
              <a:gdLst/>
              <a:ahLst/>
              <a:cxnLst/>
              <a:rect r="r" b="b" t="t" l="l"/>
              <a:pathLst>
                <a:path h="915115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446" r="0" b="-8444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6314288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Sage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669764" y="5023980"/>
            <a:ext cx="4735716" cy="411804"/>
            <a:chOff x="0" y="0"/>
            <a:chExt cx="6314288" cy="54907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314293" cy="549069"/>
            </a:xfrm>
            <a:custGeom>
              <a:avLst/>
              <a:gdLst/>
              <a:ahLst/>
              <a:cxnLst/>
              <a:rect r="r" b="b" t="t" l="l"/>
              <a:pathLst>
                <a:path h="549069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6314288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i="true">
                  <a:solidFill>
                    <a:srgbClr val="5C6879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+ Everyman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660230" y="5481161"/>
            <a:ext cx="4617520" cy="19069"/>
            <a:chOff x="0" y="0"/>
            <a:chExt cx="6156693" cy="2542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156706" cy="25400"/>
            </a:xfrm>
            <a:custGeom>
              <a:avLst/>
              <a:gdLst/>
              <a:ahLst/>
              <a:cxnLst/>
              <a:rect r="r" b="b" t="t" l="l"/>
              <a:pathLst>
                <a:path h="25400" w="6156706">
                  <a:moveTo>
                    <a:pt x="0" y="0"/>
                  </a:moveTo>
                  <a:lnTo>
                    <a:pt x="6156706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672918" r="0" b="-4673018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63" id="63"/>
          <p:cNvSpPr txBox="true"/>
          <p:nvPr/>
        </p:nvSpPr>
        <p:spPr>
          <a:xfrm rot="0">
            <a:off x="12761204" y="5682082"/>
            <a:ext cx="4484208" cy="198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Drive: guidance, clarity, helping others decide. The Sage informs and simplifies (comparisons done right). Everyman keeps it on the buyer's side.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2669764" y="7412431"/>
            <a:ext cx="4598451" cy="933421"/>
            <a:chOff x="0" y="0"/>
            <a:chExt cx="6131268" cy="124456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131306" cy="1244600"/>
            </a:xfrm>
            <a:custGeom>
              <a:avLst/>
              <a:gdLst/>
              <a:ahLst/>
              <a:cxnLst/>
              <a:rect r="r" b="b" t="t" l="l"/>
              <a:pathLst>
                <a:path h="1244600" w="6131306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6021451" y="0"/>
                  </a:lnTo>
                  <a:cubicBezTo>
                    <a:pt x="6082157" y="0"/>
                    <a:pt x="6131306" y="49149"/>
                    <a:pt x="6131306" y="109855"/>
                  </a:cubicBezTo>
                  <a:lnTo>
                    <a:pt x="6131306" y="1134745"/>
                  </a:lnTo>
                  <a:cubicBezTo>
                    <a:pt x="6131306" y="1195451"/>
                    <a:pt x="6082157" y="1244600"/>
                    <a:pt x="6021451" y="1244600"/>
                  </a:cubicBezTo>
                  <a:lnTo>
                    <a:pt x="109855" y="1244600"/>
                  </a:lnTo>
                  <a:cubicBezTo>
                    <a:pt x="49149" y="1244600"/>
                    <a:pt x="0" y="1195451"/>
                    <a:pt x="0" y="1134745"/>
                  </a:cubicBezTo>
                  <a:close/>
                </a:path>
              </a:pathLst>
            </a:custGeom>
            <a:solidFill>
              <a:srgbClr val="F1F4F8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834490" y="7412431"/>
            <a:ext cx="4269010" cy="933421"/>
            <a:chOff x="0" y="0"/>
            <a:chExt cx="5692013" cy="124456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692015" cy="1244556"/>
            </a:xfrm>
            <a:custGeom>
              <a:avLst/>
              <a:gdLst/>
              <a:ahLst/>
              <a:cxnLst/>
              <a:rect r="r" b="b" t="t" l="l"/>
              <a:pathLst>
                <a:path h="1244556" w="5692015">
                  <a:moveTo>
                    <a:pt x="0" y="0"/>
                  </a:moveTo>
                  <a:lnTo>
                    <a:pt x="5692015" y="0"/>
                  </a:lnTo>
                  <a:lnTo>
                    <a:pt x="5692015" y="1244556"/>
                  </a:lnTo>
                  <a:lnTo>
                    <a:pt x="0" y="1244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115" r="0" b="-3911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5692013" cy="1263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b="true" sz="1501" i="true">
                  <a:solidFill>
                    <a:srgbClr val="1892C8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“The honest guide that helps you choose right.”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36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05 · STRATEGY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Positioning — One Sentence Each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5436" y="2735809"/>
            <a:ext cx="16806853" cy="1858442"/>
            <a:chOff x="0" y="0"/>
            <a:chExt cx="22409137" cy="24779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09150" cy="2477897"/>
            </a:xfrm>
            <a:custGeom>
              <a:avLst/>
              <a:gdLst/>
              <a:ahLst/>
              <a:cxnLst/>
              <a:rect r="r" b="b" t="t" l="l"/>
              <a:pathLst>
                <a:path h="2477897" w="22409150">
                  <a:moveTo>
                    <a:pt x="0" y="184912"/>
                  </a:moveTo>
                  <a:cubicBezTo>
                    <a:pt x="0" y="82804"/>
                    <a:pt x="82804" y="0"/>
                    <a:pt x="184912" y="0"/>
                  </a:cubicBezTo>
                  <a:lnTo>
                    <a:pt x="22224237" y="0"/>
                  </a:lnTo>
                  <a:cubicBezTo>
                    <a:pt x="22326346" y="0"/>
                    <a:pt x="22409150" y="82804"/>
                    <a:pt x="22409150" y="184912"/>
                  </a:cubicBezTo>
                  <a:lnTo>
                    <a:pt x="22409150" y="2292985"/>
                  </a:lnTo>
                  <a:cubicBezTo>
                    <a:pt x="22409150" y="2395093"/>
                    <a:pt x="22326346" y="2477897"/>
                    <a:pt x="22224237" y="2477897"/>
                  </a:cubicBezTo>
                  <a:lnTo>
                    <a:pt x="184912" y="2477897"/>
                  </a:lnTo>
                  <a:cubicBezTo>
                    <a:pt x="82804" y="2477897"/>
                    <a:pt x="0" y="2395093"/>
                    <a:pt x="0" y="229298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54971" y="2745343"/>
            <a:ext cx="178451" cy="1839382"/>
            <a:chOff x="0" y="0"/>
            <a:chExt cx="237934" cy="24525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7871" cy="2452497"/>
            </a:xfrm>
            <a:custGeom>
              <a:avLst/>
              <a:gdLst/>
              <a:ahLst/>
              <a:cxnLst/>
              <a:rect r="r" b="b" t="t" l="l"/>
              <a:pathLst>
                <a:path h="2452497" w="237871">
                  <a:moveTo>
                    <a:pt x="0" y="0"/>
                  </a:moveTo>
                  <a:lnTo>
                    <a:pt x="237871" y="0"/>
                  </a:lnTo>
                  <a:lnTo>
                    <a:pt x="237871" y="2452497"/>
                  </a:lnTo>
                  <a:lnTo>
                    <a:pt x="0" y="2452497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04039" y="3019882"/>
            <a:ext cx="3706216" cy="1509941"/>
            <a:chOff x="0" y="0"/>
            <a:chExt cx="4941621" cy="20132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41620" cy="2013253"/>
            </a:xfrm>
            <a:custGeom>
              <a:avLst/>
              <a:gdLst/>
              <a:ahLst/>
              <a:cxnLst/>
              <a:rect r="r" b="b" t="t" l="l"/>
              <a:pathLst>
                <a:path h="2013253" w="4941620">
                  <a:moveTo>
                    <a:pt x="0" y="0"/>
                  </a:moveTo>
                  <a:lnTo>
                    <a:pt x="4941620" y="0"/>
                  </a:lnTo>
                  <a:lnTo>
                    <a:pt x="4941620" y="2013253"/>
                  </a:lnTo>
                  <a:lnTo>
                    <a:pt x="0" y="20132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71" t="0" r="-2271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941621" cy="2041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2"/>
                </a:lnSpc>
              </a:pPr>
              <a:r>
                <a:rPr lang="en-US" sz="3002" b="true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Bestune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353421" y="3019882"/>
            <a:ext cx="11804980" cy="1509941"/>
            <a:chOff x="0" y="0"/>
            <a:chExt cx="15739974" cy="201325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739977" cy="2013253"/>
            </a:xfrm>
            <a:custGeom>
              <a:avLst/>
              <a:gdLst/>
              <a:ahLst/>
              <a:cxnLst/>
              <a:rect r="r" b="b" t="t" l="l"/>
              <a:pathLst>
                <a:path h="2013253" w="15739977">
                  <a:moveTo>
                    <a:pt x="0" y="0"/>
                  </a:moveTo>
                  <a:lnTo>
                    <a:pt x="15739977" y="0"/>
                  </a:lnTo>
                  <a:lnTo>
                    <a:pt x="15739977" y="2013253"/>
                  </a:lnTo>
                  <a:lnTo>
                    <a:pt x="0" y="20132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337" r="0" b="-10233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5739974" cy="2051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6"/>
                </a:lnSpc>
              </a:pPr>
              <a:r>
                <a:rPr lang="en-US" sz="1951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For the Saudi family that wants modern space and features without gambling on reliability, Bestune is the Chinese SUV/sedan that earns trust — backed by a 5-year warranty and FAW's 68-year heritage.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45436" y="4794818"/>
            <a:ext cx="16806853" cy="1858442"/>
            <a:chOff x="0" y="0"/>
            <a:chExt cx="22409137" cy="247792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409150" cy="2477897"/>
            </a:xfrm>
            <a:custGeom>
              <a:avLst/>
              <a:gdLst/>
              <a:ahLst/>
              <a:cxnLst/>
              <a:rect r="r" b="b" t="t" l="l"/>
              <a:pathLst>
                <a:path h="2477897" w="22409150">
                  <a:moveTo>
                    <a:pt x="0" y="184912"/>
                  </a:moveTo>
                  <a:cubicBezTo>
                    <a:pt x="0" y="82804"/>
                    <a:pt x="82804" y="0"/>
                    <a:pt x="184912" y="0"/>
                  </a:cubicBezTo>
                  <a:lnTo>
                    <a:pt x="22224237" y="0"/>
                  </a:lnTo>
                  <a:cubicBezTo>
                    <a:pt x="22326346" y="0"/>
                    <a:pt x="22409150" y="82804"/>
                    <a:pt x="22409150" y="184912"/>
                  </a:cubicBezTo>
                  <a:lnTo>
                    <a:pt x="22409150" y="2292985"/>
                  </a:lnTo>
                  <a:cubicBezTo>
                    <a:pt x="22409150" y="2395093"/>
                    <a:pt x="22326346" y="2477897"/>
                    <a:pt x="22224237" y="2477897"/>
                  </a:cubicBezTo>
                  <a:lnTo>
                    <a:pt x="184912" y="2477897"/>
                  </a:lnTo>
                  <a:cubicBezTo>
                    <a:pt x="82804" y="2477897"/>
                    <a:pt x="0" y="2395093"/>
                    <a:pt x="0" y="229298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54971" y="4804353"/>
            <a:ext cx="178451" cy="1839382"/>
            <a:chOff x="0" y="0"/>
            <a:chExt cx="237934" cy="245251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7871" cy="2452497"/>
            </a:xfrm>
            <a:custGeom>
              <a:avLst/>
              <a:gdLst/>
              <a:ahLst/>
              <a:cxnLst/>
              <a:rect r="r" b="b" t="t" l="l"/>
              <a:pathLst>
                <a:path h="2452497" w="237871">
                  <a:moveTo>
                    <a:pt x="0" y="0"/>
                  </a:moveTo>
                  <a:lnTo>
                    <a:pt x="237871" y="0"/>
                  </a:lnTo>
                  <a:lnTo>
                    <a:pt x="237871" y="2452497"/>
                  </a:lnTo>
                  <a:lnTo>
                    <a:pt x="0" y="2452497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04039" y="5078892"/>
            <a:ext cx="3706216" cy="1509941"/>
            <a:chOff x="0" y="0"/>
            <a:chExt cx="4941621" cy="20132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41620" cy="2013253"/>
            </a:xfrm>
            <a:custGeom>
              <a:avLst/>
              <a:gdLst/>
              <a:ahLst/>
              <a:cxnLst/>
              <a:rect r="r" b="b" t="t" l="l"/>
              <a:pathLst>
                <a:path h="2013253" w="4941620">
                  <a:moveTo>
                    <a:pt x="0" y="0"/>
                  </a:moveTo>
                  <a:lnTo>
                    <a:pt x="4941620" y="0"/>
                  </a:lnTo>
                  <a:lnTo>
                    <a:pt x="4941620" y="2013253"/>
                  </a:lnTo>
                  <a:lnTo>
                    <a:pt x="0" y="20132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71" t="0" r="-2271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4941621" cy="2041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2"/>
                </a:lnSpc>
              </a:pPr>
              <a:r>
                <a:rPr lang="en-US" sz="3002" b="true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212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353421" y="5078892"/>
            <a:ext cx="11804980" cy="1509941"/>
            <a:chOff x="0" y="0"/>
            <a:chExt cx="15739974" cy="201325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739977" cy="2013253"/>
            </a:xfrm>
            <a:custGeom>
              <a:avLst/>
              <a:gdLst/>
              <a:ahLst/>
              <a:cxnLst/>
              <a:rect r="r" b="b" t="t" l="l"/>
              <a:pathLst>
                <a:path h="2013253" w="15739977">
                  <a:moveTo>
                    <a:pt x="0" y="0"/>
                  </a:moveTo>
                  <a:lnTo>
                    <a:pt x="15739977" y="0"/>
                  </a:lnTo>
                  <a:lnTo>
                    <a:pt x="15739977" y="2013253"/>
                  </a:lnTo>
                  <a:lnTo>
                    <a:pt x="0" y="20132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337" r="0" b="-10233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5739974" cy="2051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6"/>
                </a:lnSpc>
              </a:pPr>
              <a:r>
                <a:rPr lang="en-US" sz="1951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For the Saudi adventurer who refuses both the ordinary crossover and the overpriced icon, 212 is the heritage-born off-roader that delivers the spirit of a Defender at a price that makes sense.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45436" y="6853828"/>
            <a:ext cx="16806853" cy="1858442"/>
            <a:chOff x="0" y="0"/>
            <a:chExt cx="22409137" cy="247792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409150" cy="2477897"/>
            </a:xfrm>
            <a:custGeom>
              <a:avLst/>
              <a:gdLst/>
              <a:ahLst/>
              <a:cxnLst/>
              <a:rect r="r" b="b" t="t" l="l"/>
              <a:pathLst>
                <a:path h="2477897" w="22409150">
                  <a:moveTo>
                    <a:pt x="0" y="184912"/>
                  </a:moveTo>
                  <a:cubicBezTo>
                    <a:pt x="0" y="82804"/>
                    <a:pt x="82804" y="0"/>
                    <a:pt x="184912" y="0"/>
                  </a:cubicBezTo>
                  <a:lnTo>
                    <a:pt x="22224237" y="0"/>
                  </a:lnTo>
                  <a:cubicBezTo>
                    <a:pt x="22326346" y="0"/>
                    <a:pt x="22409150" y="82804"/>
                    <a:pt x="22409150" y="184912"/>
                  </a:cubicBezTo>
                  <a:lnTo>
                    <a:pt x="22409150" y="2292985"/>
                  </a:lnTo>
                  <a:cubicBezTo>
                    <a:pt x="22409150" y="2395093"/>
                    <a:pt x="22326346" y="2477897"/>
                    <a:pt x="22224237" y="2477897"/>
                  </a:cubicBezTo>
                  <a:lnTo>
                    <a:pt x="184912" y="2477897"/>
                  </a:lnTo>
                  <a:cubicBezTo>
                    <a:pt x="82804" y="2477897"/>
                    <a:pt x="0" y="2395093"/>
                    <a:pt x="0" y="229298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754971" y="6863363"/>
            <a:ext cx="178451" cy="1839382"/>
            <a:chOff x="0" y="0"/>
            <a:chExt cx="237934" cy="245251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7871" cy="2452497"/>
            </a:xfrm>
            <a:custGeom>
              <a:avLst/>
              <a:gdLst/>
              <a:ahLst/>
              <a:cxnLst/>
              <a:rect r="r" b="b" t="t" l="l"/>
              <a:pathLst>
                <a:path h="2452497" w="237871">
                  <a:moveTo>
                    <a:pt x="0" y="0"/>
                  </a:moveTo>
                  <a:lnTo>
                    <a:pt x="237871" y="0"/>
                  </a:lnTo>
                  <a:lnTo>
                    <a:pt x="237871" y="2452497"/>
                  </a:lnTo>
                  <a:lnTo>
                    <a:pt x="0" y="2452497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04039" y="7137892"/>
            <a:ext cx="3706216" cy="1509941"/>
            <a:chOff x="0" y="0"/>
            <a:chExt cx="4941621" cy="201325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941620" cy="2013253"/>
            </a:xfrm>
            <a:custGeom>
              <a:avLst/>
              <a:gdLst/>
              <a:ahLst/>
              <a:cxnLst/>
              <a:rect r="r" b="b" t="t" l="l"/>
              <a:pathLst>
                <a:path h="2013253" w="4941620">
                  <a:moveTo>
                    <a:pt x="0" y="0"/>
                  </a:moveTo>
                  <a:lnTo>
                    <a:pt x="4941620" y="0"/>
                  </a:lnTo>
                  <a:lnTo>
                    <a:pt x="4941620" y="2013253"/>
                  </a:lnTo>
                  <a:lnTo>
                    <a:pt x="0" y="20132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71" t="0" r="-2271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4941621" cy="2041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2"/>
                </a:lnSpc>
              </a:pPr>
              <a:r>
                <a:rPr lang="en-US" sz="3002" b="true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Motor Souq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353421" y="7137892"/>
            <a:ext cx="11804980" cy="1509941"/>
            <a:chOff x="0" y="0"/>
            <a:chExt cx="15739974" cy="201325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739977" cy="2013253"/>
            </a:xfrm>
            <a:custGeom>
              <a:avLst/>
              <a:gdLst/>
              <a:ahLst/>
              <a:cxnLst/>
              <a:rect r="r" b="b" t="t" l="l"/>
              <a:pathLst>
                <a:path h="2013253" w="15739977">
                  <a:moveTo>
                    <a:pt x="0" y="0"/>
                  </a:moveTo>
                  <a:lnTo>
                    <a:pt x="15739977" y="0"/>
                  </a:lnTo>
                  <a:lnTo>
                    <a:pt x="15739977" y="2013253"/>
                  </a:lnTo>
                  <a:lnTo>
                    <a:pt x="0" y="20132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337" r="0" b="-10233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5739974" cy="2051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6"/>
                </a:lnSpc>
              </a:pPr>
              <a:r>
                <a:rPr lang="en-US" sz="1951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For the Saudi buyer already deciding which car to get, Motor Souq is the multi-brand dealer that helps you choose with confidence — clear comparisons, seven branches, no showroom pressure.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37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05 · STRATEGY · PILLARS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Bestune — Objectives &amp; Content Pillars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82422" y="2059010"/>
            <a:ext cx="6863363" cy="411804"/>
            <a:chOff x="0" y="0"/>
            <a:chExt cx="9151150" cy="549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151150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b="true" sz="1426" spc="225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COMMUNICATION OBJECTIVES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3608" y="2635529"/>
            <a:ext cx="150990" cy="150990"/>
            <a:chOff x="0" y="0"/>
            <a:chExt cx="201320" cy="2013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1295" cy="201295"/>
            </a:xfrm>
            <a:custGeom>
              <a:avLst/>
              <a:gdLst/>
              <a:ahLst/>
              <a:cxnLst/>
              <a:rect r="r" b="b" t="t" l="l"/>
              <a:pathLst>
                <a:path h="201295" w="201295">
                  <a:moveTo>
                    <a:pt x="0" y="0"/>
                  </a:moveTo>
                  <a:lnTo>
                    <a:pt x="201295" y="0"/>
                  </a:lnTo>
                  <a:lnTo>
                    <a:pt x="201295" y="201295"/>
                  </a:lnTo>
                  <a:lnTo>
                    <a:pt x="0" y="201295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58214" y="2538660"/>
            <a:ext cx="4758738" cy="116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Reposition Bestune from “another Chinese brand” to “the family SUV you can trust.”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23608" y="4008206"/>
            <a:ext cx="150990" cy="150990"/>
            <a:chOff x="0" y="0"/>
            <a:chExt cx="201320" cy="2013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1295" cy="201295"/>
            </a:xfrm>
            <a:custGeom>
              <a:avLst/>
              <a:gdLst/>
              <a:ahLst/>
              <a:cxnLst/>
              <a:rect r="r" b="b" t="t" l="l"/>
              <a:pathLst>
                <a:path h="201295" w="201295">
                  <a:moveTo>
                    <a:pt x="0" y="0"/>
                  </a:moveTo>
                  <a:lnTo>
                    <a:pt x="201295" y="0"/>
                  </a:lnTo>
                  <a:lnTo>
                    <a:pt x="201295" y="201295"/>
                  </a:lnTo>
                  <a:lnTo>
                    <a:pt x="0" y="201295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58214" y="3911336"/>
            <a:ext cx="4758738" cy="116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Turn the warranty and FAW heritage into the brand's emotional core.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23608" y="4969078"/>
            <a:ext cx="150990" cy="150990"/>
            <a:chOff x="0" y="0"/>
            <a:chExt cx="201320" cy="2013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1295" cy="201295"/>
            </a:xfrm>
            <a:custGeom>
              <a:avLst/>
              <a:gdLst/>
              <a:ahLst/>
              <a:cxnLst/>
              <a:rect r="r" b="b" t="t" l="l"/>
              <a:pathLst>
                <a:path h="201295" w="201295">
                  <a:moveTo>
                    <a:pt x="0" y="0"/>
                  </a:moveTo>
                  <a:lnTo>
                    <a:pt x="201295" y="0"/>
                  </a:lnTo>
                  <a:lnTo>
                    <a:pt x="201295" y="201295"/>
                  </a:lnTo>
                  <a:lnTo>
                    <a:pt x="0" y="201295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58214" y="4872199"/>
            <a:ext cx="4758738" cy="116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Build owner-driven proof to close the reliability objection.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657461" y="2059010"/>
            <a:ext cx="6863363" cy="411804"/>
            <a:chOff x="0" y="0"/>
            <a:chExt cx="9151150" cy="5490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9151150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b="true" sz="1426" spc="225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CONTENT PILLARS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647926" y="2529916"/>
            <a:ext cx="10863177" cy="1172108"/>
            <a:chOff x="0" y="0"/>
            <a:chExt cx="14484236" cy="15628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484223" cy="1562862"/>
            </a:xfrm>
            <a:custGeom>
              <a:avLst/>
              <a:gdLst/>
              <a:ahLst/>
              <a:cxnLst/>
              <a:rect r="r" b="b" t="t" l="l"/>
              <a:pathLst>
                <a:path h="1562862" w="14484223">
                  <a:moveTo>
                    <a:pt x="0" y="186055"/>
                  </a:moveTo>
                  <a:cubicBezTo>
                    <a:pt x="0" y="83312"/>
                    <a:pt x="83312" y="0"/>
                    <a:pt x="186055" y="0"/>
                  </a:cubicBezTo>
                  <a:lnTo>
                    <a:pt x="14298168" y="0"/>
                  </a:lnTo>
                  <a:cubicBezTo>
                    <a:pt x="14400910" y="0"/>
                    <a:pt x="14484223" y="83312"/>
                    <a:pt x="14484223" y="186055"/>
                  </a:cubicBezTo>
                  <a:lnTo>
                    <a:pt x="14484223" y="1376807"/>
                  </a:lnTo>
                  <a:cubicBezTo>
                    <a:pt x="14484223" y="1479550"/>
                    <a:pt x="14400910" y="1562862"/>
                    <a:pt x="14298168" y="1562862"/>
                  </a:cubicBezTo>
                  <a:lnTo>
                    <a:pt x="186055" y="1562862"/>
                  </a:lnTo>
                  <a:cubicBezTo>
                    <a:pt x="83312" y="1562862"/>
                    <a:pt x="0" y="1479550"/>
                    <a:pt x="0" y="1376807"/>
                  </a:cubicBezTo>
                  <a:close/>
                </a:path>
              </a:pathLst>
            </a:custGeom>
            <a:solidFill>
              <a:srgbClr val="F1F4F8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657461" y="2539441"/>
            <a:ext cx="150990" cy="1153049"/>
            <a:chOff x="0" y="0"/>
            <a:chExt cx="201320" cy="153739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1295" cy="1537335"/>
            </a:xfrm>
            <a:custGeom>
              <a:avLst/>
              <a:gdLst/>
              <a:ahLst/>
              <a:cxnLst/>
              <a:rect r="r" b="b" t="t" l="l"/>
              <a:pathLst>
                <a:path h="1537335" w="201295">
                  <a:moveTo>
                    <a:pt x="0" y="0"/>
                  </a:moveTo>
                  <a:lnTo>
                    <a:pt x="201295" y="0"/>
                  </a:lnTo>
                  <a:lnTo>
                    <a:pt x="201295" y="1537335"/>
                  </a:lnTo>
                  <a:lnTo>
                    <a:pt x="0" y="1537335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000627" y="2676716"/>
            <a:ext cx="686333" cy="823608"/>
            <a:chOff x="0" y="0"/>
            <a:chExt cx="915111" cy="10981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5115" cy="1098138"/>
            </a:xfrm>
            <a:custGeom>
              <a:avLst/>
              <a:gdLst/>
              <a:ahLst/>
              <a:cxnLst/>
              <a:rect r="r" b="b" t="t" l="l"/>
              <a:pathLst>
                <a:path h="1098138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5" t="0" r="-103964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915111" cy="1136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7915675" y="2730837"/>
            <a:ext cx="9288561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Trust &amp; Peace of Mind</a:t>
            </a:r>
            <a:r>
              <a:rPr lang="en-US" sz="1876" b="true">
                <a:solidFill>
                  <a:srgbClr val="3C63A8"/>
                </a:solidFill>
                <a:latin typeface="Poppins Bold"/>
                <a:ea typeface="Poppins Bold"/>
                <a:cs typeface="Poppins Bold"/>
                <a:sym typeface="Poppins Bold"/>
              </a:rPr>
              <a:t>   HERO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915675" y="3160566"/>
            <a:ext cx="9219924" cy="51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Warranty explained, FAW's story, service network, “1 year later” owner testimonials.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647926" y="3820220"/>
            <a:ext cx="10863177" cy="1172108"/>
            <a:chOff x="0" y="0"/>
            <a:chExt cx="14484236" cy="15628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484223" cy="1562862"/>
            </a:xfrm>
            <a:custGeom>
              <a:avLst/>
              <a:gdLst/>
              <a:ahLst/>
              <a:cxnLst/>
              <a:rect r="r" b="b" t="t" l="l"/>
              <a:pathLst>
                <a:path h="1562862" w="14484223">
                  <a:moveTo>
                    <a:pt x="0" y="186055"/>
                  </a:moveTo>
                  <a:cubicBezTo>
                    <a:pt x="0" y="83312"/>
                    <a:pt x="83312" y="0"/>
                    <a:pt x="186055" y="0"/>
                  </a:cubicBezTo>
                  <a:lnTo>
                    <a:pt x="14298168" y="0"/>
                  </a:lnTo>
                  <a:cubicBezTo>
                    <a:pt x="14400910" y="0"/>
                    <a:pt x="14484223" y="83312"/>
                    <a:pt x="14484223" y="186055"/>
                  </a:cubicBezTo>
                  <a:lnTo>
                    <a:pt x="14484223" y="1376807"/>
                  </a:lnTo>
                  <a:cubicBezTo>
                    <a:pt x="14484223" y="1479550"/>
                    <a:pt x="14400910" y="1562862"/>
                    <a:pt x="14298168" y="1562862"/>
                  </a:cubicBezTo>
                  <a:lnTo>
                    <a:pt x="186055" y="1562862"/>
                  </a:lnTo>
                  <a:cubicBezTo>
                    <a:pt x="83312" y="1562862"/>
                    <a:pt x="0" y="1479550"/>
                    <a:pt x="0" y="137680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7000627" y="3967020"/>
            <a:ext cx="686333" cy="823608"/>
            <a:chOff x="0" y="0"/>
            <a:chExt cx="915111" cy="10981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15115" cy="1098138"/>
            </a:xfrm>
            <a:custGeom>
              <a:avLst/>
              <a:gdLst/>
              <a:ahLst/>
              <a:cxnLst/>
              <a:rect r="r" b="b" t="t" l="l"/>
              <a:pathLst>
                <a:path h="1098138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5" t="0" r="-103964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915111" cy="1136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7915675" y="4021150"/>
            <a:ext cx="9288561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Family Life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915675" y="4450880"/>
            <a:ext cx="9219924" cy="51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The car inside real Saudi family moments — school runs, road trips, safety.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647926" y="5110534"/>
            <a:ext cx="10863177" cy="1172108"/>
            <a:chOff x="0" y="0"/>
            <a:chExt cx="14484236" cy="156281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484223" cy="1562862"/>
            </a:xfrm>
            <a:custGeom>
              <a:avLst/>
              <a:gdLst/>
              <a:ahLst/>
              <a:cxnLst/>
              <a:rect r="r" b="b" t="t" l="l"/>
              <a:pathLst>
                <a:path h="1562862" w="14484223">
                  <a:moveTo>
                    <a:pt x="0" y="186055"/>
                  </a:moveTo>
                  <a:cubicBezTo>
                    <a:pt x="0" y="83312"/>
                    <a:pt x="83312" y="0"/>
                    <a:pt x="186055" y="0"/>
                  </a:cubicBezTo>
                  <a:lnTo>
                    <a:pt x="14298168" y="0"/>
                  </a:lnTo>
                  <a:cubicBezTo>
                    <a:pt x="14400910" y="0"/>
                    <a:pt x="14484223" y="83312"/>
                    <a:pt x="14484223" y="186055"/>
                  </a:cubicBezTo>
                  <a:lnTo>
                    <a:pt x="14484223" y="1376807"/>
                  </a:lnTo>
                  <a:cubicBezTo>
                    <a:pt x="14484223" y="1479550"/>
                    <a:pt x="14400910" y="1562862"/>
                    <a:pt x="14298168" y="1562862"/>
                  </a:cubicBezTo>
                  <a:lnTo>
                    <a:pt x="186055" y="1562862"/>
                  </a:lnTo>
                  <a:cubicBezTo>
                    <a:pt x="83312" y="1562862"/>
                    <a:pt x="0" y="1479550"/>
                    <a:pt x="0" y="137680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7000627" y="5257333"/>
            <a:ext cx="686333" cy="823608"/>
            <a:chOff x="0" y="0"/>
            <a:chExt cx="915111" cy="109814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5115" cy="1098138"/>
            </a:xfrm>
            <a:custGeom>
              <a:avLst/>
              <a:gdLst/>
              <a:ahLst/>
              <a:cxnLst/>
              <a:rect r="r" b="b" t="t" l="l"/>
              <a:pathLst>
                <a:path h="1098138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5" t="0" r="-103964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15111" cy="1136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7915675" y="5311454"/>
            <a:ext cx="9288561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Smart Value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915675" y="5741184"/>
            <a:ext cx="9219924" cy="51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Honest comparisons, cost-of-ownership clarity, why the premium is justified.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6647926" y="6400848"/>
            <a:ext cx="10863177" cy="1172108"/>
            <a:chOff x="0" y="0"/>
            <a:chExt cx="14484236" cy="156281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484223" cy="1562862"/>
            </a:xfrm>
            <a:custGeom>
              <a:avLst/>
              <a:gdLst/>
              <a:ahLst/>
              <a:cxnLst/>
              <a:rect r="r" b="b" t="t" l="l"/>
              <a:pathLst>
                <a:path h="1562862" w="14484223">
                  <a:moveTo>
                    <a:pt x="0" y="186055"/>
                  </a:moveTo>
                  <a:cubicBezTo>
                    <a:pt x="0" y="83312"/>
                    <a:pt x="83312" y="0"/>
                    <a:pt x="186055" y="0"/>
                  </a:cubicBezTo>
                  <a:lnTo>
                    <a:pt x="14298168" y="0"/>
                  </a:lnTo>
                  <a:cubicBezTo>
                    <a:pt x="14400910" y="0"/>
                    <a:pt x="14484223" y="83312"/>
                    <a:pt x="14484223" y="186055"/>
                  </a:cubicBezTo>
                  <a:lnTo>
                    <a:pt x="14484223" y="1376807"/>
                  </a:lnTo>
                  <a:cubicBezTo>
                    <a:pt x="14484223" y="1479550"/>
                    <a:pt x="14400910" y="1562862"/>
                    <a:pt x="14298168" y="1562862"/>
                  </a:cubicBezTo>
                  <a:lnTo>
                    <a:pt x="186055" y="1562862"/>
                  </a:lnTo>
                  <a:cubicBezTo>
                    <a:pt x="83312" y="1562862"/>
                    <a:pt x="0" y="1479550"/>
                    <a:pt x="0" y="137680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7000627" y="6547647"/>
            <a:ext cx="686333" cy="823608"/>
            <a:chOff x="0" y="0"/>
            <a:chExt cx="915111" cy="109814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5115" cy="1098138"/>
            </a:xfrm>
            <a:custGeom>
              <a:avLst/>
              <a:gdLst/>
              <a:ahLst/>
              <a:cxnLst/>
              <a:rect r="r" b="b" t="t" l="l"/>
              <a:pathLst>
                <a:path h="1098138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5" t="0" r="-103964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915111" cy="1136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7915675" y="6601768"/>
            <a:ext cx="9288561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Product, Humanized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915675" y="7031498"/>
            <a:ext cx="9219924" cy="51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Model showcases told through people and use, not static graphics.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6647926" y="7691161"/>
            <a:ext cx="10863177" cy="1172108"/>
            <a:chOff x="0" y="0"/>
            <a:chExt cx="14484236" cy="156281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484223" cy="1562862"/>
            </a:xfrm>
            <a:custGeom>
              <a:avLst/>
              <a:gdLst/>
              <a:ahLst/>
              <a:cxnLst/>
              <a:rect r="r" b="b" t="t" l="l"/>
              <a:pathLst>
                <a:path h="1562862" w="14484223">
                  <a:moveTo>
                    <a:pt x="0" y="186055"/>
                  </a:moveTo>
                  <a:cubicBezTo>
                    <a:pt x="0" y="83312"/>
                    <a:pt x="83312" y="0"/>
                    <a:pt x="186055" y="0"/>
                  </a:cubicBezTo>
                  <a:lnTo>
                    <a:pt x="14298168" y="0"/>
                  </a:lnTo>
                  <a:cubicBezTo>
                    <a:pt x="14400910" y="0"/>
                    <a:pt x="14484223" y="83312"/>
                    <a:pt x="14484223" y="186055"/>
                  </a:cubicBezTo>
                  <a:lnTo>
                    <a:pt x="14484223" y="1376807"/>
                  </a:lnTo>
                  <a:cubicBezTo>
                    <a:pt x="14484223" y="1479550"/>
                    <a:pt x="14400910" y="1562862"/>
                    <a:pt x="14298168" y="1562862"/>
                  </a:cubicBezTo>
                  <a:lnTo>
                    <a:pt x="186055" y="1562862"/>
                  </a:lnTo>
                  <a:cubicBezTo>
                    <a:pt x="83312" y="1562862"/>
                    <a:pt x="0" y="1479550"/>
                    <a:pt x="0" y="137680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7000627" y="7837961"/>
            <a:ext cx="686333" cy="823608"/>
            <a:chOff x="0" y="0"/>
            <a:chExt cx="915111" cy="109814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15115" cy="1098138"/>
            </a:xfrm>
            <a:custGeom>
              <a:avLst/>
              <a:gdLst/>
              <a:ahLst/>
              <a:cxnLst/>
              <a:rect r="r" b="b" t="t" l="l"/>
              <a:pathLst>
                <a:path h="1098138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5" t="0" r="-103964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915111" cy="1136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7915675" y="7892082"/>
            <a:ext cx="9288561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Real-Time &amp; Culture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915675" y="8321812"/>
            <a:ext cx="9219924" cy="51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National Day, Ramadan, cultural moments — the Caregiver shows up.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38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05 · STRATEGY · PILLARS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212 — Objectives &amp; Content Pillars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82422" y="2059010"/>
            <a:ext cx="6863363" cy="411804"/>
            <a:chOff x="0" y="0"/>
            <a:chExt cx="9151150" cy="549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151150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b="true" sz="1426" spc="225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COMMUNICATION OBJECTIVES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3608" y="2635529"/>
            <a:ext cx="150990" cy="150990"/>
            <a:chOff x="0" y="0"/>
            <a:chExt cx="201320" cy="2013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1295" cy="201295"/>
            </a:xfrm>
            <a:custGeom>
              <a:avLst/>
              <a:gdLst/>
              <a:ahLst/>
              <a:cxnLst/>
              <a:rect r="r" b="b" t="t" l="l"/>
              <a:pathLst>
                <a:path h="201295" w="201295">
                  <a:moveTo>
                    <a:pt x="0" y="0"/>
                  </a:moveTo>
                  <a:lnTo>
                    <a:pt x="201295" y="0"/>
                  </a:lnTo>
                  <a:lnTo>
                    <a:pt x="201295" y="201295"/>
                  </a:lnTo>
                  <a:lnTo>
                    <a:pt x="0" y="201295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58214" y="2538660"/>
            <a:ext cx="4758738" cy="116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Own the “retro off-roader” conversation on Saudi social before Tank 300 locks it.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23608" y="4008206"/>
            <a:ext cx="150990" cy="150990"/>
            <a:chOff x="0" y="0"/>
            <a:chExt cx="201320" cy="2013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1295" cy="201295"/>
            </a:xfrm>
            <a:custGeom>
              <a:avLst/>
              <a:gdLst/>
              <a:ahLst/>
              <a:cxnLst/>
              <a:rect r="r" b="b" t="t" l="l"/>
              <a:pathLst>
                <a:path h="201295" w="201295">
                  <a:moveTo>
                    <a:pt x="0" y="0"/>
                  </a:moveTo>
                  <a:lnTo>
                    <a:pt x="201295" y="0"/>
                  </a:lnTo>
                  <a:lnTo>
                    <a:pt x="201295" y="201295"/>
                  </a:lnTo>
                  <a:lnTo>
                    <a:pt x="0" y="201295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58214" y="3911336"/>
            <a:ext cx="4758738" cy="116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Convert the 1960s military heritage into a living brand identity.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23608" y="4969078"/>
            <a:ext cx="150990" cy="150990"/>
            <a:chOff x="0" y="0"/>
            <a:chExt cx="201320" cy="2013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1295" cy="201295"/>
            </a:xfrm>
            <a:custGeom>
              <a:avLst/>
              <a:gdLst/>
              <a:ahLst/>
              <a:cxnLst/>
              <a:rect r="r" b="b" t="t" l="l"/>
              <a:pathLst>
                <a:path h="201295" w="201295">
                  <a:moveTo>
                    <a:pt x="0" y="0"/>
                  </a:moveTo>
                  <a:lnTo>
                    <a:pt x="201295" y="0"/>
                  </a:lnTo>
                  <a:lnTo>
                    <a:pt x="201295" y="201295"/>
                  </a:lnTo>
                  <a:lnTo>
                    <a:pt x="0" y="201295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58214" y="4872199"/>
            <a:ext cx="4758738" cy="116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Build an off-road community that defends and amplifies the brand.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657461" y="2059010"/>
            <a:ext cx="6863363" cy="411804"/>
            <a:chOff x="0" y="0"/>
            <a:chExt cx="9151150" cy="5490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9151150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b="true" sz="1426" spc="225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CONTENT PILLARS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647926" y="2529916"/>
            <a:ext cx="10863177" cy="1172108"/>
            <a:chOff x="0" y="0"/>
            <a:chExt cx="14484236" cy="15628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484223" cy="1562862"/>
            </a:xfrm>
            <a:custGeom>
              <a:avLst/>
              <a:gdLst/>
              <a:ahLst/>
              <a:cxnLst/>
              <a:rect r="r" b="b" t="t" l="l"/>
              <a:pathLst>
                <a:path h="1562862" w="14484223">
                  <a:moveTo>
                    <a:pt x="0" y="186055"/>
                  </a:moveTo>
                  <a:cubicBezTo>
                    <a:pt x="0" y="83312"/>
                    <a:pt x="83312" y="0"/>
                    <a:pt x="186055" y="0"/>
                  </a:cubicBezTo>
                  <a:lnTo>
                    <a:pt x="14298168" y="0"/>
                  </a:lnTo>
                  <a:cubicBezTo>
                    <a:pt x="14400910" y="0"/>
                    <a:pt x="14484223" y="83312"/>
                    <a:pt x="14484223" y="186055"/>
                  </a:cubicBezTo>
                  <a:lnTo>
                    <a:pt x="14484223" y="1376807"/>
                  </a:lnTo>
                  <a:cubicBezTo>
                    <a:pt x="14484223" y="1479550"/>
                    <a:pt x="14400910" y="1562862"/>
                    <a:pt x="14298168" y="1562862"/>
                  </a:cubicBezTo>
                  <a:lnTo>
                    <a:pt x="186055" y="1562862"/>
                  </a:lnTo>
                  <a:cubicBezTo>
                    <a:pt x="83312" y="1562862"/>
                    <a:pt x="0" y="1479550"/>
                    <a:pt x="0" y="1376807"/>
                  </a:cubicBezTo>
                  <a:close/>
                </a:path>
              </a:pathLst>
            </a:custGeom>
            <a:solidFill>
              <a:srgbClr val="F1F4F8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657461" y="2539441"/>
            <a:ext cx="150990" cy="1153049"/>
            <a:chOff x="0" y="0"/>
            <a:chExt cx="201320" cy="153739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1295" cy="1537335"/>
            </a:xfrm>
            <a:custGeom>
              <a:avLst/>
              <a:gdLst/>
              <a:ahLst/>
              <a:cxnLst/>
              <a:rect r="r" b="b" t="t" l="l"/>
              <a:pathLst>
                <a:path h="1537335" w="201295">
                  <a:moveTo>
                    <a:pt x="0" y="0"/>
                  </a:moveTo>
                  <a:lnTo>
                    <a:pt x="201295" y="0"/>
                  </a:lnTo>
                  <a:lnTo>
                    <a:pt x="201295" y="1537335"/>
                  </a:lnTo>
                  <a:lnTo>
                    <a:pt x="0" y="1537335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000627" y="2676716"/>
            <a:ext cx="686333" cy="823608"/>
            <a:chOff x="0" y="0"/>
            <a:chExt cx="915111" cy="10981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5115" cy="1098138"/>
            </a:xfrm>
            <a:custGeom>
              <a:avLst/>
              <a:gdLst/>
              <a:ahLst/>
              <a:cxnLst/>
              <a:rect r="r" b="b" t="t" l="l"/>
              <a:pathLst>
                <a:path h="1098138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5" t="0" r="-103964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915111" cy="1136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7915675" y="2730837"/>
            <a:ext cx="9288561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Heritage &amp; Origin</a:t>
            </a:r>
            <a:r>
              <a:rPr lang="en-US" sz="1876" b="true">
                <a:solidFill>
                  <a:srgbClr val="1B8A5A"/>
                </a:solidFill>
                <a:latin typeface="Poppins Bold"/>
                <a:ea typeface="Poppins Bold"/>
                <a:cs typeface="Poppins Bold"/>
                <a:sym typeface="Poppins Bold"/>
              </a:rPr>
              <a:t>   HERO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915675" y="3160566"/>
            <a:ext cx="9219924" cy="51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The 1960s military story, the Defender-echoing DNA — the credibility anchor.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647926" y="3820220"/>
            <a:ext cx="10863177" cy="1172108"/>
            <a:chOff x="0" y="0"/>
            <a:chExt cx="14484236" cy="15628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484223" cy="1562862"/>
            </a:xfrm>
            <a:custGeom>
              <a:avLst/>
              <a:gdLst/>
              <a:ahLst/>
              <a:cxnLst/>
              <a:rect r="r" b="b" t="t" l="l"/>
              <a:pathLst>
                <a:path h="1562862" w="14484223">
                  <a:moveTo>
                    <a:pt x="0" y="186055"/>
                  </a:moveTo>
                  <a:cubicBezTo>
                    <a:pt x="0" y="83312"/>
                    <a:pt x="83312" y="0"/>
                    <a:pt x="186055" y="0"/>
                  </a:cubicBezTo>
                  <a:lnTo>
                    <a:pt x="14298168" y="0"/>
                  </a:lnTo>
                  <a:cubicBezTo>
                    <a:pt x="14400910" y="0"/>
                    <a:pt x="14484223" y="83312"/>
                    <a:pt x="14484223" y="186055"/>
                  </a:cubicBezTo>
                  <a:lnTo>
                    <a:pt x="14484223" y="1376807"/>
                  </a:lnTo>
                  <a:cubicBezTo>
                    <a:pt x="14484223" y="1479550"/>
                    <a:pt x="14400910" y="1562862"/>
                    <a:pt x="14298168" y="1562862"/>
                  </a:cubicBezTo>
                  <a:lnTo>
                    <a:pt x="186055" y="1562862"/>
                  </a:lnTo>
                  <a:cubicBezTo>
                    <a:pt x="83312" y="1562862"/>
                    <a:pt x="0" y="1479550"/>
                    <a:pt x="0" y="137680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7000627" y="3967020"/>
            <a:ext cx="686333" cy="823608"/>
            <a:chOff x="0" y="0"/>
            <a:chExt cx="915111" cy="10981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15115" cy="1098138"/>
            </a:xfrm>
            <a:custGeom>
              <a:avLst/>
              <a:gdLst/>
              <a:ahLst/>
              <a:cxnLst/>
              <a:rect r="r" b="b" t="t" l="l"/>
              <a:pathLst>
                <a:path h="1098138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5" t="0" r="-103964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915111" cy="1136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7915675" y="4021150"/>
            <a:ext cx="9288561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Capability, Proven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915675" y="4450880"/>
            <a:ext cx="9219924" cy="51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Vertical video of sand, rock and trails — showing, not claiming.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647926" y="5110534"/>
            <a:ext cx="10863177" cy="1172108"/>
            <a:chOff x="0" y="0"/>
            <a:chExt cx="14484236" cy="156281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484223" cy="1562862"/>
            </a:xfrm>
            <a:custGeom>
              <a:avLst/>
              <a:gdLst/>
              <a:ahLst/>
              <a:cxnLst/>
              <a:rect r="r" b="b" t="t" l="l"/>
              <a:pathLst>
                <a:path h="1562862" w="14484223">
                  <a:moveTo>
                    <a:pt x="0" y="186055"/>
                  </a:moveTo>
                  <a:cubicBezTo>
                    <a:pt x="0" y="83312"/>
                    <a:pt x="83312" y="0"/>
                    <a:pt x="186055" y="0"/>
                  </a:cubicBezTo>
                  <a:lnTo>
                    <a:pt x="14298168" y="0"/>
                  </a:lnTo>
                  <a:cubicBezTo>
                    <a:pt x="14400910" y="0"/>
                    <a:pt x="14484223" y="83312"/>
                    <a:pt x="14484223" y="186055"/>
                  </a:cubicBezTo>
                  <a:lnTo>
                    <a:pt x="14484223" y="1376807"/>
                  </a:lnTo>
                  <a:cubicBezTo>
                    <a:pt x="14484223" y="1479550"/>
                    <a:pt x="14400910" y="1562862"/>
                    <a:pt x="14298168" y="1562862"/>
                  </a:cubicBezTo>
                  <a:lnTo>
                    <a:pt x="186055" y="1562862"/>
                  </a:lnTo>
                  <a:cubicBezTo>
                    <a:pt x="83312" y="1562862"/>
                    <a:pt x="0" y="1479550"/>
                    <a:pt x="0" y="137680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7000627" y="5257333"/>
            <a:ext cx="686333" cy="823608"/>
            <a:chOff x="0" y="0"/>
            <a:chExt cx="915111" cy="109814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5115" cy="1098138"/>
            </a:xfrm>
            <a:custGeom>
              <a:avLst/>
              <a:gdLst/>
              <a:ahLst/>
              <a:cxnLst/>
              <a:rect r="r" b="b" t="t" l="l"/>
              <a:pathLst>
                <a:path h="1098138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5" t="0" r="-103964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15111" cy="1136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7915675" y="5311454"/>
            <a:ext cx="9288561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Adventure &amp; Community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915675" y="5741184"/>
            <a:ext cx="9219924" cy="51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Owner trips, UGC, off-road culture, a branded community hashtag.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6647926" y="6400848"/>
            <a:ext cx="10863177" cy="1172108"/>
            <a:chOff x="0" y="0"/>
            <a:chExt cx="14484236" cy="156281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484223" cy="1562862"/>
            </a:xfrm>
            <a:custGeom>
              <a:avLst/>
              <a:gdLst/>
              <a:ahLst/>
              <a:cxnLst/>
              <a:rect r="r" b="b" t="t" l="l"/>
              <a:pathLst>
                <a:path h="1562862" w="14484223">
                  <a:moveTo>
                    <a:pt x="0" y="186055"/>
                  </a:moveTo>
                  <a:cubicBezTo>
                    <a:pt x="0" y="83312"/>
                    <a:pt x="83312" y="0"/>
                    <a:pt x="186055" y="0"/>
                  </a:cubicBezTo>
                  <a:lnTo>
                    <a:pt x="14298168" y="0"/>
                  </a:lnTo>
                  <a:cubicBezTo>
                    <a:pt x="14400910" y="0"/>
                    <a:pt x="14484223" y="83312"/>
                    <a:pt x="14484223" y="186055"/>
                  </a:cubicBezTo>
                  <a:lnTo>
                    <a:pt x="14484223" y="1376807"/>
                  </a:lnTo>
                  <a:cubicBezTo>
                    <a:pt x="14484223" y="1479550"/>
                    <a:pt x="14400910" y="1562862"/>
                    <a:pt x="14298168" y="1562862"/>
                  </a:cubicBezTo>
                  <a:lnTo>
                    <a:pt x="186055" y="1562862"/>
                  </a:lnTo>
                  <a:cubicBezTo>
                    <a:pt x="83312" y="1562862"/>
                    <a:pt x="0" y="1479550"/>
                    <a:pt x="0" y="137680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7000627" y="6547647"/>
            <a:ext cx="686333" cy="823608"/>
            <a:chOff x="0" y="0"/>
            <a:chExt cx="915111" cy="109814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5115" cy="1098138"/>
            </a:xfrm>
            <a:custGeom>
              <a:avLst/>
              <a:gdLst/>
              <a:ahLst/>
              <a:cxnLst/>
              <a:rect r="r" b="b" t="t" l="l"/>
              <a:pathLst>
                <a:path h="1098138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5" t="0" r="-103964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915111" cy="1136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7915675" y="6601768"/>
            <a:ext cx="9288561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Design &amp; Distinction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915675" y="7031498"/>
            <a:ext cx="9219924" cy="51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The boxy silhouette, exposed spare — for the statement seeker.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6647926" y="7691161"/>
            <a:ext cx="10863177" cy="1172108"/>
            <a:chOff x="0" y="0"/>
            <a:chExt cx="14484236" cy="156281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484223" cy="1562862"/>
            </a:xfrm>
            <a:custGeom>
              <a:avLst/>
              <a:gdLst/>
              <a:ahLst/>
              <a:cxnLst/>
              <a:rect r="r" b="b" t="t" l="l"/>
              <a:pathLst>
                <a:path h="1562862" w="14484223">
                  <a:moveTo>
                    <a:pt x="0" y="186055"/>
                  </a:moveTo>
                  <a:cubicBezTo>
                    <a:pt x="0" y="83312"/>
                    <a:pt x="83312" y="0"/>
                    <a:pt x="186055" y="0"/>
                  </a:cubicBezTo>
                  <a:lnTo>
                    <a:pt x="14298168" y="0"/>
                  </a:lnTo>
                  <a:cubicBezTo>
                    <a:pt x="14400910" y="0"/>
                    <a:pt x="14484223" y="83312"/>
                    <a:pt x="14484223" y="186055"/>
                  </a:cubicBezTo>
                  <a:lnTo>
                    <a:pt x="14484223" y="1376807"/>
                  </a:lnTo>
                  <a:cubicBezTo>
                    <a:pt x="14484223" y="1479550"/>
                    <a:pt x="14400910" y="1562862"/>
                    <a:pt x="14298168" y="1562862"/>
                  </a:cubicBezTo>
                  <a:lnTo>
                    <a:pt x="186055" y="1562862"/>
                  </a:lnTo>
                  <a:cubicBezTo>
                    <a:pt x="83312" y="1562862"/>
                    <a:pt x="0" y="1479550"/>
                    <a:pt x="0" y="137680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7000627" y="7837961"/>
            <a:ext cx="686333" cy="823608"/>
            <a:chOff x="0" y="0"/>
            <a:chExt cx="915111" cy="109814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15115" cy="1098138"/>
            </a:xfrm>
            <a:custGeom>
              <a:avLst/>
              <a:gdLst/>
              <a:ahLst/>
              <a:cxnLst/>
              <a:rect r="r" b="b" t="t" l="l"/>
              <a:pathLst>
                <a:path h="1098138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5" t="0" r="-103964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915111" cy="1136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7915675" y="7892082"/>
            <a:ext cx="9288561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Interactive &amp; Real-Time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915675" y="8321812"/>
            <a:ext cx="9219924" cy="51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Off-road season, camping culture, community-driven content.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39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05 · STRATEGY · PILLARS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Motor Souq — Objectives &amp; Content Pillars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82422" y="2059010"/>
            <a:ext cx="6863363" cy="411804"/>
            <a:chOff x="0" y="0"/>
            <a:chExt cx="9151150" cy="549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151150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b="true" sz="1426" spc="225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COMMUNICATION OBJECTIVES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3608" y="2635529"/>
            <a:ext cx="150990" cy="150990"/>
            <a:chOff x="0" y="0"/>
            <a:chExt cx="201320" cy="2013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1295" cy="201295"/>
            </a:xfrm>
            <a:custGeom>
              <a:avLst/>
              <a:gdLst/>
              <a:ahLst/>
              <a:cxnLst/>
              <a:rect r="r" b="b" t="t" l="l"/>
              <a:pathLst>
                <a:path h="201295" w="201295">
                  <a:moveTo>
                    <a:pt x="0" y="0"/>
                  </a:moveTo>
                  <a:lnTo>
                    <a:pt x="201295" y="0"/>
                  </a:lnTo>
                  <a:lnTo>
                    <a:pt x="201295" y="201295"/>
                  </a:lnTo>
                  <a:lnTo>
                    <a:pt x="0" y="201295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58214" y="2538660"/>
            <a:ext cx="4758738" cy="116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Give buyers a concrete reason to choose Motor Souq over any other dealer.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23608" y="4008206"/>
            <a:ext cx="150990" cy="150990"/>
            <a:chOff x="0" y="0"/>
            <a:chExt cx="201320" cy="2013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1295" cy="201295"/>
            </a:xfrm>
            <a:custGeom>
              <a:avLst/>
              <a:gdLst/>
              <a:ahLst/>
              <a:cxnLst/>
              <a:rect r="r" b="b" t="t" l="l"/>
              <a:pathLst>
                <a:path h="201295" w="201295">
                  <a:moveTo>
                    <a:pt x="0" y="0"/>
                  </a:moveTo>
                  <a:lnTo>
                    <a:pt x="201295" y="0"/>
                  </a:lnTo>
                  <a:lnTo>
                    <a:pt x="201295" y="201295"/>
                  </a:lnTo>
                  <a:lnTo>
                    <a:pt x="0" y="201295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58214" y="3911336"/>
            <a:ext cx="4758738" cy="116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Revive a dead 78K audience through helpful, shareable content.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23608" y="4969078"/>
            <a:ext cx="150990" cy="150990"/>
            <a:chOff x="0" y="0"/>
            <a:chExt cx="201320" cy="2013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1295" cy="201295"/>
            </a:xfrm>
            <a:custGeom>
              <a:avLst/>
              <a:gdLst/>
              <a:ahLst/>
              <a:cxnLst/>
              <a:rect r="r" b="b" t="t" l="l"/>
              <a:pathLst>
                <a:path h="201295" w="201295">
                  <a:moveTo>
                    <a:pt x="0" y="0"/>
                  </a:moveTo>
                  <a:lnTo>
                    <a:pt x="201295" y="0"/>
                  </a:lnTo>
                  <a:lnTo>
                    <a:pt x="201295" y="201295"/>
                  </a:lnTo>
                  <a:lnTo>
                    <a:pt x="0" y="201295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58214" y="4872199"/>
            <a:ext cx="4758738" cy="116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Convert online research into showroom visits.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657461" y="2059010"/>
            <a:ext cx="6863363" cy="411804"/>
            <a:chOff x="0" y="0"/>
            <a:chExt cx="9151150" cy="5490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9151150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b="true" sz="1426" spc="225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CONTENT PILLARS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647926" y="2529916"/>
            <a:ext cx="10863177" cy="1172108"/>
            <a:chOff x="0" y="0"/>
            <a:chExt cx="14484236" cy="15628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484223" cy="1562862"/>
            </a:xfrm>
            <a:custGeom>
              <a:avLst/>
              <a:gdLst/>
              <a:ahLst/>
              <a:cxnLst/>
              <a:rect r="r" b="b" t="t" l="l"/>
              <a:pathLst>
                <a:path h="1562862" w="14484223">
                  <a:moveTo>
                    <a:pt x="0" y="186055"/>
                  </a:moveTo>
                  <a:cubicBezTo>
                    <a:pt x="0" y="83312"/>
                    <a:pt x="83312" y="0"/>
                    <a:pt x="186055" y="0"/>
                  </a:cubicBezTo>
                  <a:lnTo>
                    <a:pt x="14298168" y="0"/>
                  </a:lnTo>
                  <a:cubicBezTo>
                    <a:pt x="14400910" y="0"/>
                    <a:pt x="14484223" y="83312"/>
                    <a:pt x="14484223" y="186055"/>
                  </a:cubicBezTo>
                  <a:lnTo>
                    <a:pt x="14484223" y="1376807"/>
                  </a:lnTo>
                  <a:cubicBezTo>
                    <a:pt x="14484223" y="1479550"/>
                    <a:pt x="14400910" y="1562862"/>
                    <a:pt x="14298168" y="1562862"/>
                  </a:cubicBezTo>
                  <a:lnTo>
                    <a:pt x="186055" y="1562862"/>
                  </a:lnTo>
                  <a:cubicBezTo>
                    <a:pt x="83312" y="1562862"/>
                    <a:pt x="0" y="1479550"/>
                    <a:pt x="0" y="1376807"/>
                  </a:cubicBezTo>
                  <a:close/>
                </a:path>
              </a:pathLst>
            </a:custGeom>
            <a:solidFill>
              <a:srgbClr val="F1F4F8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657461" y="2539441"/>
            <a:ext cx="150990" cy="1153049"/>
            <a:chOff x="0" y="0"/>
            <a:chExt cx="201320" cy="153739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1295" cy="1537335"/>
            </a:xfrm>
            <a:custGeom>
              <a:avLst/>
              <a:gdLst/>
              <a:ahLst/>
              <a:cxnLst/>
              <a:rect r="r" b="b" t="t" l="l"/>
              <a:pathLst>
                <a:path h="1537335" w="201295">
                  <a:moveTo>
                    <a:pt x="0" y="0"/>
                  </a:moveTo>
                  <a:lnTo>
                    <a:pt x="201295" y="0"/>
                  </a:lnTo>
                  <a:lnTo>
                    <a:pt x="201295" y="1537335"/>
                  </a:lnTo>
                  <a:lnTo>
                    <a:pt x="0" y="1537335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000627" y="2676716"/>
            <a:ext cx="686333" cy="823608"/>
            <a:chOff x="0" y="0"/>
            <a:chExt cx="915111" cy="10981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5115" cy="1098138"/>
            </a:xfrm>
            <a:custGeom>
              <a:avLst/>
              <a:gdLst/>
              <a:ahLst/>
              <a:cxnLst/>
              <a:rect r="r" b="b" t="t" l="l"/>
              <a:pathLst>
                <a:path h="1098138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5" t="0" r="-103964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915111" cy="1136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7915675" y="2730837"/>
            <a:ext cx="9288561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Help Me Choose</a:t>
            </a:r>
            <a:r>
              <a:rPr lang="en-US" sz="1876" b="true">
                <a:solidFill>
                  <a:srgbClr val="1892C8"/>
                </a:solidFill>
                <a:latin typeface="Poppins Bold"/>
                <a:ea typeface="Poppins Bold"/>
                <a:cs typeface="Poppins Bold"/>
                <a:sym typeface="Poppins Bold"/>
              </a:rPr>
              <a:t>   HERO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915675" y="3160566"/>
            <a:ext cx="9219924" cy="51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Comparisons done right: “Sportage or Jetour?” as engaging video, not flat graphics.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647926" y="3820220"/>
            <a:ext cx="10863177" cy="1172108"/>
            <a:chOff x="0" y="0"/>
            <a:chExt cx="14484236" cy="15628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484223" cy="1562862"/>
            </a:xfrm>
            <a:custGeom>
              <a:avLst/>
              <a:gdLst/>
              <a:ahLst/>
              <a:cxnLst/>
              <a:rect r="r" b="b" t="t" l="l"/>
              <a:pathLst>
                <a:path h="1562862" w="14484223">
                  <a:moveTo>
                    <a:pt x="0" y="186055"/>
                  </a:moveTo>
                  <a:cubicBezTo>
                    <a:pt x="0" y="83312"/>
                    <a:pt x="83312" y="0"/>
                    <a:pt x="186055" y="0"/>
                  </a:cubicBezTo>
                  <a:lnTo>
                    <a:pt x="14298168" y="0"/>
                  </a:lnTo>
                  <a:cubicBezTo>
                    <a:pt x="14400910" y="0"/>
                    <a:pt x="14484223" y="83312"/>
                    <a:pt x="14484223" y="186055"/>
                  </a:cubicBezTo>
                  <a:lnTo>
                    <a:pt x="14484223" y="1376807"/>
                  </a:lnTo>
                  <a:cubicBezTo>
                    <a:pt x="14484223" y="1479550"/>
                    <a:pt x="14400910" y="1562862"/>
                    <a:pt x="14298168" y="1562862"/>
                  </a:cubicBezTo>
                  <a:lnTo>
                    <a:pt x="186055" y="1562862"/>
                  </a:lnTo>
                  <a:cubicBezTo>
                    <a:pt x="83312" y="1562862"/>
                    <a:pt x="0" y="1479550"/>
                    <a:pt x="0" y="137680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7000627" y="3967020"/>
            <a:ext cx="686333" cy="823608"/>
            <a:chOff x="0" y="0"/>
            <a:chExt cx="915111" cy="10981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15115" cy="1098138"/>
            </a:xfrm>
            <a:custGeom>
              <a:avLst/>
              <a:gdLst/>
              <a:ahLst/>
              <a:cxnLst/>
              <a:rect r="r" b="b" t="t" l="l"/>
              <a:pathLst>
                <a:path h="1098138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5" t="0" r="-103964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915111" cy="1136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7915675" y="4021150"/>
            <a:ext cx="9288561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The Buying Experience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915675" y="4450880"/>
            <a:ext cx="9219924" cy="51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360° browsing, 7 branches, the advisor-led journey — the CarMax lesson.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647926" y="5110534"/>
            <a:ext cx="10863177" cy="1172108"/>
            <a:chOff x="0" y="0"/>
            <a:chExt cx="14484236" cy="156281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484223" cy="1562862"/>
            </a:xfrm>
            <a:custGeom>
              <a:avLst/>
              <a:gdLst/>
              <a:ahLst/>
              <a:cxnLst/>
              <a:rect r="r" b="b" t="t" l="l"/>
              <a:pathLst>
                <a:path h="1562862" w="14484223">
                  <a:moveTo>
                    <a:pt x="0" y="186055"/>
                  </a:moveTo>
                  <a:cubicBezTo>
                    <a:pt x="0" y="83312"/>
                    <a:pt x="83312" y="0"/>
                    <a:pt x="186055" y="0"/>
                  </a:cubicBezTo>
                  <a:lnTo>
                    <a:pt x="14298168" y="0"/>
                  </a:lnTo>
                  <a:cubicBezTo>
                    <a:pt x="14400910" y="0"/>
                    <a:pt x="14484223" y="83312"/>
                    <a:pt x="14484223" y="186055"/>
                  </a:cubicBezTo>
                  <a:lnTo>
                    <a:pt x="14484223" y="1376807"/>
                  </a:lnTo>
                  <a:cubicBezTo>
                    <a:pt x="14484223" y="1479550"/>
                    <a:pt x="14400910" y="1562862"/>
                    <a:pt x="14298168" y="1562862"/>
                  </a:cubicBezTo>
                  <a:lnTo>
                    <a:pt x="186055" y="1562862"/>
                  </a:lnTo>
                  <a:cubicBezTo>
                    <a:pt x="83312" y="1562862"/>
                    <a:pt x="0" y="1479550"/>
                    <a:pt x="0" y="137680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7000627" y="5257333"/>
            <a:ext cx="686333" cy="823608"/>
            <a:chOff x="0" y="0"/>
            <a:chExt cx="915111" cy="109814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5115" cy="1098138"/>
            </a:xfrm>
            <a:custGeom>
              <a:avLst/>
              <a:gdLst/>
              <a:ahLst/>
              <a:cxnLst/>
              <a:rect r="r" b="b" t="t" l="l"/>
              <a:pathLst>
                <a:path h="1098138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5" t="0" r="-103964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15111" cy="1136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7915675" y="5311454"/>
            <a:ext cx="9288561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Smart Buyer Guides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915675" y="5741184"/>
            <a:ext cx="9219924" cy="51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Financing explained, first-car tips — being useful, on the buyer's side.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6647926" y="6400848"/>
            <a:ext cx="10863177" cy="1172108"/>
            <a:chOff x="0" y="0"/>
            <a:chExt cx="14484236" cy="156281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484223" cy="1562862"/>
            </a:xfrm>
            <a:custGeom>
              <a:avLst/>
              <a:gdLst/>
              <a:ahLst/>
              <a:cxnLst/>
              <a:rect r="r" b="b" t="t" l="l"/>
              <a:pathLst>
                <a:path h="1562862" w="14484223">
                  <a:moveTo>
                    <a:pt x="0" y="186055"/>
                  </a:moveTo>
                  <a:cubicBezTo>
                    <a:pt x="0" y="83312"/>
                    <a:pt x="83312" y="0"/>
                    <a:pt x="186055" y="0"/>
                  </a:cubicBezTo>
                  <a:lnTo>
                    <a:pt x="14298168" y="0"/>
                  </a:lnTo>
                  <a:cubicBezTo>
                    <a:pt x="14400910" y="0"/>
                    <a:pt x="14484223" y="83312"/>
                    <a:pt x="14484223" y="186055"/>
                  </a:cubicBezTo>
                  <a:lnTo>
                    <a:pt x="14484223" y="1376807"/>
                  </a:lnTo>
                  <a:cubicBezTo>
                    <a:pt x="14484223" y="1479550"/>
                    <a:pt x="14400910" y="1562862"/>
                    <a:pt x="14298168" y="1562862"/>
                  </a:cubicBezTo>
                  <a:lnTo>
                    <a:pt x="186055" y="1562862"/>
                  </a:lnTo>
                  <a:cubicBezTo>
                    <a:pt x="83312" y="1562862"/>
                    <a:pt x="0" y="1479550"/>
                    <a:pt x="0" y="137680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7000627" y="6547647"/>
            <a:ext cx="686333" cy="823608"/>
            <a:chOff x="0" y="0"/>
            <a:chExt cx="915111" cy="109814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5115" cy="1098138"/>
            </a:xfrm>
            <a:custGeom>
              <a:avLst/>
              <a:gdLst/>
              <a:ahLst/>
              <a:cxnLst/>
              <a:rect r="r" b="b" t="t" l="l"/>
              <a:pathLst>
                <a:path h="1098138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5" t="0" r="-103964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915111" cy="1136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7915675" y="6601768"/>
            <a:ext cx="9288561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Inventory &amp; Offers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915675" y="7031498"/>
            <a:ext cx="9219924" cy="51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Deals framed as “the right car for you,” not just price dumps.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6647926" y="7691161"/>
            <a:ext cx="10863177" cy="1172108"/>
            <a:chOff x="0" y="0"/>
            <a:chExt cx="14484236" cy="156281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484223" cy="1562862"/>
            </a:xfrm>
            <a:custGeom>
              <a:avLst/>
              <a:gdLst/>
              <a:ahLst/>
              <a:cxnLst/>
              <a:rect r="r" b="b" t="t" l="l"/>
              <a:pathLst>
                <a:path h="1562862" w="14484223">
                  <a:moveTo>
                    <a:pt x="0" y="186055"/>
                  </a:moveTo>
                  <a:cubicBezTo>
                    <a:pt x="0" y="83312"/>
                    <a:pt x="83312" y="0"/>
                    <a:pt x="186055" y="0"/>
                  </a:cubicBezTo>
                  <a:lnTo>
                    <a:pt x="14298168" y="0"/>
                  </a:lnTo>
                  <a:cubicBezTo>
                    <a:pt x="14400910" y="0"/>
                    <a:pt x="14484223" y="83312"/>
                    <a:pt x="14484223" y="186055"/>
                  </a:cubicBezTo>
                  <a:lnTo>
                    <a:pt x="14484223" y="1376807"/>
                  </a:lnTo>
                  <a:cubicBezTo>
                    <a:pt x="14484223" y="1479550"/>
                    <a:pt x="14400910" y="1562862"/>
                    <a:pt x="14298168" y="1562862"/>
                  </a:cubicBezTo>
                  <a:lnTo>
                    <a:pt x="186055" y="1562862"/>
                  </a:lnTo>
                  <a:cubicBezTo>
                    <a:pt x="83312" y="1562862"/>
                    <a:pt x="0" y="1479550"/>
                    <a:pt x="0" y="137680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7000627" y="7837961"/>
            <a:ext cx="686333" cy="823608"/>
            <a:chOff x="0" y="0"/>
            <a:chExt cx="915111" cy="109814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15115" cy="1098138"/>
            </a:xfrm>
            <a:custGeom>
              <a:avLst/>
              <a:gdLst/>
              <a:ahLst/>
              <a:cxnLst/>
              <a:rect r="r" b="b" t="t" l="l"/>
              <a:pathLst>
                <a:path h="1098138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5" t="0" r="-103964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915111" cy="1136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7915675" y="7892082"/>
            <a:ext cx="9288561" cy="33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Real-Time &amp; Local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915675" y="8321812"/>
            <a:ext cx="9219924" cy="51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Seasonal buying moments, branch content, Ramadan &amp; salary-season timing.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40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05 · STRATEGY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Content Style Mix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73862" y="2076155"/>
            <a:ext cx="16289188" cy="62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8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A balanced mix keeps each brand from becoming a repetitive offer feed — weighted differently per brand, per its game.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353421" y="2813980"/>
            <a:ext cx="301990" cy="301990"/>
            <a:chOff x="0" y="0"/>
            <a:chExt cx="402654" cy="4026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2590" cy="402590"/>
            </a:xfrm>
            <a:custGeom>
              <a:avLst/>
              <a:gdLst/>
              <a:ahLst/>
              <a:cxnLst/>
              <a:rect r="r" b="b" t="t" l="l"/>
              <a:pathLst>
                <a:path h="402590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4F86D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765225" y="2745343"/>
            <a:ext cx="2127647" cy="411804"/>
            <a:chOff x="0" y="0"/>
            <a:chExt cx="2836862" cy="5490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836856" cy="549069"/>
            </a:xfrm>
            <a:custGeom>
              <a:avLst/>
              <a:gdLst/>
              <a:ahLst/>
              <a:cxnLst/>
              <a:rect r="r" b="b" t="t" l="l"/>
              <a:pathLst>
                <a:path h="549069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2" r="0" b="-5067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836862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Edutainment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961500" y="2813980"/>
            <a:ext cx="301990" cy="301990"/>
            <a:chOff x="0" y="0"/>
            <a:chExt cx="402654" cy="40265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2590" cy="402590"/>
            </a:xfrm>
            <a:custGeom>
              <a:avLst/>
              <a:gdLst/>
              <a:ahLst/>
              <a:cxnLst/>
              <a:rect r="r" b="b" t="t" l="l"/>
              <a:pathLst>
                <a:path h="402590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2E9E5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373304" y="2745343"/>
            <a:ext cx="2127647" cy="411804"/>
            <a:chOff x="0" y="0"/>
            <a:chExt cx="2836862" cy="5490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36856" cy="549069"/>
            </a:xfrm>
            <a:custGeom>
              <a:avLst/>
              <a:gdLst/>
              <a:ahLst/>
              <a:cxnLst/>
              <a:rect r="r" b="b" t="t" l="l"/>
              <a:pathLst>
                <a:path h="549069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2" r="0" b="-5067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836862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Engaging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569578" y="2813980"/>
            <a:ext cx="301990" cy="301990"/>
            <a:chOff x="0" y="0"/>
            <a:chExt cx="402654" cy="40265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2590" cy="402590"/>
            </a:xfrm>
            <a:custGeom>
              <a:avLst/>
              <a:gdLst/>
              <a:ahLst/>
              <a:cxnLst/>
              <a:rect r="r" b="b" t="t" l="l"/>
              <a:pathLst>
                <a:path h="402590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B8873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981382" y="2745343"/>
            <a:ext cx="2127647" cy="411804"/>
            <a:chOff x="0" y="0"/>
            <a:chExt cx="2836862" cy="5490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36856" cy="549069"/>
            </a:xfrm>
            <a:custGeom>
              <a:avLst/>
              <a:gdLst/>
              <a:ahLst/>
              <a:cxnLst/>
              <a:rect r="r" b="b" t="t" l="l"/>
              <a:pathLst>
                <a:path h="549069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2" r="0" b="-5067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2836862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Lifestyle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177657" y="2813980"/>
            <a:ext cx="301990" cy="301990"/>
            <a:chOff x="0" y="0"/>
            <a:chExt cx="402654" cy="40265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02590" cy="402590"/>
            </a:xfrm>
            <a:custGeom>
              <a:avLst/>
              <a:gdLst/>
              <a:ahLst/>
              <a:cxnLst/>
              <a:rect r="r" b="b" t="t" l="l"/>
              <a:pathLst>
                <a:path h="402590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C34A32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589460" y="2745343"/>
            <a:ext cx="2127647" cy="411804"/>
            <a:chOff x="0" y="0"/>
            <a:chExt cx="2836862" cy="5490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36856" cy="549069"/>
            </a:xfrm>
            <a:custGeom>
              <a:avLst/>
              <a:gdLst/>
              <a:ahLst/>
              <a:cxnLst/>
              <a:rect r="r" b="b" t="t" l="l"/>
              <a:pathLst>
                <a:path h="549069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2" r="0" b="-5067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2836862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Tactical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45436" y="3628053"/>
            <a:ext cx="16806853" cy="1762363"/>
            <a:chOff x="0" y="0"/>
            <a:chExt cx="22409137" cy="234981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409150" cy="2349881"/>
            </a:xfrm>
            <a:custGeom>
              <a:avLst/>
              <a:gdLst/>
              <a:ahLst/>
              <a:cxnLst/>
              <a:rect r="r" b="b" t="t" l="l"/>
              <a:pathLst>
                <a:path h="2349881" w="22409150">
                  <a:moveTo>
                    <a:pt x="0" y="185039"/>
                  </a:moveTo>
                  <a:cubicBezTo>
                    <a:pt x="0" y="82804"/>
                    <a:pt x="82804" y="0"/>
                    <a:pt x="185039" y="0"/>
                  </a:cubicBezTo>
                  <a:lnTo>
                    <a:pt x="22224112" y="0"/>
                  </a:lnTo>
                  <a:cubicBezTo>
                    <a:pt x="22326347" y="0"/>
                    <a:pt x="22409150" y="82804"/>
                    <a:pt x="22409150" y="185039"/>
                  </a:cubicBezTo>
                  <a:lnTo>
                    <a:pt x="22409150" y="2164842"/>
                  </a:lnTo>
                  <a:cubicBezTo>
                    <a:pt x="22409150" y="2267077"/>
                    <a:pt x="22326347" y="2349881"/>
                    <a:pt x="22224112" y="2349881"/>
                  </a:cubicBezTo>
                  <a:lnTo>
                    <a:pt x="185039" y="2349881"/>
                  </a:lnTo>
                  <a:cubicBezTo>
                    <a:pt x="82804" y="2349754"/>
                    <a:pt x="0" y="2266950"/>
                    <a:pt x="0" y="216484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258214" y="3938788"/>
            <a:ext cx="3386071" cy="54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3C63A8"/>
                </a:solidFill>
                <a:latin typeface="Poppins Bold"/>
                <a:ea typeface="Poppins Bold"/>
                <a:cs typeface="Poppins Bold"/>
                <a:sym typeface="Poppins Bold"/>
              </a:rPr>
              <a:t>Bestune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58214" y="4570219"/>
            <a:ext cx="3797875" cy="751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i="true">
                <a:solidFill>
                  <a:srgbClr val="5C687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Trust and family lead; offers are the minority — reversing the offer-heavy feed.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5490686" y="4083701"/>
            <a:ext cx="4035657" cy="851059"/>
            <a:chOff x="0" y="0"/>
            <a:chExt cx="5380876" cy="11347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80863" cy="1134745"/>
            </a:xfrm>
            <a:custGeom>
              <a:avLst/>
              <a:gdLst/>
              <a:ahLst/>
              <a:cxnLst/>
              <a:rect r="r" b="b" t="t" l="l"/>
              <a:pathLst>
                <a:path h="1134745" w="5380863">
                  <a:moveTo>
                    <a:pt x="0" y="0"/>
                  </a:moveTo>
                  <a:lnTo>
                    <a:pt x="5380863" y="0"/>
                  </a:lnTo>
                  <a:lnTo>
                    <a:pt x="5380863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4F86D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490686" y="4083701"/>
            <a:ext cx="4035657" cy="851059"/>
            <a:chOff x="0" y="0"/>
            <a:chExt cx="5380876" cy="113474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80876" cy="1134743"/>
            </a:xfrm>
            <a:custGeom>
              <a:avLst/>
              <a:gdLst/>
              <a:ahLst/>
              <a:cxnLst/>
              <a:rect r="r" b="b" t="t" l="l"/>
              <a:pathLst>
                <a:path h="1134743" w="5380876">
                  <a:moveTo>
                    <a:pt x="0" y="0"/>
                  </a:moveTo>
                  <a:lnTo>
                    <a:pt x="5380876" y="0"/>
                  </a:lnTo>
                  <a:lnTo>
                    <a:pt x="5380876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396" r="0" b="-4239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5380876" cy="11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35%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526343" y="4083701"/>
            <a:ext cx="2306088" cy="851059"/>
            <a:chOff x="0" y="0"/>
            <a:chExt cx="3074784" cy="11347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074797" cy="1134745"/>
            </a:xfrm>
            <a:custGeom>
              <a:avLst/>
              <a:gdLst/>
              <a:ahLst/>
              <a:cxnLst/>
              <a:rect r="r" b="b" t="t" l="l"/>
              <a:pathLst>
                <a:path h="1134745" w="3074797">
                  <a:moveTo>
                    <a:pt x="0" y="0"/>
                  </a:moveTo>
                  <a:lnTo>
                    <a:pt x="3074797" y="0"/>
                  </a:lnTo>
                  <a:lnTo>
                    <a:pt x="3074797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2E9E5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526343" y="4083701"/>
            <a:ext cx="2306088" cy="851059"/>
            <a:chOff x="0" y="0"/>
            <a:chExt cx="3074784" cy="113474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074786" cy="1134743"/>
            </a:xfrm>
            <a:custGeom>
              <a:avLst/>
              <a:gdLst/>
              <a:ahLst/>
              <a:cxnLst/>
              <a:rect r="r" b="b" t="t" l="l"/>
              <a:pathLst>
                <a:path h="1134743" w="3074786">
                  <a:moveTo>
                    <a:pt x="0" y="0"/>
                  </a:moveTo>
                  <a:lnTo>
                    <a:pt x="3074786" y="0"/>
                  </a:lnTo>
                  <a:lnTo>
                    <a:pt x="3074786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8" r="0" b="-279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3074784" cy="11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20%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832441" y="4083701"/>
            <a:ext cx="3459137" cy="851059"/>
            <a:chOff x="0" y="0"/>
            <a:chExt cx="4612183" cy="113474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612132" cy="1134745"/>
            </a:xfrm>
            <a:custGeom>
              <a:avLst/>
              <a:gdLst/>
              <a:ahLst/>
              <a:cxnLst/>
              <a:rect r="r" b="b" t="t" l="l"/>
              <a:pathLst>
                <a:path h="1134745" w="4612132">
                  <a:moveTo>
                    <a:pt x="0" y="0"/>
                  </a:moveTo>
                  <a:lnTo>
                    <a:pt x="4612132" y="0"/>
                  </a:lnTo>
                  <a:lnTo>
                    <a:pt x="4612132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B8873C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832441" y="4083701"/>
            <a:ext cx="3459137" cy="851059"/>
            <a:chOff x="0" y="0"/>
            <a:chExt cx="4612183" cy="113474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612179" cy="1134743"/>
            </a:xfrm>
            <a:custGeom>
              <a:avLst/>
              <a:gdLst/>
              <a:ahLst/>
              <a:cxnLst/>
              <a:rect r="r" b="b" t="t" l="l"/>
              <a:pathLst>
                <a:path h="1134743" w="4612179">
                  <a:moveTo>
                    <a:pt x="0" y="0"/>
                  </a:moveTo>
                  <a:lnTo>
                    <a:pt x="4612179" y="0"/>
                  </a:lnTo>
                  <a:lnTo>
                    <a:pt x="4612179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7" r="0" b="-2919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4612183" cy="11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30%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5291568" y="4083701"/>
            <a:ext cx="1729569" cy="851059"/>
            <a:chOff x="0" y="0"/>
            <a:chExt cx="2306091" cy="113474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306066" cy="1134745"/>
            </a:xfrm>
            <a:custGeom>
              <a:avLst/>
              <a:gdLst/>
              <a:ahLst/>
              <a:cxnLst/>
              <a:rect r="r" b="b" t="t" l="l"/>
              <a:pathLst>
                <a:path h="1134745" w="2306066">
                  <a:moveTo>
                    <a:pt x="0" y="0"/>
                  </a:moveTo>
                  <a:lnTo>
                    <a:pt x="2306066" y="0"/>
                  </a:lnTo>
                  <a:lnTo>
                    <a:pt x="2306066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C34A32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5291568" y="4083701"/>
            <a:ext cx="1729569" cy="851059"/>
            <a:chOff x="0" y="0"/>
            <a:chExt cx="2306091" cy="113474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306090" cy="1134743"/>
            </a:xfrm>
            <a:custGeom>
              <a:avLst/>
              <a:gdLst/>
              <a:ahLst/>
              <a:cxnLst/>
              <a:rect r="r" b="b" t="t" l="l"/>
              <a:pathLst>
                <a:path h="1134743" w="2306090">
                  <a:moveTo>
                    <a:pt x="0" y="0"/>
                  </a:moveTo>
                  <a:lnTo>
                    <a:pt x="2306090" y="0"/>
                  </a:lnTo>
                  <a:lnTo>
                    <a:pt x="2306090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133" t="0" r="-1313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2306091" cy="11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15%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45436" y="5577240"/>
            <a:ext cx="16806853" cy="1762363"/>
            <a:chOff x="0" y="0"/>
            <a:chExt cx="22409137" cy="234981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2409150" cy="2349881"/>
            </a:xfrm>
            <a:custGeom>
              <a:avLst/>
              <a:gdLst/>
              <a:ahLst/>
              <a:cxnLst/>
              <a:rect r="r" b="b" t="t" l="l"/>
              <a:pathLst>
                <a:path h="2349881" w="22409150">
                  <a:moveTo>
                    <a:pt x="0" y="185039"/>
                  </a:moveTo>
                  <a:cubicBezTo>
                    <a:pt x="0" y="82804"/>
                    <a:pt x="82804" y="0"/>
                    <a:pt x="185039" y="0"/>
                  </a:cubicBezTo>
                  <a:lnTo>
                    <a:pt x="22224112" y="0"/>
                  </a:lnTo>
                  <a:cubicBezTo>
                    <a:pt x="22326347" y="0"/>
                    <a:pt x="22409150" y="82804"/>
                    <a:pt x="22409150" y="185039"/>
                  </a:cubicBezTo>
                  <a:lnTo>
                    <a:pt x="22409150" y="2164842"/>
                  </a:lnTo>
                  <a:cubicBezTo>
                    <a:pt x="22409150" y="2267077"/>
                    <a:pt x="22326347" y="2349881"/>
                    <a:pt x="22224112" y="2349881"/>
                  </a:cubicBezTo>
                  <a:lnTo>
                    <a:pt x="185039" y="2349881"/>
                  </a:lnTo>
                  <a:cubicBezTo>
                    <a:pt x="82804" y="2349754"/>
                    <a:pt x="0" y="2266950"/>
                    <a:pt x="0" y="216484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58" id="58"/>
          <p:cNvSpPr txBox="true"/>
          <p:nvPr/>
        </p:nvSpPr>
        <p:spPr>
          <a:xfrm rot="0">
            <a:off x="1258214" y="5887984"/>
            <a:ext cx="3386071" cy="54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B8A5A"/>
                </a:solidFill>
                <a:latin typeface="Poppins Bold"/>
                <a:ea typeface="Poppins Bold"/>
                <a:cs typeface="Poppins Bold"/>
                <a:sym typeface="Poppins Bold"/>
              </a:rPr>
              <a:t>212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58214" y="6519415"/>
            <a:ext cx="3797875" cy="751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i="true">
                <a:solidFill>
                  <a:srgbClr val="5C687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Adventure and heritage dominate; 212 sells meaning, barely sells specs.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5490686" y="6032897"/>
            <a:ext cx="2882608" cy="851059"/>
            <a:chOff x="0" y="0"/>
            <a:chExt cx="3843477" cy="113474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843528" cy="1134745"/>
            </a:xfrm>
            <a:custGeom>
              <a:avLst/>
              <a:gdLst/>
              <a:ahLst/>
              <a:cxnLst/>
              <a:rect r="r" b="b" t="t" l="l"/>
              <a:pathLst>
                <a:path h="1134745" w="3843528">
                  <a:moveTo>
                    <a:pt x="0" y="0"/>
                  </a:moveTo>
                  <a:lnTo>
                    <a:pt x="3843528" y="0"/>
                  </a:lnTo>
                  <a:lnTo>
                    <a:pt x="3843528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4F86D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5490686" y="6032897"/>
            <a:ext cx="2882608" cy="851059"/>
            <a:chOff x="0" y="0"/>
            <a:chExt cx="3843477" cy="113474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843483" cy="1134743"/>
            </a:xfrm>
            <a:custGeom>
              <a:avLst/>
              <a:gdLst/>
              <a:ahLst/>
              <a:cxnLst/>
              <a:rect r="r" b="b" t="t" l="l"/>
              <a:pathLst>
                <a:path h="1134743" w="3843483">
                  <a:moveTo>
                    <a:pt x="0" y="0"/>
                  </a:moveTo>
                  <a:lnTo>
                    <a:pt x="3843483" y="0"/>
                  </a:lnTo>
                  <a:lnTo>
                    <a:pt x="3843483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97" r="0" b="-1599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3843477" cy="11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25%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373304" y="6032897"/>
            <a:ext cx="2882608" cy="851059"/>
            <a:chOff x="0" y="0"/>
            <a:chExt cx="3843477" cy="113474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843528" cy="1134745"/>
            </a:xfrm>
            <a:custGeom>
              <a:avLst/>
              <a:gdLst/>
              <a:ahLst/>
              <a:cxnLst/>
              <a:rect r="r" b="b" t="t" l="l"/>
              <a:pathLst>
                <a:path h="1134745" w="3843528">
                  <a:moveTo>
                    <a:pt x="0" y="0"/>
                  </a:moveTo>
                  <a:lnTo>
                    <a:pt x="3843528" y="0"/>
                  </a:lnTo>
                  <a:lnTo>
                    <a:pt x="3843528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2E9E5B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8373304" y="6032897"/>
            <a:ext cx="2882608" cy="851059"/>
            <a:chOff x="0" y="0"/>
            <a:chExt cx="3843477" cy="113474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843483" cy="1134743"/>
            </a:xfrm>
            <a:custGeom>
              <a:avLst/>
              <a:gdLst/>
              <a:ahLst/>
              <a:cxnLst/>
              <a:rect r="r" b="b" t="t" l="l"/>
              <a:pathLst>
                <a:path h="1134743" w="3843483">
                  <a:moveTo>
                    <a:pt x="0" y="0"/>
                  </a:moveTo>
                  <a:lnTo>
                    <a:pt x="3843483" y="0"/>
                  </a:lnTo>
                  <a:lnTo>
                    <a:pt x="3843483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97" r="0" b="-1599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3843477" cy="11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25%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255912" y="6032897"/>
            <a:ext cx="4612176" cy="851059"/>
            <a:chOff x="0" y="0"/>
            <a:chExt cx="6149569" cy="113474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149594" cy="1134745"/>
            </a:xfrm>
            <a:custGeom>
              <a:avLst/>
              <a:gdLst/>
              <a:ahLst/>
              <a:cxnLst/>
              <a:rect r="r" b="b" t="t" l="l"/>
              <a:pathLst>
                <a:path h="1134745" w="6149594">
                  <a:moveTo>
                    <a:pt x="0" y="0"/>
                  </a:moveTo>
                  <a:lnTo>
                    <a:pt x="6149594" y="0"/>
                  </a:lnTo>
                  <a:lnTo>
                    <a:pt x="6149594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B8873C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1255912" y="6032897"/>
            <a:ext cx="4612176" cy="851059"/>
            <a:chOff x="0" y="0"/>
            <a:chExt cx="6149569" cy="113474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149572" cy="1134743"/>
            </a:xfrm>
            <a:custGeom>
              <a:avLst/>
              <a:gdLst/>
              <a:ahLst/>
              <a:cxnLst/>
              <a:rect r="r" b="b" t="t" l="l"/>
              <a:pathLst>
                <a:path h="1134743" w="6149572">
                  <a:moveTo>
                    <a:pt x="0" y="0"/>
                  </a:moveTo>
                  <a:lnTo>
                    <a:pt x="6149572" y="0"/>
                  </a:lnTo>
                  <a:lnTo>
                    <a:pt x="6149572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96" r="0" b="-5559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6149569" cy="11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40%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5868098" y="6032897"/>
            <a:ext cx="1153049" cy="851059"/>
            <a:chOff x="0" y="0"/>
            <a:chExt cx="1537398" cy="113474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537335" cy="1134745"/>
            </a:xfrm>
            <a:custGeom>
              <a:avLst/>
              <a:gdLst/>
              <a:ahLst/>
              <a:cxnLst/>
              <a:rect r="r" b="b" t="t" l="l"/>
              <a:pathLst>
                <a:path h="1134745" w="1537335">
                  <a:moveTo>
                    <a:pt x="0" y="0"/>
                  </a:moveTo>
                  <a:lnTo>
                    <a:pt x="1537335" y="0"/>
                  </a:lnTo>
                  <a:lnTo>
                    <a:pt x="1537335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C34A32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5868098" y="6032897"/>
            <a:ext cx="1153049" cy="851059"/>
            <a:chOff x="0" y="0"/>
            <a:chExt cx="1537398" cy="113474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537393" cy="1134743"/>
            </a:xfrm>
            <a:custGeom>
              <a:avLst/>
              <a:gdLst/>
              <a:ahLst/>
              <a:cxnLst/>
              <a:rect r="r" b="b" t="t" l="l"/>
              <a:pathLst>
                <a:path h="1134743" w="1537393">
                  <a:moveTo>
                    <a:pt x="0" y="0"/>
                  </a:moveTo>
                  <a:lnTo>
                    <a:pt x="1537393" y="0"/>
                  </a:lnTo>
                  <a:lnTo>
                    <a:pt x="1537393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700" t="0" r="-44700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1537398" cy="11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10%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745436" y="7526436"/>
            <a:ext cx="16806853" cy="1762363"/>
            <a:chOff x="0" y="0"/>
            <a:chExt cx="22409137" cy="234981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2409150" cy="2349881"/>
            </a:xfrm>
            <a:custGeom>
              <a:avLst/>
              <a:gdLst/>
              <a:ahLst/>
              <a:cxnLst/>
              <a:rect r="r" b="b" t="t" l="l"/>
              <a:pathLst>
                <a:path h="2349881" w="22409150">
                  <a:moveTo>
                    <a:pt x="0" y="185039"/>
                  </a:moveTo>
                  <a:cubicBezTo>
                    <a:pt x="0" y="82804"/>
                    <a:pt x="82804" y="0"/>
                    <a:pt x="185039" y="0"/>
                  </a:cubicBezTo>
                  <a:lnTo>
                    <a:pt x="22224112" y="0"/>
                  </a:lnTo>
                  <a:cubicBezTo>
                    <a:pt x="22326347" y="0"/>
                    <a:pt x="22409150" y="82804"/>
                    <a:pt x="22409150" y="185039"/>
                  </a:cubicBezTo>
                  <a:lnTo>
                    <a:pt x="22409150" y="2164842"/>
                  </a:lnTo>
                  <a:cubicBezTo>
                    <a:pt x="22409150" y="2267077"/>
                    <a:pt x="22326347" y="2349881"/>
                    <a:pt x="22224112" y="2349881"/>
                  </a:cubicBezTo>
                  <a:lnTo>
                    <a:pt x="185039" y="2349881"/>
                  </a:lnTo>
                  <a:cubicBezTo>
                    <a:pt x="82804" y="2349754"/>
                    <a:pt x="0" y="2266950"/>
                    <a:pt x="0" y="216484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82" id="82"/>
          <p:cNvSpPr txBox="true"/>
          <p:nvPr/>
        </p:nvSpPr>
        <p:spPr>
          <a:xfrm rot="0">
            <a:off x="1258214" y="7837180"/>
            <a:ext cx="3386071" cy="54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92C8"/>
                </a:solidFill>
                <a:latin typeface="Poppins Bold"/>
                <a:ea typeface="Poppins Bold"/>
                <a:cs typeface="Poppins Bold"/>
                <a:sym typeface="Poppins Bold"/>
              </a:rPr>
              <a:t>Motor Souq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258214" y="8468601"/>
            <a:ext cx="3797875" cy="751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i="true">
                <a:solidFill>
                  <a:srgbClr val="5C687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Help-me-choose leads; even offers are framed as guidance.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5490686" y="7982093"/>
            <a:ext cx="4612176" cy="851059"/>
            <a:chOff x="0" y="0"/>
            <a:chExt cx="6149569" cy="113474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149594" cy="1134745"/>
            </a:xfrm>
            <a:custGeom>
              <a:avLst/>
              <a:gdLst/>
              <a:ahLst/>
              <a:cxnLst/>
              <a:rect r="r" b="b" t="t" l="l"/>
              <a:pathLst>
                <a:path h="1134745" w="6149594">
                  <a:moveTo>
                    <a:pt x="0" y="0"/>
                  </a:moveTo>
                  <a:lnTo>
                    <a:pt x="6149594" y="0"/>
                  </a:lnTo>
                  <a:lnTo>
                    <a:pt x="6149594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4F86D6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5490686" y="7982093"/>
            <a:ext cx="4612176" cy="851059"/>
            <a:chOff x="0" y="0"/>
            <a:chExt cx="6149569" cy="113474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149572" cy="1134743"/>
            </a:xfrm>
            <a:custGeom>
              <a:avLst/>
              <a:gdLst/>
              <a:ahLst/>
              <a:cxnLst/>
              <a:rect r="r" b="b" t="t" l="l"/>
              <a:pathLst>
                <a:path h="1134743" w="6149572">
                  <a:moveTo>
                    <a:pt x="0" y="0"/>
                  </a:moveTo>
                  <a:lnTo>
                    <a:pt x="6149572" y="0"/>
                  </a:lnTo>
                  <a:lnTo>
                    <a:pt x="6149572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96" r="0" b="-5559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6149569" cy="11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40%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102872" y="7982093"/>
            <a:ext cx="2882608" cy="851059"/>
            <a:chOff x="0" y="0"/>
            <a:chExt cx="3843477" cy="113474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843528" cy="1134745"/>
            </a:xfrm>
            <a:custGeom>
              <a:avLst/>
              <a:gdLst/>
              <a:ahLst/>
              <a:cxnLst/>
              <a:rect r="r" b="b" t="t" l="l"/>
              <a:pathLst>
                <a:path h="1134745" w="3843528">
                  <a:moveTo>
                    <a:pt x="0" y="0"/>
                  </a:moveTo>
                  <a:lnTo>
                    <a:pt x="3843528" y="0"/>
                  </a:lnTo>
                  <a:lnTo>
                    <a:pt x="3843528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2E9E5B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0102872" y="7982093"/>
            <a:ext cx="2882608" cy="851059"/>
            <a:chOff x="0" y="0"/>
            <a:chExt cx="3843477" cy="1134745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843483" cy="1134743"/>
            </a:xfrm>
            <a:custGeom>
              <a:avLst/>
              <a:gdLst/>
              <a:ahLst/>
              <a:cxnLst/>
              <a:rect r="r" b="b" t="t" l="l"/>
              <a:pathLst>
                <a:path h="1134743" w="3843483">
                  <a:moveTo>
                    <a:pt x="0" y="0"/>
                  </a:moveTo>
                  <a:lnTo>
                    <a:pt x="3843483" y="0"/>
                  </a:lnTo>
                  <a:lnTo>
                    <a:pt x="3843483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97" r="0" b="-15997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3843477" cy="11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25%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2985480" y="7982093"/>
            <a:ext cx="1153049" cy="851059"/>
            <a:chOff x="0" y="0"/>
            <a:chExt cx="1537398" cy="1134745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537335" cy="1134745"/>
            </a:xfrm>
            <a:custGeom>
              <a:avLst/>
              <a:gdLst/>
              <a:ahLst/>
              <a:cxnLst/>
              <a:rect r="r" b="b" t="t" l="l"/>
              <a:pathLst>
                <a:path h="1134745" w="1537335">
                  <a:moveTo>
                    <a:pt x="0" y="0"/>
                  </a:moveTo>
                  <a:lnTo>
                    <a:pt x="1537335" y="0"/>
                  </a:lnTo>
                  <a:lnTo>
                    <a:pt x="1537335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B8873C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2985480" y="7982093"/>
            <a:ext cx="1153049" cy="851059"/>
            <a:chOff x="0" y="0"/>
            <a:chExt cx="1537398" cy="1134745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537393" cy="1134743"/>
            </a:xfrm>
            <a:custGeom>
              <a:avLst/>
              <a:gdLst/>
              <a:ahLst/>
              <a:cxnLst/>
              <a:rect r="r" b="b" t="t" l="l"/>
              <a:pathLst>
                <a:path h="1134743" w="1537393">
                  <a:moveTo>
                    <a:pt x="0" y="0"/>
                  </a:moveTo>
                  <a:lnTo>
                    <a:pt x="1537393" y="0"/>
                  </a:lnTo>
                  <a:lnTo>
                    <a:pt x="1537393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700" t="0" r="-44700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1537398" cy="11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10%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4138529" y="7982093"/>
            <a:ext cx="2882608" cy="851059"/>
            <a:chOff x="0" y="0"/>
            <a:chExt cx="3843477" cy="113474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843528" cy="1134745"/>
            </a:xfrm>
            <a:custGeom>
              <a:avLst/>
              <a:gdLst/>
              <a:ahLst/>
              <a:cxnLst/>
              <a:rect r="r" b="b" t="t" l="l"/>
              <a:pathLst>
                <a:path h="1134745" w="3843528">
                  <a:moveTo>
                    <a:pt x="0" y="0"/>
                  </a:moveTo>
                  <a:lnTo>
                    <a:pt x="3843528" y="0"/>
                  </a:lnTo>
                  <a:lnTo>
                    <a:pt x="3843528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C34A32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4138529" y="7982093"/>
            <a:ext cx="2882608" cy="851059"/>
            <a:chOff x="0" y="0"/>
            <a:chExt cx="3843477" cy="113474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843483" cy="1134743"/>
            </a:xfrm>
            <a:custGeom>
              <a:avLst/>
              <a:gdLst/>
              <a:ahLst/>
              <a:cxnLst/>
              <a:rect r="r" b="b" t="t" l="l"/>
              <a:pathLst>
                <a:path h="1134743" w="3843483">
                  <a:moveTo>
                    <a:pt x="0" y="0"/>
                  </a:moveTo>
                  <a:lnTo>
                    <a:pt x="3843483" y="0"/>
                  </a:lnTo>
                  <a:lnTo>
                    <a:pt x="3843483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97" r="0" b="-15997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9525"/>
              <a:ext cx="3843477" cy="11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25%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41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05 · STRATEGY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Tone of Voice &amp; Language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54971" y="2059010"/>
            <a:ext cx="16787784" cy="1372676"/>
            <a:chOff x="0" y="0"/>
            <a:chExt cx="22383712" cy="1830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383750" cy="1830197"/>
            </a:xfrm>
            <a:custGeom>
              <a:avLst/>
              <a:gdLst/>
              <a:ahLst/>
              <a:cxnLst/>
              <a:rect r="r" b="b" t="t" l="l"/>
              <a:pathLst>
                <a:path h="1830197" w="22383750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22200743" y="0"/>
                  </a:lnTo>
                  <a:cubicBezTo>
                    <a:pt x="22301834" y="0"/>
                    <a:pt x="22383750" y="81915"/>
                    <a:pt x="22383750" y="183007"/>
                  </a:cubicBezTo>
                  <a:lnTo>
                    <a:pt x="22383750" y="1647190"/>
                  </a:lnTo>
                  <a:cubicBezTo>
                    <a:pt x="22383750" y="1748282"/>
                    <a:pt x="22301834" y="1830197"/>
                    <a:pt x="22200743" y="1830197"/>
                  </a:cubicBezTo>
                  <a:lnTo>
                    <a:pt x="183007" y="1830197"/>
                  </a:lnTo>
                  <a:cubicBezTo>
                    <a:pt x="81915" y="1830197"/>
                    <a:pt x="0" y="1748282"/>
                    <a:pt x="0" y="1647190"/>
                  </a:cubicBezTo>
                  <a:close/>
                </a:path>
              </a:pathLst>
            </a:custGeom>
            <a:solidFill>
              <a:srgbClr val="F1F4F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66774" y="2264912"/>
            <a:ext cx="5490686" cy="411804"/>
            <a:chOff x="0" y="0"/>
            <a:chExt cx="7320915" cy="5490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20920" cy="549069"/>
            </a:xfrm>
            <a:custGeom>
              <a:avLst/>
              <a:gdLst/>
              <a:ahLst/>
              <a:cxnLst/>
              <a:rect r="r" b="b" t="t" l="l"/>
              <a:pathLst>
                <a:path h="549069" w="7320920">
                  <a:moveTo>
                    <a:pt x="0" y="0"/>
                  </a:moveTo>
                  <a:lnTo>
                    <a:pt x="7320920" y="0"/>
                  </a:lnTo>
                  <a:lnTo>
                    <a:pt x="732092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7320915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b="true" sz="1351" spc="225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SHARED LANGUAGE RULE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66774" y="2676716"/>
            <a:ext cx="15923000" cy="686333"/>
            <a:chOff x="0" y="0"/>
            <a:chExt cx="21230666" cy="9151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230667" cy="915115"/>
            </a:xfrm>
            <a:custGeom>
              <a:avLst/>
              <a:gdLst/>
              <a:ahLst/>
              <a:cxnLst/>
              <a:rect r="r" b="b" t="t" l="l"/>
              <a:pathLst>
                <a:path h="915115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2053" r="0" b="-40205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1230666" cy="924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Arabic primary</a:t>
              </a:r>
              <a:r>
                <a:rPr lang="en-US" sz="1726">
                  <a:solidFill>
                    <a:srgbClr val="5C6879"/>
                  </a:solidFill>
                  <a:latin typeface="Poppins"/>
                  <a:ea typeface="Poppins"/>
                  <a:cs typeface="Poppins"/>
                  <a:sym typeface="Poppins"/>
                </a:rPr>
                <a:t> — white Najdi/Gulf dialect for relatability, MSA for official moments.   </a:t>
              </a:r>
              <a:r>
                <a:rPr lang="en-US" sz="1726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English secondary</a:t>
              </a:r>
              <a:r>
                <a:rPr lang="en-US" sz="1726">
                  <a:solidFill>
                    <a:srgbClr val="5C6879"/>
                  </a:solidFill>
                  <a:latin typeface="Poppins"/>
                  <a:ea typeface="Poppins"/>
                  <a:cs typeface="Poppins"/>
                  <a:sym typeface="Poppins"/>
                </a:rPr>
                <a:t> — where the audience skews younger. Ratio varies by channel.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45436" y="3765318"/>
            <a:ext cx="5441118" cy="4823422"/>
            <a:chOff x="0" y="0"/>
            <a:chExt cx="7254824" cy="64312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54875" cy="6431280"/>
            </a:xfrm>
            <a:custGeom>
              <a:avLst/>
              <a:gdLst/>
              <a:ahLst/>
              <a:cxnLst/>
              <a:rect r="r" b="b" t="t" l="l"/>
              <a:pathLst>
                <a:path h="6431280" w="7254875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7071106" y="0"/>
                  </a:lnTo>
                  <a:cubicBezTo>
                    <a:pt x="7172579" y="0"/>
                    <a:pt x="7254875" y="82296"/>
                    <a:pt x="7254875" y="183769"/>
                  </a:cubicBezTo>
                  <a:lnTo>
                    <a:pt x="7254875" y="6247511"/>
                  </a:lnTo>
                  <a:cubicBezTo>
                    <a:pt x="7254875" y="6348984"/>
                    <a:pt x="7172579" y="6431280"/>
                    <a:pt x="7071106" y="6431280"/>
                  </a:cubicBezTo>
                  <a:lnTo>
                    <a:pt x="183769" y="6431280"/>
                  </a:lnTo>
                  <a:cubicBezTo>
                    <a:pt x="82296" y="6431280"/>
                    <a:pt x="0" y="6348984"/>
                    <a:pt x="0" y="624751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66774" y="4159196"/>
            <a:ext cx="4735716" cy="480431"/>
            <a:chOff x="0" y="0"/>
            <a:chExt cx="6314288" cy="6405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14293" cy="640580"/>
            </a:xfrm>
            <a:custGeom>
              <a:avLst/>
              <a:gdLst/>
              <a:ahLst/>
              <a:cxnLst/>
              <a:rect r="r" b="b" t="t" l="l"/>
              <a:pathLst>
                <a:path h="640580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067" r="0" b="-14206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6314288" cy="65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b="true" sz="1651" spc="150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BESTUNE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66774" y="4598451"/>
            <a:ext cx="4735716" cy="480431"/>
            <a:chOff x="0" y="0"/>
            <a:chExt cx="6314288" cy="6405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14293" cy="640580"/>
            </a:xfrm>
            <a:custGeom>
              <a:avLst/>
              <a:gdLst/>
              <a:ahLst/>
              <a:cxnLst/>
              <a:rect r="r" b="b" t="t" l="l"/>
              <a:pathLst>
                <a:path h="640580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067" r="0" b="-14206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6314288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Caregiver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57240" y="5206622"/>
            <a:ext cx="4617520" cy="19069"/>
            <a:chOff x="0" y="0"/>
            <a:chExt cx="6156693" cy="2542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156706" cy="25400"/>
            </a:xfrm>
            <a:custGeom>
              <a:avLst/>
              <a:gdLst/>
              <a:ahLst/>
              <a:cxnLst/>
              <a:rect r="r" b="b" t="t" l="l"/>
              <a:pathLst>
                <a:path h="25400" w="6156706">
                  <a:moveTo>
                    <a:pt x="0" y="0"/>
                  </a:moveTo>
                  <a:lnTo>
                    <a:pt x="6156706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672918" r="0" b="-4673018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258214" y="5411743"/>
            <a:ext cx="4484208" cy="199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2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Warm, reassuring, trustworthy. Speaks like a dependable family member — never salesy, never boastful.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66774" y="7412431"/>
            <a:ext cx="4598451" cy="823608"/>
            <a:chOff x="0" y="0"/>
            <a:chExt cx="6131268" cy="10981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131306" cy="1098169"/>
            </a:xfrm>
            <a:custGeom>
              <a:avLst/>
              <a:gdLst/>
              <a:ahLst/>
              <a:cxnLst/>
              <a:rect r="r" b="b" t="t" l="l"/>
              <a:pathLst>
                <a:path h="1098169" w="6131306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6021451" y="0"/>
                  </a:lnTo>
                  <a:cubicBezTo>
                    <a:pt x="6082157" y="0"/>
                    <a:pt x="6131306" y="49149"/>
                    <a:pt x="6131306" y="109855"/>
                  </a:cubicBezTo>
                  <a:lnTo>
                    <a:pt x="6131306" y="988314"/>
                  </a:lnTo>
                  <a:cubicBezTo>
                    <a:pt x="6131306" y="1049020"/>
                    <a:pt x="6082157" y="1098169"/>
                    <a:pt x="6021451" y="1098169"/>
                  </a:cubicBezTo>
                  <a:lnTo>
                    <a:pt x="109855" y="1098169"/>
                  </a:lnTo>
                  <a:cubicBezTo>
                    <a:pt x="49149" y="1098169"/>
                    <a:pt x="0" y="1049020"/>
                    <a:pt x="0" y="988314"/>
                  </a:cubicBezTo>
                  <a:close/>
                </a:path>
              </a:pathLst>
            </a:custGeom>
            <a:solidFill>
              <a:srgbClr val="F1F4F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04039" y="7412431"/>
            <a:ext cx="4323921" cy="823608"/>
            <a:chOff x="0" y="0"/>
            <a:chExt cx="5765228" cy="10981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765224" cy="1098138"/>
            </a:xfrm>
            <a:custGeom>
              <a:avLst/>
              <a:gdLst/>
              <a:ahLst/>
              <a:cxnLst/>
              <a:rect r="r" b="b" t="t" l="l"/>
              <a:pathLst>
                <a:path h="1098138" w="5765224">
                  <a:moveTo>
                    <a:pt x="0" y="0"/>
                  </a:moveTo>
                  <a:lnTo>
                    <a:pt x="5765224" y="0"/>
                  </a:lnTo>
                  <a:lnTo>
                    <a:pt x="5765224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5765228" cy="1107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b="true" sz="1651" i="true">
                  <a:solidFill>
                    <a:srgbClr val="3C63A8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“With you on every journey.”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496936" y="3765318"/>
            <a:ext cx="5441118" cy="4823422"/>
            <a:chOff x="0" y="0"/>
            <a:chExt cx="7254824" cy="643122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254875" cy="6431280"/>
            </a:xfrm>
            <a:custGeom>
              <a:avLst/>
              <a:gdLst/>
              <a:ahLst/>
              <a:cxnLst/>
              <a:rect r="r" b="b" t="t" l="l"/>
              <a:pathLst>
                <a:path h="6431280" w="7254875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7071106" y="0"/>
                  </a:lnTo>
                  <a:cubicBezTo>
                    <a:pt x="7172579" y="0"/>
                    <a:pt x="7254875" y="82296"/>
                    <a:pt x="7254875" y="183769"/>
                  </a:cubicBezTo>
                  <a:lnTo>
                    <a:pt x="7254875" y="6247511"/>
                  </a:lnTo>
                  <a:cubicBezTo>
                    <a:pt x="7254875" y="6348984"/>
                    <a:pt x="7172579" y="6431280"/>
                    <a:pt x="7071106" y="6431280"/>
                  </a:cubicBezTo>
                  <a:lnTo>
                    <a:pt x="183769" y="6431280"/>
                  </a:lnTo>
                  <a:cubicBezTo>
                    <a:pt x="82296" y="6431280"/>
                    <a:pt x="0" y="6348984"/>
                    <a:pt x="0" y="624751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6918265" y="4159196"/>
            <a:ext cx="4735716" cy="480431"/>
            <a:chOff x="0" y="0"/>
            <a:chExt cx="6314288" cy="64057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314293" cy="640580"/>
            </a:xfrm>
            <a:custGeom>
              <a:avLst/>
              <a:gdLst/>
              <a:ahLst/>
              <a:cxnLst/>
              <a:rect r="r" b="b" t="t" l="l"/>
              <a:pathLst>
                <a:path h="640580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067" r="0" b="-14206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6314288" cy="65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b="true" sz="1651" spc="150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212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918265" y="4598451"/>
            <a:ext cx="4735716" cy="480431"/>
            <a:chOff x="0" y="0"/>
            <a:chExt cx="6314288" cy="64057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314293" cy="640580"/>
            </a:xfrm>
            <a:custGeom>
              <a:avLst/>
              <a:gdLst/>
              <a:ahLst/>
              <a:cxnLst/>
              <a:rect r="r" b="b" t="t" l="l"/>
              <a:pathLst>
                <a:path h="640580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067" r="0" b="-14206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6314288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Explorer / Outlaw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908740" y="5206622"/>
            <a:ext cx="4617520" cy="19069"/>
            <a:chOff x="0" y="0"/>
            <a:chExt cx="6156693" cy="2542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156706" cy="25400"/>
            </a:xfrm>
            <a:custGeom>
              <a:avLst/>
              <a:gdLst/>
              <a:ahLst/>
              <a:cxnLst/>
              <a:rect r="r" b="b" t="t" l="l"/>
              <a:pathLst>
                <a:path h="25400" w="6156706">
                  <a:moveTo>
                    <a:pt x="0" y="0"/>
                  </a:moveTo>
                  <a:lnTo>
                    <a:pt x="6156706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672918" r="0" b="-4673018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7009705" y="5411743"/>
            <a:ext cx="4484208" cy="199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2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Bold, confident, a little rebellious. Speaks like an adventurer who doesn't follow the crowd.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6918265" y="7412431"/>
            <a:ext cx="4598451" cy="823608"/>
            <a:chOff x="0" y="0"/>
            <a:chExt cx="6131268" cy="109814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131306" cy="1098169"/>
            </a:xfrm>
            <a:custGeom>
              <a:avLst/>
              <a:gdLst/>
              <a:ahLst/>
              <a:cxnLst/>
              <a:rect r="r" b="b" t="t" l="l"/>
              <a:pathLst>
                <a:path h="1098169" w="6131306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6021451" y="0"/>
                  </a:lnTo>
                  <a:cubicBezTo>
                    <a:pt x="6082157" y="0"/>
                    <a:pt x="6131306" y="49149"/>
                    <a:pt x="6131306" y="109855"/>
                  </a:cubicBezTo>
                  <a:lnTo>
                    <a:pt x="6131306" y="988314"/>
                  </a:lnTo>
                  <a:cubicBezTo>
                    <a:pt x="6131306" y="1049020"/>
                    <a:pt x="6082157" y="1098169"/>
                    <a:pt x="6021451" y="1098169"/>
                  </a:cubicBezTo>
                  <a:lnTo>
                    <a:pt x="109855" y="1098169"/>
                  </a:lnTo>
                  <a:cubicBezTo>
                    <a:pt x="49149" y="1098169"/>
                    <a:pt x="0" y="1049020"/>
                    <a:pt x="0" y="988314"/>
                  </a:cubicBezTo>
                  <a:close/>
                </a:path>
              </a:pathLst>
            </a:custGeom>
            <a:solidFill>
              <a:srgbClr val="F1F4F8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055539" y="7412431"/>
            <a:ext cx="4323921" cy="823608"/>
            <a:chOff x="0" y="0"/>
            <a:chExt cx="5765228" cy="109814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765224" cy="1098138"/>
            </a:xfrm>
            <a:custGeom>
              <a:avLst/>
              <a:gdLst/>
              <a:ahLst/>
              <a:cxnLst/>
              <a:rect r="r" b="b" t="t" l="l"/>
              <a:pathLst>
                <a:path h="1098138" w="5765224">
                  <a:moveTo>
                    <a:pt x="0" y="0"/>
                  </a:moveTo>
                  <a:lnTo>
                    <a:pt x="5765224" y="0"/>
                  </a:lnTo>
                  <a:lnTo>
                    <a:pt x="5765224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5765228" cy="1107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b="true" sz="1651" i="true">
                  <a:solidFill>
                    <a:srgbClr val="1B8A5A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“The road no one took… starts here.”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248436" y="3765318"/>
            <a:ext cx="5441118" cy="4823422"/>
            <a:chOff x="0" y="0"/>
            <a:chExt cx="7254824" cy="643122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254875" cy="6431280"/>
            </a:xfrm>
            <a:custGeom>
              <a:avLst/>
              <a:gdLst/>
              <a:ahLst/>
              <a:cxnLst/>
              <a:rect r="r" b="b" t="t" l="l"/>
              <a:pathLst>
                <a:path h="6431280" w="7254875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7071106" y="0"/>
                  </a:lnTo>
                  <a:cubicBezTo>
                    <a:pt x="7172579" y="0"/>
                    <a:pt x="7254875" y="82296"/>
                    <a:pt x="7254875" y="183769"/>
                  </a:cubicBezTo>
                  <a:lnTo>
                    <a:pt x="7254875" y="6247511"/>
                  </a:lnTo>
                  <a:cubicBezTo>
                    <a:pt x="7254875" y="6348984"/>
                    <a:pt x="7172579" y="6431280"/>
                    <a:pt x="7071106" y="6431280"/>
                  </a:cubicBezTo>
                  <a:lnTo>
                    <a:pt x="183769" y="6431280"/>
                  </a:lnTo>
                  <a:cubicBezTo>
                    <a:pt x="82296" y="6431280"/>
                    <a:pt x="0" y="6348984"/>
                    <a:pt x="0" y="624751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2669764" y="4159196"/>
            <a:ext cx="4735716" cy="480431"/>
            <a:chOff x="0" y="0"/>
            <a:chExt cx="6314288" cy="64057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314293" cy="640580"/>
            </a:xfrm>
            <a:custGeom>
              <a:avLst/>
              <a:gdLst/>
              <a:ahLst/>
              <a:cxnLst/>
              <a:rect r="r" b="b" t="t" l="l"/>
              <a:pathLst>
                <a:path h="640580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067" r="0" b="-14206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6314288" cy="65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b="true" sz="1651" spc="150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MOTOR SOUQ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669764" y="4598451"/>
            <a:ext cx="4735716" cy="480431"/>
            <a:chOff x="0" y="0"/>
            <a:chExt cx="6314288" cy="64057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314293" cy="640580"/>
            </a:xfrm>
            <a:custGeom>
              <a:avLst/>
              <a:gdLst/>
              <a:ahLst/>
              <a:cxnLst/>
              <a:rect r="r" b="b" t="t" l="l"/>
              <a:pathLst>
                <a:path h="640580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067" r="0" b="-14206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6314288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Sage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660230" y="5206622"/>
            <a:ext cx="4617520" cy="19069"/>
            <a:chOff x="0" y="0"/>
            <a:chExt cx="6156693" cy="2542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156706" cy="25400"/>
            </a:xfrm>
            <a:custGeom>
              <a:avLst/>
              <a:gdLst/>
              <a:ahLst/>
              <a:cxnLst/>
              <a:rect r="r" b="b" t="t" l="l"/>
              <a:pathLst>
                <a:path h="25400" w="6156706">
                  <a:moveTo>
                    <a:pt x="0" y="0"/>
                  </a:moveTo>
                  <a:lnTo>
                    <a:pt x="6156706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672918" r="0" b="-4673018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61" id="61"/>
          <p:cNvSpPr txBox="true"/>
          <p:nvPr/>
        </p:nvSpPr>
        <p:spPr>
          <a:xfrm rot="0">
            <a:off x="12761204" y="5411743"/>
            <a:ext cx="4484208" cy="199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2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Clear, helpful, honest, on the buyer's side. Speaks like a knowledgeable friend who wants you to choose right.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2669764" y="7412431"/>
            <a:ext cx="4598451" cy="823608"/>
            <a:chOff x="0" y="0"/>
            <a:chExt cx="6131268" cy="109814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131306" cy="1098169"/>
            </a:xfrm>
            <a:custGeom>
              <a:avLst/>
              <a:gdLst/>
              <a:ahLst/>
              <a:cxnLst/>
              <a:rect r="r" b="b" t="t" l="l"/>
              <a:pathLst>
                <a:path h="1098169" w="6131306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6021451" y="0"/>
                  </a:lnTo>
                  <a:cubicBezTo>
                    <a:pt x="6082157" y="0"/>
                    <a:pt x="6131306" y="49149"/>
                    <a:pt x="6131306" y="109855"/>
                  </a:cubicBezTo>
                  <a:lnTo>
                    <a:pt x="6131306" y="988314"/>
                  </a:lnTo>
                  <a:cubicBezTo>
                    <a:pt x="6131306" y="1049020"/>
                    <a:pt x="6082157" y="1098169"/>
                    <a:pt x="6021451" y="1098169"/>
                  </a:cubicBezTo>
                  <a:lnTo>
                    <a:pt x="109855" y="1098169"/>
                  </a:lnTo>
                  <a:cubicBezTo>
                    <a:pt x="49149" y="1098169"/>
                    <a:pt x="0" y="1049020"/>
                    <a:pt x="0" y="988314"/>
                  </a:cubicBezTo>
                  <a:close/>
                </a:path>
              </a:pathLst>
            </a:custGeom>
            <a:solidFill>
              <a:srgbClr val="F1F4F8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2807029" y="7412431"/>
            <a:ext cx="4323921" cy="823608"/>
            <a:chOff x="0" y="0"/>
            <a:chExt cx="5765228" cy="109814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765224" cy="1098138"/>
            </a:xfrm>
            <a:custGeom>
              <a:avLst/>
              <a:gdLst/>
              <a:ahLst/>
              <a:cxnLst/>
              <a:rect r="r" b="b" t="t" l="l"/>
              <a:pathLst>
                <a:path h="1098138" w="5765224">
                  <a:moveTo>
                    <a:pt x="0" y="0"/>
                  </a:moveTo>
                  <a:lnTo>
                    <a:pt x="5765224" y="0"/>
                  </a:lnTo>
                  <a:lnTo>
                    <a:pt x="5765224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5765228" cy="1107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b="true" sz="1651" i="true">
                  <a:solidFill>
                    <a:srgbClr val="1892C8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“We help you choose — not just sell.”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42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05 · STRATEGY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Posting Cadence &amp; Content Volume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73862" y="2076155"/>
            <a:ext cx="16289188" cy="62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8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Cadence scales with each brand's ambition and current gap. Frequency rises during campaigns and seasonal peaks.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3422152"/>
            <a:ext cx="5441118" cy="3725285"/>
            <a:chOff x="0" y="0"/>
            <a:chExt cx="7254824" cy="49670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54875" cy="4967097"/>
            </a:xfrm>
            <a:custGeom>
              <a:avLst/>
              <a:gdLst/>
              <a:ahLst/>
              <a:cxnLst/>
              <a:rect r="r" b="b" t="t" l="l"/>
              <a:pathLst>
                <a:path h="4967097" w="7254875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7070852" y="0"/>
                  </a:lnTo>
                  <a:cubicBezTo>
                    <a:pt x="7172452" y="0"/>
                    <a:pt x="7254875" y="82423"/>
                    <a:pt x="7254875" y="184023"/>
                  </a:cubicBezTo>
                  <a:lnTo>
                    <a:pt x="7254875" y="4783074"/>
                  </a:lnTo>
                  <a:cubicBezTo>
                    <a:pt x="7254875" y="4884674"/>
                    <a:pt x="7172452" y="4967097"/>
                    <a:pt x="7070852" y="4967097"/>
                  </a:cubicBezTo>
                  <a:lnTo>
                    <a:pt x="184023" y="4967097"/>
                  </a:lnTo>
                  <a:cubicBezTo>
                    <a:pt x="82423" y="4967097"/>
                    <a:pt x="0" y="4884674"/>
                    <a:pt x="0" y="478307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66774" y="3816029"/>
            <a:ext cx="4735716" cy="549069"/>
            <a:chOff x="0" y="0"/>
            <a:chExt cx="6314288" cy="7320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14293" cy="732092"/>
            </a:xfrm>
            <a:custGeom>
              <a:avLst/>
              <a:gdLst/>
              <a:ahLst/>
              <a:cxnLst/>
              <a:rect r="r" b="b" t="t" l="l"/>
              <a:pathLst>
                <a:path h="732092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6314288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Bestune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6774" y="4420010"/>
            <a:ext cx="4735716" cy="823608"/>
            <a:chOff x="0" y="0"/>
            <a:chExt cx="6314288" cy="10981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14293" cy="1098138"/>
            </a:xfrm>
            <a:custGeom>
              <a:avLst/>
              <a:gdLst/>
              <a:ahLst/>
              <a:cxnLst/>
              <a:rect r="r" b="b" t="t" l="l"/>
              <a:pathLst>
                <a:path h="1098138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038" r="0" b="-6203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314288" cy="1136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 / week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57240" y="5481161"/>
            <a:ext cx="4617520" cy="19069"/>
            <a:chOff x="0" y="0"/>
            <a:chExt cx="6156693" cy="254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56706" cy="25400"/>
            </a:xfrm>
            <a:custGeom>
              <a:avLst/>
              <a:gdLst/>
              <a:ahLst/>
              <a:cxnLst/>
              <a:rect r="r" b="b" t="t" l="l"/>
              <a:pathLst>
                <a:path h="25400" w="6156706">
                  <a:moveTo>
                    <a:pt x="0" y="0"/>
                  </a:moveTo>
                  <a:lnTo>
                    <a:pt x="6156706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672918" r="0" b="-4673018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258214" y="5672557"/>
            <a:ext cx="4484208" cy="130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4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TikTok / Reels priority (its biggest gap). Weekly owner-story or trust content as the anchor.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496936" y="3422152"/>
            <a:ext cx="5441118" cy="3725285"/>
            <a:chOff x="0" y="0"/>
            <a:chExt cx="7254824" cy="496704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254875" cy="4967097"/>
            </a:xfrm>
            <a:custGeom>
              <a:avLst/>
              <a:gdLst/>
              <a:ahLst/>
              <a:cxnLst/>
              <a:rect r="r" b="b" t="t" l="l"/>
              <a:pathLst>
                <a:path h="4967097" w="7254875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7070852" y="0"/>
                  </a:lnTo>
                  <a:cubicBezTo>
                    <a:pt x="7172452" y="0"/>
                    <a:pt x="7254875" y="82423"/>
                    <a:pt x="7254875" y="184023"/>
                  </a:cubicBezTo>
                  <a:lnTo>
                    <a:pt x="7254875" y="4783074"/>
                  </a:lnTo>
                  <a:cubicBezTo>
                    <a:pt x="7254875" y="4884674"/>
                    <a:pt x="7172452" y="4967097"/>
                    <a:pt x="7070852" y="4967097"/>
                  </a:cubicBezTo>
                  <a:lnTo>
                    <a:pt x="184023" y="4967097"/>
                  </a:lnTo>
                  <a:cubicBezTo>
                    <a:pt x="82423" y="4967097"/>
                    <a:pt x="0" y="4884674"/>
                    <a:pt x="0" y="478307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918265" y="3816029"/>
            <a:ext cx="4735716" cy="549069"/>
            <a:chOff x="0" y="0"/>
            <a:chExt cx="6314288" cy="7320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14293" cy="732092"/>
            </a:xfrm>
            <a:custGeom>
              <a:avLst/>
              <a:gdLst/>
              <a:ahLst/>
              <a:cxnLst/>
              <a:rect r="r" b="b" t="t" l="l"/>
              <a:pathLst>
                <a:path h="732092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6314288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212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918265" y="4420010"/>
            <a:ext cx="4735716" cy="823608"/>
            <a:chOff x="0" y="0"/>
            <a:chExt cx="6314288" cy="10981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14293" cy="1098138"/>
            </a:xfrm>
            <a:custGeom>
              <a:avLst/>
              <a:gdLst/>
              <a:ahLst/>
              <a:cxnLst/>
              <a:rect r="r" b="b" t="t" l="l"/>
              <a:pathLst>
                <a:path h="1098138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038" r="0" b="-6203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314288" cy="1136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4–5 / week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908740" y="5481161"/>
            <a:ext cx="4617520" cy="19069"/>
            <a:chOff x="0" y="0"/>
            <a:chExt cx="6156693" cy="2542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156706" cy="25400"/>
            </a:xfrm>
            <a:custGeom>
              <a:avLst/>
              <a:gdLst/>
              <a:ahLst/>
              <a:cxnLst/>
              <a:rect r="r" b="b" t="t" l="l"/>
              <a:pathLst>
                <a:path h="25400" w="6156706">
                  <a:moveTo>
                    <a:pt x="0" y="0"/>
                  </a:moveTo>
                  <a:lnTo>
                    <a:pt x="6156706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672918" r="0" b="-4673018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7009705" y="5672557"/>
            <a:ext cx="4484208" cy="130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4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Vertical-video-first. Every week must include at least one capability/adventure video.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248436" y="3422152"/>
            <a:ext cx="5441118" cy="3725285"/>
            <a:chOff x="0" y="0"/>
            <a:chExt cx="7254824" cy="496704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54875" cy="4967097"/>
            </a:xfrm>
            <a:custGeom>
              <a:avLst/>
              <a:gdLst/>
              <a:ahLst/>
              <a:cxnLst/>
              <a:rect r="r" b="b" t="t" l="l"/>
              <a:pathLst>
                <a:path h="4967097" w="7254875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7070852" y="0"/>
                  </a:lnTo>
                  <a:cubicBezTo>
                    <a:pt x="7172452" y="0"/>
                    <a:pt x="7254875" y="82423"/>
                    <a:pt x="7254875" y="184023"/>
                  </a:cubicBezTo>
                  <a:lnTo>
                    <a:pt x="7254875" y="4783074"/>
                  </a:lnTo>
                  <a:cubicBezTo>
                    <a:pt x="7254875" y="4884674"/>
                    <a:pt x="7172452" y="4967097"/>
                    <a:pt x="7070852" y="4967097"/>
                  </a:cubicBezTo>
                  <a:lnTo>
                    <a:pt x="184023" y="4967097"/>
                  </a:lnTo>
                  <a:cubicBezTo>
                    <a:pt x="82423" y="4967097"/>
                    <a:pt x="0" y="4884674"/>
                    <a:pt x="0" y="478307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669764" y="3816029"/>
            <a:ext cx="4735716" cy="549069"/>
            <a:chOff x="0" y="0"/>
            <a:chExt cx="6314288" cy="73209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314293" cy="732092"/>
            </a:xfrm>
            <a:custGeom>
              <a:avLst/>
              <a:gdLst/>
              <a:ahLst/>
              <a:cxnLst/>
              <a:rect r="r" b="b" t="t" l="l"/>
              <a:pathLst>
                <a:path h="732092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6314288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Motor Souq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669764" y="4420010"/>
            <a:ext cx="4735716" cy="823608"/>
            <a:chOff x="0" y="0"/>
            <a:chExt cx="6314288" cy="10981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314293" cy="1098138"/>
            </a:xfrm>
            <a:custGeom>
              <a:avLst/>
              <a:gdLst/>
              <a:ahLst/>
              <a:cxnLst/>
              <a:rect r="r" b="b" t="t" l="l"/>
              <a:pathLst>
                <a:path h="1098138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038" r="0" b="-6203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6314288" cy="1136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 / week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660230" y="5481161"/>
            <a:ext cx="4617520" cy="19069"/>
            <a:chOff x="0" y="0"/>
            <a:chExt cx="6156693" cy="2542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156706" cy="25400"/>
            </a:xfrm>
            <a:custGeom>
              <a:avLst/>
              <a:gdLst/>
              <a:ahLst/>
              <a:cxnLst/>
              <a:rect r="r" b="b" t="t" l="l"/>
              <a:pathLst>
                <a:path h="25400" w="6156706">
                  <a:moveTo>
                    <a:pt x="0" y="0"/>
                  </a:moveTo>
                  <a:lnTo>
                    <a:pt x="6156706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672918" r="0" b="-4673018"/>
              </a:stretch>
            </a:blip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12761204" y="5672557"/>
            <a:ext cx="4484208" cy="130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4"/>
              </a:lnSpc>
            </a:pPr>
            <a:r>
              <a:rPr lang="en-US" sz="15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Comparison content 2×/week as the signature series. Reactivation focus on the dormant 78K.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754971" y="7549696"/>
            <a:ext cx="16787784" cy="1441304"/>
            <a:chOff x="0" y="0"/>
            <a:chExt cx="22383712" cy="192173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383750" cy="1921764"/>
            </a:xfrm>
            <a:custGeom>
              <a:avLst/>
              <a:gdLst/>
              <a:ahLst/>
              <a:cxnLst/>
              <a:rect r="r" b="b" t="t" l="l"/>
              <a:pathLst>
                <a:path h="1921764" w="22383750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22200743" y="0"/>
                  </a:lnTo>
                  <a:cubicBezTo>
                    <a:pt x="22301834" y="0"/>
                    <a:pt x="22383750" y="81915"/>
                    <a:pt x="22383750" y="183007"/>
                  </a:cubicBezTo>
                  <a:lnTo>
                    <a:pt x="22383750" y="1738757"/>
                  </a:lnTo>
                  <a:cubicBezTo>
                    <a:pt x="22383750" y="1839849"/>
                    <a:pt x="22301834" y="1921764"/>
                    <a:pt x="22200743" y="1921764"/>
                  </a:cubicBezTo>
                  <a:lnTo>
                    <a:pt x="183007" y="1921764"/>
                  </a:lnTo>
                  <a:cubicBezTo>
                    <a:pt x="81915" y="1921764"/>
                    <a:pt x="0" y="1839849"/>
                    <a:pt x="0" y="1738757"/>
                  </a:cubicBezTo>
                  <a:close/>
                </a:path>
              </a:pathLst>
            </a:custGeom>
            <a:solidFill>
              <a:srgbClr val="0F142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66774" y="7769323"/>
            <a:ext cx="5490686" cy="411804"/>
            <a:chOff x="0" y="0"/>
            <a:chExt cx="7320915" cy="54907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20920" cy="549069"/>
            </a:xfrm>
            <a:custGeom>
              <a:avLst/>
              <a:gdLst/>
              <a:ahLst/>
              <a:cxnLst/>
              <a:rect r="r" b="b" t="t" l="l"/>
              <a:pathLst>
                <a:path h="549069" w="7320920">
                  <a:moveTo>
                    <a:pt x="0" y="0"/>
                  </a:moveTo>
                  <a:lnTo>
                    <a:pt x="7320920" y="0"/>
                  </a:lnTo>
                  <a:lnTo>
                    <a:pt x="732092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7320915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b="true" sz="1351" spc="225">
                  <a:solidFill>
                    <a:srgbClr val="B887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CROSS-PORTFOLIO NOTE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66774" y="8167402"/>
            <a:ext cx="16060264" cy="686333"/>
            <a:chOff x="0" y="0"/>
            <a:chExt cx="21413686" cy="91511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413690" cy="915115"/>
            </a:xfrm>
            <a:custGeom>
              <a:avLst/>
              <a:gdLst/>
              <a:ahLst/>
              <a:cxnLst/>
              <a:rect r="r" b="b" t="t" l="l"/>
              <a:pathLst>
                <a:path h="915115" w="21413690">
                  <a:moveTo>
                    <a:pt x="0" y="0"/>
                  </a:moveTo>
                  <a:lnTo>
                    <a:pt x="21413690" y="0"/>
                  </a:lnTo>
                  <a:lnTo>
                    <a:pt x="21413690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5950" r="0" b="-40594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21413686" cy="934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E6EAF2"/>
                  </a:solidFill>
                  <a:latin typeface="Poppins"/>
                  <a:ea typeface="Poppins"/>
                  <a:cs typeface="Poppins"/>
                  <a:sym typeface="Poppins"/>
                </a:rPr>
                <a:t>Bestune ↔ Motor Souq should cross-promote (shared hotline, shared group). A coordinated calendar closes the “two accounts, zero overlap” gap flagged in the audit.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43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033695" y="34509"/>
            <a:ext cx="5856875" cy="623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028"/>
              </a:lnSpc>
            </a:pPr>
            <a:r>
              <a:rPr lang="en-US" sz="30023" b="true">
                <a:solidFill>
                  <a:srgbClr val="1892C8">
                    <a:alpha val="15686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23608" y="4323921"/>
            <a:ext cx="686333" cy="68637"/>
            <a:chOff x="0" y="0"/>
            <a:chExt cx="915111" cy="915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5162" cy="91567"/>
            </a:xfrm>
            <a:custGeom>
              <a:avLst/>
              <a:gdLst/>
              <a:ahLst/>
              <a:cxnLst/>
              <a:rect r="r" b="b" t="t" l="l"/>
              <a:pathLst>
                <a:path h="91567" w="915162">
                  <a:moveTo>
                    <a:pt x="0" y="0"/>
                  </a:moveTo>
                  <a:lnTo>
                    <a:pt x="915162" y="0"/>
                  </a:lnTo>
                  <a:lnTo>
                    <a:pt x="915162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3608" y="4529823"/>
            <a:ext cx="10981382" cy="549069"/>
            <a:chOff x="0" y="0"/>
            <a:chExt cx="14641843" cy="7320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1840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4641843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b="true" sz="1951" spc="750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SECTION SIX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77773" y="5067462"/>
            <a:ext cx="12857512" cy="1887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6"/>
              </a:lnSpc>
            </a:pPr>
            <a:r>
              <a:rPr lang="en-US" sz="690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Channels Strategy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54971" y="8922372"/>
            <a:ext cx="7137892" cy="905961"/>
            <a:chOff x="0" y="0"/>
            <a:chExt cx="9517190" cy="12079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17253" cy="1208024"/>
            </a:xfrm>
            <a:custGeom>
              <a:avLst/>
              <a:gdLst/>
              <a:ahLst/>
              <a:cxnLst/>
              <a:rect r="r" b="b" t="t" l="l"/>
              <a:pathLst>
                <a:path h="1208024" w="9517253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9370822" y="0"/>
                  </a:lnTo>
                  <a:cubicBezTo>
                    <a:pt x="9451721" y="0"/>
                    <a:pt x="9517253" y="65532"/>
                    <a:pt x="9517253" y="146431"/>
                  </a:cubicBezTo>
                  <a:lnTo>
                    <a:pt x="9517253" y="1061593"/>
                  </a:lnTo>
                  <a:cubicBezTo>
                    <a:pt x="9517253" y="1142492"/>
                    <a:pt x="9451721" y="1208024"/>
                    <a:pt x="9370822" y="1208024"/>
                  </a:cubicBezTo>
                  <a:lnTo>
                    <a:pt x="146431" y="1208024"/>
                  </a:lnTo>
                  <a:cubicBezTo>
                    <a:pt x="65532" y="1207897"/>
                    <a:pt x="0" y="1142365"/>
                    <a:pt x="0" y="106159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9500" y="9087088"/>
            <a:ext cx="6588824" cy="968950"/>
            <a:chOff x="0" y="0"/>
            <a:chExt cx="8785098" cy="1291933"/>
          </a:xfrm>
        </p:grpSpPr>
        <p:sp>
          <p:nvSpPr>
            <p:cNvPr name="Freeform 13" id="13" descr="/tmp/build/brands_strip.png"/>
            <p:cNvSpPr/>
            <p:nvPr/>
          </p:nvSpPr>
          <p:spPr>
            <a:xfrm flipH="false" flipV="false" rot="0">
              <a:off x="0" y="0"/>
              <a:ext cx="8785098" cy="1291971"/>
            </a:xfrm>
            <a:custGeom>
              <a:avLst/>
              <a:gdLst/>
              <a:ahLst/>
              <a:cxnLst/>
              <a:rect r="r" b="b" t="t" l="l"/>
              <a:pathLst>
                <a:path h="1291971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291971"/>
                  </a:lnTo>
                  <a:lnTo>
                    <a:pt x="0" y="1291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06 · CHANNELS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One Personality per Platform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73862" y="2076155"/>
            <a:ext cx="16289188" cy="62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876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Each platform plays a distinct role. The tone shifts to fit the platform's culture and the brand using it.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5436" y="2941711"/>
            <a:ext cx="5441118" cy="2078069"/>
            <a:chOff x="0" y="0"/>
            <a:chExt cx="7254824" cy="27707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54875" cy="2770886"/>
            </a:xfrm>
            <a:custGeom>
              <a:avLst/>
              <a:gdLst/>
              <a:ahLst/>
              <a:cxnLst/>
              <a:rect r="r" b="b" t="t" l="l"/>
              <a:pathLst>
                <a:path h="2770886" w="7254875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7070090" y="0"/>
                  </a:lnTo>
                  <a:cubicBezTo>
                    <a:pt x="7172072" y="0"/>
                    <a:pt x="7254875" y="82677"/>
                    <a:pt x="7254875" y="184785"/>
                  </a:cubicBezTo>
                  <a:lnTo>
                    <a:pt x="7254875" y="2586101"/>
                  </a:lnTo>
                  <a:cubicBezTo>
                    <a:pt x="7254875" y="2688082"/>
                    <a:pt x="7172198" y="2770886"/>
                    <a:pt x="7070090" y="2770886"/>
                  </a:cubicBezTo>
                  <a:lnTo>
                    <a:pt x="184785" y="2770886"/>
                  </a:lnTo>
                  <a:cubicBezTo>
                    <a:pt x="82677" y="2770759"/>
                    <a:pt x="0" y="2688082"/>
                    <a:pt x="0" y="258610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54971" y="2951245"/>
            <a:ext cx="123539" cy="2059010"/>
            <a:chOff x="0" y="0"/>
            <a:chExt cx="164719" cy="274534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4719" cy="2745359"/>
            </a:xfrm>
            <a:custGeom>
              <a:avLst/>
              <a:gdLst/>
              <a:ahLst/>
              <a:cxnLst/>
              <a:rect r="r" b="b" t="t" l="l"/>
              <a:pathLst>
                <a:path h="2745359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30754" y="3242929"/>
            <a:ext cx="4552836" cy="48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TikTok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39314" y="3774853"/>
            <a:ext cx="4735716" cy="411804"/>
            <a:chOff x="0" y="0"/>
            <a:chExt cx="6314288" cy="5490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14293" cy="549069"/>
            </a:xfrm>
            <a:custGeom>
              <a:avLst/>
              <a:gdLst/>
              <a:ahLst/>
              <a:cxnLst/>
              <a:rect r="r" b="b" t="t" l="l"/>
              <a:pathLst>
                <a:path h="549069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6314288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i="true">
                  <a:solidFill>
                    <a:srgbClr val="1B8A5A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The Arena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30754" y="4213317"/>
            <a:ext cx="4552836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35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Where the category is decided (34h 48m/week) and all three brands are weakest. Highest-priority growth channel.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496936" y="2941711"/>
            <a:ext cx="5441118" cy="2078069"/>
            <a:chOff x="0" y="0"/>
            <a:chExt cx="7254824" cy="277075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54875" cy="2770886"/>
            </a:xfrm>
            <a:custGeom>
              <a:avLst/>
              <a:gdLst/>
              <a:ahLst/>
              <a:cxnLst/>
              <a:rect r="r" b="b" t="t" l="l"/>
              <a:pathLst>
                <a:path h="2770886" w="7254875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7070090" y="0"/>
                  </a:lnTo>
                  <a:cubicBezTo>
                    <a:pt x="7172072" y="0"/>
                    <a:pt x="7254875" y="82677"/>
                    <a:pt x="7254875" y="184785"/>
                  </a:cubicBezTo>
                  <a:lnTo>
                    <a:pt x="7254875" y="2586101"/>
                  </a:lnTo>
                  <a:cubicBezTo>
                    <a:pt x="7254875" y="2688082"/>
                    <a:pt x="7172198" y="2770886"/>
                    <a:pt x="7070090" y="2770886"/>
                  </a:cubicBezTo>
                  <a:lnTo>
                    <a:pt x="184785" y="2770886"/>
                  </a:lnTo>
                  <a:cubicBezTo>
                    <a:pt x="82677" y="2770759"/>
                    <a:pt x="0" y="2688082"/>
                    <a:pt x="0" y="258610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506470" y="2951245"/>
            <a:ext cx="123539" cy="2059010"/>
            <a:chOff x="0" y="0"/>
            <a:chExt cx="164719" cy="274534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4719" cy="2745359"/>
            </a:xfrm>
            <a:custGeom>
              <a:avLst/>
              <a:gdLst/>
              <a:ahLst/>
              <a:cxnLst/>
              <a:rect r="r" b="b" t="t" l="l"/>
              <a:pathLst>
                <a:path h="2745359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6982254" y="3242929"/>
            <a:ext cx="4552836" cy="48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Instagram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890814" y="3774853"/>
            <a:ext cx="4735716" cy="411804"/>
            <a:chOff x="0" y="0"/>
            <a:chExt cx="6314288" cy="5490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14293" cy="549069"/>
            </a:xfrm>
            <a:custGeom>
              <a:avLst/>
              <a:gdLst/>
              <a:ahLst/>
              <a:cxnLst/>
              <a:rect r="r" b="b" t="t" l="l"/>
              <a:pathLst>
                <a:path h="549069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6314288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i="true">
                  <a:solidFill>
                    <a:srgbClr val="3C63A8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The Showcase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6982254" y="4213317"/>
            <a:ext cx="4552836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35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Visual storytelling, brand identity, Reels. The portfolio's most mature channel.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248436" y="2941711"/>
            <a:ext cx="5441118" cy="2078069"/>
            <a:chOff x="0" y="0"/>
            <a:chExt cx="7254824" cy="277075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254875" cy="2770886"/>
            </a:xfrm>
            <a:custGeom>
              <a:avLst/>
              <a:gdLst/>
              <a:ahLst/>
              <a:cxnLst/>
              <a:rect r="r" b="b" t="t" l="l"/>
              <a:pathLst>
                <a:path h="2770886" w="7254875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7070090" y="0"/>
                  </a:lnTo>
                  <a:cubicBezTo>
                    <a:pt x="7172072" y="0"/>
                    <a:pt x="7254875" y="82677"/>
                    <a:pt x="7254875" y="184785"/>
                  </a:cubicBezTo>
                  <a:lnTo>
                    <a:pt x="7254875" y="2586101"/>
                  </a:lnTo>
                  <a:cubicBezTo>
                    <a:pt x="7254875" y="2688082"/>
                    <a:pt x="7172198" y="2770886"/>
                    <a:pt x="7070090" y="2770886"/>
                  </a:cubicBezTo>
                  <a:lnTo>
                    <a:pt x="184785" y="2770886"/>
                  </a:lnTo>
                  <a:cubicBezTo>
                    <a:pt x="82677" y="2770759"/>
                    <a:pt x="0" y="2688082"/>
                    <a:pt x="0" y="258610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257961" y="2951245"/>
            <a:ext cx="123539" cy="2059010"/>
            <a:chOff x="0" y="0"/>
            <a:chExt cx="164719" cy="274534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4719" cy="2745359"/>
            </a:xfrm>
            <a:custGeom>
              <a:avLst/>
              <a:gdLst/>
              <a:ahLst/>
              <a:cxnLst/>
              <a:rect r="r" b="b" t="t" l="l"/>
              <a:pathLst>
                <a:path h="2745359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2733753" y="3242929"/>
            <a:ext cx="4552836" cy="48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642313" y="3774853"/>
            <a:ext cx="4735716" cy="411804"/>
            <a:chOff x="0" y="0"/>
            <a:chExt cx="6314288" cy="5490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314293" cy="549069"/>
            </a:xfrm>
            <a:custGeom>
              <a:avLst/>
              <a:gdLst/>
              <a:ahLst/>
              <a:cxnLst/>
              <a:rect r="r" b="b" t="t" l="l"/>
              <a:pathLst>
                <a:path h="549069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6314288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i="true">
                  <a:solidFill>
                    <a:srgbClr val="1892C8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The Conversation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2733753" y="4213317"/>
            <a:ext cx="4552836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35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Community, real-time, comparisons, reputation. Motor Souq's largest base (78K).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745436" y="5302710"/>
            <a:ext cx="5441118" cy="2078069"/>
            <a:chOff x="0" y="0"/>
            <a:chExt cx="7254824" cy="277075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54875" cy="2770886"/>
            </a:xfrm>
            <a:custGeom>
              <a:avLst/>
              <a:gdLst/>
              <a:ahLst/>
              <a:cxnLst/>
              <a:rect r="r" b="b" t="t" l="l"/>
              <a:pathLst>
                <a:path h="2770886" w="7254875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7070090" y="0"/>
                  </a:lnTo>
                  <a:cubicBezTo>
                    <a:pt x="7172072" y="0"/>
                    <a:pt x="7254875" y="82677"/>
                    <a:pt x="7254875" y="184785"/>
                  </a:cubicBezTo>
                  <a:lnTo>
                    <a:pt x="7254875" y="2586101"/>
                  </a:lnTo>
                  <a:cubicBezTo>
                    <a:pt x="7254875" y="2688082"/>
                    <a:pt x="7172198" y="2770886"/>
                    <a:pt x="7070090" y="2770886"/>
                  </a:cubicBezTo>
                  <a:lnTo>
                    <a:pt x="184785" y="2770886"/>
                  </a:lnTo>
                  <a:cubicBezTo>
                    <a:pt x="82677" y="2770759"/>
                    <a:pt x="0" y="2688082"/>
                    <a:pt x="0" y="258610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754971" y="5312245"/>
            <a:ext cx="123539" cy="2059010"/>
            <a:chOff x="0" y="0"/>
            <a:chExt cx="164719" cy="274534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4719" cy="2745359"/>
            </a:xfrm>
            <a:custGeom>
              <a:avLst/>
              <a:gdLst/>
              <a:ahLst/>
              <a:cxnLst/>
              <a:rect r="r" b="b" t="t" l="l"/>
              <a:pathLst>
                <a:path h="2745359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B8873C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230754" y="5603919"/>
            <a:ext cx="4552836" cy="48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YouTube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139314" y="6135843"/>
            <a:ext cx="4735716" cy="411804"/>
            <a:chOff x="0" y="0"/>
            <a:chExt cx="6314288" cy="5490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314293" cy="549069"/>
            </a:xfrm>
            <a:custGeom>
              <a:avLst/>
              <a:gdLst/>
              <a:ahLst/>
              <a:cxnLst/>
              <a:rect r="r" b="b" t="t" l="l"/>
              <a:pathLst>
                <a:path h="549069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6314288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i="true">
                  <a:solidFill>
                    <a:srgbClr val="B8873C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The Storyteller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230754" y="6574317"/>
            <a:ext cx="4552836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35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Long-form: heritage films, owner stories, capability proof, reviews.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6496936" y="5302710"/>
            <a:ext cx="5441118" cy="2078069"/>
            <a:chOff x="0" y="0"/>
            <a:chExt cx="7254824" cy="277075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254875" cy="2770886"/>
            </a:xfrm>
            <a:custGeom>
              <a:avLst/>
              <a:gdLst/>
              <a:ahLst/>
              <a:cxnLst/>
              <a:rect r="r" b="b" t="t" l="l"/>
              <a:pathLst>
                <a:path h="2770886" w="7254875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7070090" y="0"/>
                  </a:lnTo>
                  <a:cubicBezTo>
                    <a:pt x="7172072" y="0"/>
                    <a:pt x="7254875" y="82677"/>
                    <a:pt x="7254875" y="184785"/>
                  </a:cubicBezTo>
                  <a:lnTo>
                    <a:pt x="7254875" y="2586101"/>
                  </a:lnTo>
                  <a:cubicBezTo>
                    <a:pt x="7254875" y="2688082"/>
                    <a:pt x="7172198" y="2770886"/>
                    <a:pt x="7070090" y="2770886"/>
                  </a:cubicBezTo>
                  <a:lnTo>
                    <a:pt x="184785" y="2770886"/>
                  </a:lnTo>
                  <a:cubicBezTo>
                    <a:pt x="82677" y="2770759"/>
                    <a:pt x="0" y="2688082"/>
                    <a:pt x="0" y="258610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6506470" y="5312245"/>
            <a:ext cx="123539" cy="2059010"/>
            <a:chOff x="0" y="0"/>
            <a:chExt cx="164719" cy="274534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64719" cy="2745359"/>
            </a:xfrm>
            <a:custGeom>
              <a:avLst/>
              <a:gdLst/>
              <a:ahLst/>
              <a:cxnLst/>
              <a:rect r="r" b="b" t="t" l="l"/>
              <a:pathLst>
                <a:path h="2745359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6982254" y="5603919"/>
            <a:ext cx="4552836" cy="48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Facebook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6890814" y="6135843"/>
            <a:ext cx="4735716" cy="411804"/>
            <a:chOff x="0" y="0"/>
            <a:chExt cx="6314288" cy="54907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314293" cy="549069"/>
            </a:xfrm>
            <a:custGeom>
              <a:avLst/>
              <a:gdLst/>
              <a:ahLst/>
              <a:cxnLst/>
              <a:rect r="r" b="b" t="t" l="l"/>
              <a:pathLst>
                <a:path h="549069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6314288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i="true">
                  <a:solidFill>
                    <a:srgbClr val="3C63A8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The Reach Extender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6982254" y="6574317"/>
            <a:ext cx="4552836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35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Broader/older audience, mirrors Instagram, offer-friendly.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2248436" y="5302710"/>
            <a:ext cx="5441118" cy="2078069"/>
            <a:chOff x="0" y="0"/>
            <a:chExt cx="7254824" cy="277075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254875" cy="2770886"/>
            </a:xfrm>
            <a:custGeom>
              <a:avLst/>
              <a:gdLst/>
              <a:ahLst/>
              <a:cxnLst/>
              <a:rect r="r" b="b" t="t" l="l"/>
              <a:pathLst>
                <a:path h="2770886" w="7254875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7070090" y="0"/>
                  </a:lnTo>
                  <a:cubicBezTo>
                    <a:pt x="7172072" y="0"/>
                    <a:pt x="7254875" y="82677"/>
                    <a:pt x="7254875" y="184785"/>
                  </a:cubicBezTo>
                  <a:lnTo>
                    <a:pt x="7254875" y="2586101"/>
                  </a:lnTo>
                  <a:cubicBezTo>
                    <a:pt x="7254875" y="2688082"/>
                    <a:pt x="7172198" y="2770886"/>
                    <a:pt x="7070090" y="2770886"/>
                  </a:cubicBezTo>
                  <a:lnTo>
                    <a:pt x="184785" y="2770886"/>
                  </a:lnTo>
                  <a:cubicBezTo>
                    <a:pt x="82677" y="2770759"/>
                    <a:pt x="0" y="2688082"/>
                    <a:pt x="0" y="258610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2257961" y="5312245"/>
            <a:ext cx="123539" cy="2059010"/>
            <a:chOff x="0" y="0"/>
            <a:chExt cx="164719" cy="274534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64719" cy="2745359"/>
            </a:xfrm>
            <a:custGeom>
              <a:avLst/>
              <a:gdLst/>
              <a:ahLst/>
              <a:cxnLst/>
              <a:rect r="r" b="b" t="t" l="l"/>
              <a:pathLst>
                <a:path h="2745359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12733753" y="5603919"/>
            <a:ext cx="4552836" cy="48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41A28"/>
                </a:solidFill>
                <a:latin typeface="Poppins Bold"/>
                <a:ea typeface="Poppins Bold"/>
                <a:cs typeface="Poppins Bold"/>
                <a:sym typeface="Poppins Bold"/>
              </a:rPr>
              <a:t>Snapchat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2642313" y="6135843"/>
            <a:ext cx="4735716" cy="411804"/>
            <a:chOff x="0" y="0"/>
            <a:chExt cx="6314288" cy="54907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314293" cy="549069"/>
            </a:xfrm>
            <a:custGeom>
              <a:avLst/>
              <a:gdLst/>
              <a:ahLst/>
              <a:cxnLst/>
              <a:rect r="r" b="b" t="t" l="l"/>
              <a:pathLst>
                <a:path h="549069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6314288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i="true">
                  <a:solidFill>
                    <a:srgbClr val="1B8A5A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The Local Pulse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2733753" y="6574317"/>
            <a:ext cx="4552836" cy="6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351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Strong in KSA, younger, tactical — relevant for 212 and Motor Souq.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44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06 · CHANNELS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Priority Channels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5436" y="2324014"/>
            <a:ext cx="16806853" cy="2036893"/>
            <a:chOff x="0" y="0"/>
            <a:chExt cx="22409137" cy="27158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09150" cy="2715895"/>
            </a:xfrm>
            <a:custGeom>
              <a:avLst/>
              <a:gdLst/>
              <a:ahLst/>
              <a:cxnLst/>
              <a:rect r="r" b="b" t="t" l="l"/>
              <a:pathLst>
                <a:path h="2715895" w="2240915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22224366" y="0"/>
                  </a:lnTo>
                  <a:cubicBezTo>
                    <a:pt x="22326346" y="0"/>
                    <a:pt x="22409150" y="82677"/>
                    <a:pt x="22409150" y="184785"/>
                  </a:cubicBezTo>
                  <a:lnTo>
                    <a:pt x="22409150" y="2531110"/>
                  </a:lnTo>
                  <a:cubicBezTo>
                    <a:pt x="22409150" y="2633091"/>
                    <a:pt x="22326473" y="2715895"/>
                    <a:pt x="22224366" y="2715895"/>
                  </a:cubicBezTo>
                  <a:lnTo>
                    <a:pt x="184785" y="2715895"/>
                  </a:lnTo>
                  <a:cubicBezTo>
                    <a:pt x="82677" y="2715895"/>
                    <a:pt x="0" y="2633091"/>
                    <a:pt x="0" y="253111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54971" y="2333539"/>
            <a:ext cx="178451" cy="2017833"/>
            <a:chOff x="0" y="0"/>
            <a:chExt cx="237934" cy="26904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7871" cy="2690495"/>
            </a:xfrm>
            <a:custGeom>
              <a:avLst/>
              <a:gdLst/>
              <a:ahLst/>
              <a:cxnLst/>
              <a:rect r="r" b="b" t="t" l="l"/>
              <a:pathLst>
                <a:path h="2690495" w="237871">
                  <a:moveTo>
                    <a:pt x="0" y="0"/>
                  </a:moveTo>
                  <a:lnTo>
                    <a:pt x="237871" y="0"/>
                  </a:lnTo>
                  <a:lnTo>
                    <a:pt x="237871" y="2690495"/>
                  </a:lnTo>
                  <a:lnTo>
                    <a:pt x="0" y="2690495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66774" y="2580627"/>
            <a:ext cx="3019882" cy="549069"/>
            <a:chOff x="0" y="0"/>
            <a:chExt cx="4026510" cy="7320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26506" cy="732092"/>
            </a:xfrm>
            <a:custGeom>
              <a:avLst/>
              <a:gdLst/>
              <a:ahLst/>
              <a:cxnLst/>
              <a:rect r="r" b="b" t="t" l="l"/>
              <a:pathLst>
                <a:path h="732092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4026510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TikTok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66774" y="3157147"/>
            <a:ext cx="3019882" cy="411804"/>
            <a:chOff x="0" y="0"/>
            <a:chExt cx="4026510" cy="5490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26506" cy="549069"/>
            </a:xfrm>
            <a:custGeom>
              <a:avLst/>
              <a:gdLst/>
              <a:ahLst/>
              <a:cxnLst/>
              <a:rect r="r" b="b" t="t" l="l"/>
              <a:pathLst>
                <a:path h="549069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4026510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426" i="true">
                  <a:solidFill>
                    <a:srgbClr val="1B8A5A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The Arena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58214" y="3673773"/>
            <a:ext cx="2974267" cy="67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FORMAT  </a:t>
            </a:r>
            <a:r>
              <a:rPr lang="en-US" sz="1275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Vertical short-form video · 80/20 · 3–4×/wk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529823" y="2553167"/>
            <a:ext cx="3980755" cy="343167"/>
            <a:chOff x="0" y="0"/>
            <a:chExt cx="5307673" cy="4575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07667" cy="457557"/>
            </a:xfrm>
            <a:custGeom>
              <a:avLst/>
              <a:gdLst/>
              <a:ahLst/>
              <a:cxnLst/>
              <a:rect r="r" b="b" t="t" l="l"/>
              <a:pathLst>
                <a:path h="457557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5307673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b="true" sz="1275" spc="75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BESTUNE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621263" y="2918803"/>
            <a:ext cx="3729238" cy="135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275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“Real owner after 1 year,” family use, trust-in-action.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716470" y="2553167"/>
            <a:ext cx="3980755" cy="343167"/>
            <a:chOff x="0" y="0"/>
            <a:chExt cx="5307673" cy="4575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07667" cy="457557"/>
            </a:xfrm>
            <a:custGeom>
              <a:avLst/>
              <a:gdLst/>
              <a:ahLst/>
              <a:cxnLst/>
              <a:rect r="r" b="b" t="t" l="l"/>
              <a:pathLst>
                <a:path h="457557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307673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b="true" sz="1275" spc="75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212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8807910" y="2918803"/>
            <a:ext cx="3729238" cy="135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275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THE home channel. Capability proof, heritage mini-docs, adventure UGC.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903117" y="2553167"/>
            <a:ext cx="3980755" cy="343167"/>
            <a:chOff x="0" y="0"/>
            <a:chExt cx="5307673" cy="4575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07667" cy="457557"/>
            </a:xfrm>
            <a:custGeom>
              <a:avLst/>
              <a:gdLst/>
              <a:ahLst/>
              <a:cxnLst/>
              <a:rect r="r" b="b" t="t" l="l"/>
              <a:pathLst>
                <a:path h="457557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5307673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b="true" sz="1275" spc="75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MOTOR SOUQ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994557" y="2918803"/>
            <a:ext cx="3729238" cy="135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275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Fast model breakdowns, “Sportage or Jetour?” comparisons, buying tips.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745436" y="4547740"/>
            <a:ext cx="16806853" cy="2036893"/>
            <a:chOff x="0" y="0"/>
            <a:chExt cx="22409137" cy="271585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409150" cy="2715895"/>
            </a:xfrm>
            <a:custGeom>
              <a:avLst/>
              <a:gdLst/>
              <a:ahLst/>
              <a:cxnLst/>
              <a:rect r="r" b="b" t="t" l="l"/>
              <a:pathLst>
                <a:path h="2715895" w="2240915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22224366" y="0"/>
                  </a:lnTo>
                  <a:cubicBezTo>
                    <a:pt x="22326346" y="0"/>
                    <a:pt x="22409150" y="82677"/>
                    <a:pt x="22409150" y="184785"/>
                  </a:cubicBezTo>
                  <a:lnTo>
                    <a:pt x="22409150" y="2531110"/>
                  </a:lnTo>
                  <a:cubicBezTo>
                    <a:pt x="22409150" y="2633091"/>
                    <a:pt x="22326473" y="2715895"/>
                    <a:pt x="22224366" y="2715895"/>
                  </a:cubicBezTo>
                  <a:lnTo>
                    <a:pt x="184785" y="2715895"/>
                  </a:lnTo>
                  <a:cubicBezTo>
                    <a:pt x="82677" y="2715895"/>
                    <a:pt x="0" y="2633091"/>
                    <a:pt x="0" y="253111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754971" y="4557274"/>
            <a:ext cx="178451" cy="2017833"/>
            <a:chOff x="0" y="0"/>
            <a:chExt cx="237934" cy="269044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37871" cy="2690495"/>
            </a:xfrm>
            <a:custGeom>
              <a:avLst/>
              <a:gdLst/>
              <a:ahLst/>
              <a:cxnLst/>
              <a:rect r="r" b="b" t="t" l="l"/>
              <a:pathLst>
                <a:path h="2690495" w="237871">
                  <a:moveTo>
                    <a:pt x="0" y="0"/>
                  </a:moveTo>
                  <a:lnTo>
                    <a:pt x="237871" y="0"/>
                  </a:lnTo>
                  <a:lnTo>
                    <a:pt x="237871" y="2690495"/>
                  </a:lnTo>
                  <a:lnTo>
                    <a:pt x="0" y="2690495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66774" y="4804353"/>
            <a:ext cx="3019882" cy="549069"/>
            <a:chOff x="0" y="0"/>
            <a:chExt cx="4026510" cy="7320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026506" cy="732092"/>
            </a:xfrm>
            <a:custGeom>
              <a:avLst/>
              <a:gdLst/>
              <a:ahLst/>
              <a:cxnLst/>
              <a:rect r="r" b="b" t="t" l="l"/>
              <a:pathLst>
                <a:path h="732092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4026510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Instagram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66774" y="5380873"/>
            <a:ext cx="3019882" cy="411804"/>
            <a:chOff x="0" y="0"/>
            <a:chExt cx="4026510" cy="54907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026506" cy="549069"/>
            </a:xfrm>
            <a:custGeom>
              <a:avLst/>
              <a:gdLst/>
              <a:ahLst/>
              <a:cxnLst/>
              <a:rect r="r" b="b" t="t" l="l"/>
              <a:pathLst>
                <a:path h="549069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4026510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426" i="true">
                  <a:solidFill>
                    <a:srgbClr val="3C63A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The Showcase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258214" y="5897509"/>
            <a:ext cx="2974267" cy="67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FORMAT  </a:t>
            </a:r>
            <a:r>
              <a:rPr lang="en-US" sz="1275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Reels, carousels, stories · 80/20 · 5×/wk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4529823" y="4776902"/>
            <a:ext cx="3980755" cy="343167"/>
            <a:chOff x="0" y="0"/>
            <a:chExt cx="5307673" cy="4575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07667" cy="457557"/>
            </a:xfrm>
            <a:custGeom>
              <a:avLst/>
              <a:gdLst/>
              <a:ahLst/>
              <a:cxnLst/>
              <a:rect r="r" b="b" t="t" l="l"/>
              <a:pathLst>
                <a:path h="457557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5307673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b="true" sz="1275" spc="75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BESTUNE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4621263" y="5142538"/>
            <a:ext cx="3729238" cy="135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275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Family lifestyle, warranty/heritage carousels, owner testimonials.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8716470" y="4776902"/>
            <a:ext cx="3980755" cy="343167"/>
            <a:chOff x="0" y="0"/>
            <a:chExt cx="5307673" cy="45755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307667" cy="457557"/>
            </a:xfrm>
            <a:custGeom>
              <a:avLst/>
              <a:gdLst/>
              <a:ahLst/>
              <a:cxnLst/>
              <a:rect r="r" b="b" t="t" l="l"/>
              <a:pathLst>
                <a:path h="457557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5307673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b="true" sz="1275" spc="75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212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8807910" y="5142538"/>
            <a:ext cx="3729238" cy="135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275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Design-forward hero shots, boxy aesthetics, adventure Reels.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2903117" y="4776902"/>
            <a:ext cx="3980755" cy="343167"/>
            <a:chOff x="0" y="0"/>
            <a:chExt cx="5307673" cy="45755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07667" cy="457557"/>
            </a:xfrm>
            <a:custGeom>
              <a:avLst/>
              <a:gdLst/>
              <a:ahLst/>
              <a:cxnLst/>
              <a:rect r="r" b="b" t="t" l="l"/>
              <a:pathLst>
                <a:path h="457557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5307673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b="true" sz="1275" spc="75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MOTOR SOUQ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2994557" y="5142538"/>
            <a:ext cx="3729238" cy="135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275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Comparison carousels, the branch/buying experience, 360° teasers.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745436" y="6771465"/>
            <a:ext cx="16806853" cy="2036893"/>
            <a:chOff x="0" y="0"/>
            <a:chExt cx="22409137" cy="271585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409150" cy="2715895"/>
            </a:xfrm>
            <a:custGeom>
              <a:avLst/>
              <a:gdLst/>
              <a:ahLst/>
              <a:cxnLst/>
              <a:rect r="r" b="b" t="t" l="l"/>
              <a:pathLst>
                <a:path h="2715895" w="2240915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22224366" y="0"/>
                  </a:lnTo>
                  <a:cubicBezTo>
                    <a:pt x="22326346" y="0"/>
                    <a:pt x="22409150" y="82677"/>
                    <a:pt x="22409150" y="184785"/>
                  </a:cubicBezTo>
                  <a:lnTo>
                    <a:pt x="22409150" y="2531110"/>
                  </a:lnTo>
                  <a:cubicBezTo>
                    <a:pt x="22409150" y="2633091"/>
                    <a:pt x="22326473" y="2715895"/>
                    <a:pt x="22224366" y="2715895"/>
                  </a:cubicBezTo>
                  <a:lnTo>
                    <a:pt x="184785" y="2715895"/>
                  </a:lnTo>
                  <a:cubicBezTo>
                    <a:pt x="82677" y="2715895"/>
                    <a:pt x="0" y="2633091"/>
                    <a:pt x="0" y="253111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754971" y="6781000"/>
            <a:ext cx="178451" cy="2017833"/>
            <a:chOff x="0" y="0"/>
            <a:chExt cx="237934" cy="269044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37871" cy="2690495"/>
            </a:xfrm>
            <a:custGeom>
              <a:avLst/>
              <a:gdLst/>
              <a:ahLst/>
              <a:cxnLst/>
              <a:rect r="r" b="b" t="t" l="l"/>
              <a:pathLst>
                <a:path h="2690495" w="237871">
                  <a:moveTo>
                    <a:pt x="0" y="0"/>
                  </a:moveTo>
                  <a:lnTo>
                    <a:pt x="237871" y="0"/>
                  </a:lnTo>
                  <a:lnTo>
                    <a:pt x="237871" y="2690495"/>
                  </a:lnTo>
                  <a:lnTo>
                    <a:pt x="0" y="2690495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166774" y="7028078"/>
            <a:ext cx="3019882" cy="549069"/>
            <a:chOff x="0" y="0"/>
            <a:chExt cx="4026510" cy="7320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026506" cy="732092"/>
            </a:xfrm>
            <a:custGeom>
              <a:avLst/>
              <a:gdLst/>
              <a:ahLst/>
              <a:cxnLst/>
              <a:rect r="r" b="b" t="t" l="l"/>
              <a:pathLst>
                <a:path h="732092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4026510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66774" y="7604608"/>
            <a:ext cx="3019882" cy="411804"/>
            <a:chOff x="0" y="0"/>
            <a:chExt cx="4026510" cy="54907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026506" cy="549069"/>
            </a:xfrm>
            <a:custGeom>
              <a:avLst/>
              <a:gdLst/>
              <a:ahLst/>
              <a:cxnLst/>
              <a:rect r="r" b="b" t="t" l="l"/>
              <a:pathLst>
                <a:path h="549069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4026510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426" i="true">
                  <a:solidFill>
                    <a:srgbClr val="1892C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The Conversation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258214" y="8121234"/>
            <a:ext cx="2974267" cy="67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FORMAT  </a:t>
            </a:r>
            <a:r>
              <a:rPr lang="en-US" sz="1275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Text, polls, threads · 80/20 · 3–5×/wk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4529823" y="7000627"/>
            <a:ext cx="3980755" cy="343167"/>
            <a:chOff x="0" y="0"/>
            <a:chExt cx="5307673" cy="45755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307667" cy="457557"/>
            </a:xfrm>
            <a:custGeom>
              <a:avLst/>
              <a:gdLst/>
              <a:ahLst/>
              <a:cxnLst/>
              <a:rect r="r" b="b" t="t" l="l"/>
              <a:pathLst>
                <a:path h="457557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5307673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b="true" sz="1275" spc="75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BESTUNE</a:t>
              </a: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4621263" y="7366264"/>
            <a:ext cx="3729238" cy="135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275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Real-time, service responsiveness, trust conversations.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8716470" y="7000627"/>
            <a:ext cx="3980755" cy="343167"/>
            <a:chOff x="0" y="0"/>
            <a:chExt cx="5307673" cy="45755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307667" cy="457557"/>
            </a:xfrm>
            <a:custGeom>
              <a:avLst/>
              <a:gdLst/>
              <a:ahLst/>
              <a:cxnLst/>
              <a:rect r="r" b="b" t="t" l="l"/>
              <a:pathLst>
                <a:path h="457557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5307673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b="true" sz="1275" spc="75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212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8807910" y="7366264"/>
            <a:ext cx="3729238" cy="135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275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Community banter, off-road culture, launch buzz.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12903117" y="7000627"/>
            <a:ext cx="3980755" cy="343167"/>
            <a:chOff x="0" y="0"/>
            <a:chExt cx="5307673" cy="4575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307667" cy="457557"/>
            </a:xfrm>
            <a:custGeom>
              <a:avLst/>
              <a:gdLst/>
              <a:ahLst/>
              <a:cxnLst/>
              <a:rect r="r" b="b" t="t" l="l"/>
              <a:pathLst>
                <a:path h="457557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5307673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b="true" sz="1275" spc="75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MOTOR SOUQ</a:t>
              </a: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12994557" y="7366264"/>
            <a:ext cx="3729238" cy="135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275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Largest base (78K, dead) — comparison polls, reactivation focus.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45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06 · CHANNELS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Supporting Channels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5436" y="2324014"/>
            <a:ext cx="16806853" cy="2036893"/>
            <a:chOff x="0" y="0"/>
            <a:chExt cx="22409137" cy="27158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09150" cy="2715895"/>
            </a:xfrm>
            <a:custGeom>
              <a:avLst/>
              <a:gdLst/>
              <a:ahLst/>
              <a:cxnLst/>
              <a:rect r="r" b="b" t="t" l="l"/>
              <a:pathLst>
                <a:path h="2715895" w="2240915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22224366" y="0"/>
                  </a:lnTo>
                  <a:cubicBezTo>
                    <a:pt x="22326346" y="0"/>
                    <a:pt x="22409150" y="82677"/>
                    <a:pt x="22409150" y="184785"/>
                  </a:cubicBezTo>
                  <a:lnTo>
                    <a:pt x="22409150" y="2531110"/>
                  </a:lnTo>
                  <a:cubicBezTo>
                    <a:pt x="22409150" y="2633091"/>
                    <a:pt x="22326473" y="2715895"/>
                    <a:pt x="22224366" y="2715895"/>
                  </a:cubicBezTo>
                  <a:lnTo>
                    <a:pt x="184785" y="2715895"/>
                  </a:lnTo>
                  <a:cubicBezTo>
                    <a:pt x="82677" y="2715895"/>
                    <a:pt x="0" y="2633091"/>
                    <a:pt x="0" y="253111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54971" y="2333539"/>
            <a:ext cx="178451" cy="2017833"/>
            <a:chOff x="0" y="0"/>
            <a:chExt cx="237934" cy="26904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7871" cy="2690495"/>
            </a:xfrm>
            <a:custGeom>
              <a:avLst/>
              <a:gdLst/>
              <a:ahLst/>
              <a:cxnLst/>
              <a:rect r="r" b="b" t="t" l="l"/>
              <a:pathLst>
                <a:path h="2690495" w="237871">
                  <a:moveTo>
                    <a:pt x="0" y="0"/>
                  </a:moveTo>
                  <a:lnTo>
                    <a:pt x="237871" y="0"/>
                  </a:lnTo>
                  <a:lnTo>
                    <a:pt x="237871" y="2690495"/>
                  </a:lnTo>
                  <a:lnTo>
                    <a:pt x="0" y="2690495"/>
                  </a:lnTo>
                  <a:close/>
                </a:path>
              </a:pathLst>
            </a:custGeom>
            <a:solidFill>
              <a:srgbClr val="B8873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66774" y="2580627"/>
            <a:ext cx="3019882" cy="549069"/>
            <a:chOff x="0" y="0"/>
            <a:chExt cx="4026510" cy="7320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26506" cy="732092"/>
            </a:xfrm>
            <a:custGeom>
              <a:avLst/>
              <a:gdLst/>
              <a:ahLst/>
              <a:cxnLst/>
              <a:rect r="r" b="b" t="t" l="l"/>
              <a:pathLst>
                <a:path h="732092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4026510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YouTube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66774" y="3157147"/>
            <a:ext cx="3019882" cy="411804"/>
            <a:chOff x="0" y="0"/>
            <a:chExt cx="4026510" cy="5490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26506" cy="549069"/>
            </a:xfrm>
            <a:custGeom>
              <a:avLst/>
              <a:gdLst/>
              <a:ahLst/>
              <a:cxnLst/>
              <a:rect r="r" b="b" t="t" l="l"/>
              <a:pathLst>
                <a:path h="549069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4026510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426" i="true">
                  <a:solidFill>
                    <a:srgbClr val="B8873C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The Storyteller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58214" y="3673773"/>
            <a:ext cx="2974267" cy="67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FORMAT  </a:t>
            </a:r>
            <a:r>
              <a:rPr lang="en-US" sz="1275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Shorts + long video · 80/20 · on availability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529823" y="2553167"/>
            <a:ext cx="3980755" cy="343167"/>
            <a:chOff x="0" y="0"/>
            <a:chExt cx="5307673" cy="4575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07667" cy="457557"/>
            </a:xfrm>
            <a:custGeom>
              <a:avLst/>
              <a:gdLst/>
              <a:ahLst/>
              <a:cxnLst/>
              <a:rect r="r" b="b" t="t" l="l"/>
              <a:pathLst>
                <a:path h="457557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5307673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b="true" sz="1275" spc="75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BESTUNE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621263" y="2918803"/>
            <a:ext cx="3729238" cy="135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275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Long reviews, owner journeys, warranty &amp; service explainers.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716470" y="2553167"/>
            <a:ext cx="3980755" cy="343167"/>
            <a:chOff x="0" y="0"/>
            <a:chExt cx="5307673" cy="4575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07667" cy="457557"/>
            </a:xfrm>
            <a:custGeom>
              <a:avLst/>
              <a:gdLst/>
              <a:ahLst/>
              <a:cxnLst/>
              <a:rect r="r" b="b" t="t" l="l"/>
              <a:pathLst>
                <a:path h="457557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307673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b="true" sz="1275" spc="75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212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8807910" y="2918803"/>
            <a:ext cx="3729238" cy="135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275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Heritage documentary, full off-road expeditions, origin story.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903117" y="2553167"/>
            <a:ext cx="3980755" cy="343167"/>
            <a:chOff x="0" y="0"/>
            <a:chExt cx="5307673" cy="4575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07667" cy="457557"/>
            </a:xfrm>
            <a:custGeom>
              <a:avLst/>
              <a:gdLst/>
              <a:ahLst/>
              <a:cxnLst/>
              <a:rect r="r" b="b" t="t" l="l"/>
              <a:pathLst>
                <a:path h="457557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5307673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b="true" sz="1275" spc="75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MOTOR SOUQ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994557" y="2918803"/>
            <a:ext cx="3729238" cy="135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275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Model walkarounds, 360° demos, buying-guide series.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745436" y="4547740"/>
            <a:ext cx="16806853" cy="2036893"/>
            <a:chOff x="0" y="0"/>
            <a:chExt cx="22409137" cy="271585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409150" cy="2715895"/>
            </a:xfrm>
            <a:custGeom>
              <a:avLst/>
              <a:gdLst/>
              <a:ahLst/>
              <a:cxnLst/>
              <a:rect r="r" b="b" t="t" l="l"/>
              <a:pathLst>
                <a:path h="2715895" w="2240915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22224366" y="0"/>
                  </a:lnTo>
                  <a:cubicBezTo>
                    <a:pt x="22326346" y="0"/>
                    <a:pt x="22409150" y="82677"/>
                    <a:pt x="22409150" y="184785"/>
                  </a:cubicBezTo>
                  <a:lnTo>
                    <a:pt x="22409150" y="2531110"/>
                  </a:lnTo>
                  <a:cubicBezTo>
                    <a:pt x="22409150" y="2633091"/>
                    <a:pt x="22326473" y="2715895"/>
                    <a:pt x="22224366" y="2715895"/>
                  </a:cubicBezTo>
                  <a:lnTo>
                    <a:pt x="184785" y="2715895"/>
                  </a:lnTo>
                  <a:cubicBezTo>
                    <a:pt x="82677" y="2715895"/>
                    <a:pt x="0" y="2633091"/>
                    <a:pt x="0" y="253111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754971" y="4557274"/>
            <a:ext cx="178451" cy="2017833"/>
            <a:chOff x="0" y="0"/>
            <a:chExt cx="237934" cy="269044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37871" cy="2690495"/>
            </a:xfrm>
            <a:custGeom>
              <a:avLst/>
              <a:gdLst/>
              <a:ahLst/>
              <a:cxnLst/>
              <a:rect r="r" b="b" t="t" l="l"/>
              <a:pathLst>
                <a:path h="2690495" w="237871">
                  <a:moveTo>
                    <a:pt x="0" y="0"/>
                  </a:moveTo>
                  <a:lnTo>
                    <a:pt x="237871" y="0"/>
                  </a:lnTo>
                  <a:lnTo>
                    <a:pt x="237871" y="2690495"/>
                  </a:lnTo>
                  <a:lnTo>
                    <a:pt x="0" y="2690495"/>
                  </a:lnTo>
                  <a:close/>
                </a:path>
              </a:pathLst>
            </a:custGeom>
            <a:solidFill>
              <a:srgbClr val="3C63A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66774" y="4804353"/>
            <a:ext cx="3019882" cy="549069"/>
            <a:chOff x="0" y="0"/>
            <a:chExt cx="4026510" cy="7320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026506" cy="732092"/>
            </a:xfrm>
            <a:custGeom>
              <a:avLst/>
              <a:gdLst/>
              <a:ahLst/>
              <a:cxnLst/>
              <a:rect r="r" b="b" t="t" l="l"/>
              <a:pathLst>
                <a:path h="732092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4026510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Facebook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66774" y="5380873"/>
            <a:ext cx="3019882" cy="411804"/>
            <a:chOff x="0" y="0"/>
            <a:chExt cx="4026510" cy="54907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026506" cy="549069"/>
            </a:xfrm>
            <a:custGeom>
              <a:avLst/>
              <a:gdLst/>
              <a:ahLst/>
              <a:cxnLst/>
              <a:rect r="r" b="b" t="t" l="l"/>
              <a:pathLst>
                <a:path h="549069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4026510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426" i="true">
                  <a:solidFill>
                    <a:srgbClr val="3C63A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Reach Extender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258214" y="5897509"/>
            <a:ext cx="2974267" cy="67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FORMAT  </a:t>
            </a:r>
            <a:r>
              <a:rPr lang="en-US" sz="1275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Text, images, video, polls · 50/50 · 5×/wk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4529823" y="4776902"/>
            <a:ext cx="3980755" cy="343167"/>
            <a:chOff x="0" y="0"/>
            <a:chExt cx="5307673" cy="4575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07667" cy="457557"/>
            </a:xfrm>
            <a:custGeom>
              <a:avLst/>
              <a:gdLst/>
              <a:ahLst/>
              <a:cxnLst/>
              <a:rect r="r" b="b" t="t" l="l"/>
              <a:pathLst>
                <a:path h="457557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5307673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b="true" sz="1275" spc="75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BESTUNE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4621263" y="5142538"/>
            <a:ext cx="3729238" cy="135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275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Priority channel — mirrors IG for the older family segment.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8716470" y="4776902"/>
            <a:ext cx="3980755" cy="343167"/>
            <a:chOff x="0" y="0"/>
            <a:chExt cx="5307673" cy="45755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307667" cy="457557"/>
            </a:xfrm>
            <a:custGeom>
              <a:avLst/>
              <a:gdLst/>
              <a:ahLst/>
              <a:cxnLst/>
              <a:rect r="r" b="b" t="t" l="l"/>
              <a:pathLst>
                <a:path h="457557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5307673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b="true" sz="1275" spc="75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212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8807910" y="5142538"/>
            <a:ext cx="3729238" cy="135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275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Community and launch content, broader reach.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2903117" y="4776902"/>
            <a:ext cx="3980755" cy="343167"/>
            <a:chOff x="0" y="0"/>
            <a:chExt cx="5307673" cy="45755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07667" cy="457557"/>
            </a:xfrm>
            <a:custGeom>
              <a:avLst/>
              <a:gdLst/>
              <a:ahLst/>
              <a:cxnLst/>
              <a:rect r="r" b="b" t="t" l="l"/>
              <a:pathLst>
                <a:path h="457557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5307673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b="true" sz="1275" spc="75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MOTOR SOUQ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2994557" y="5142538"/>
            <a:ext cx="3729238" cy="135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275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Offers and comparisons for a broad local audience.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745436" y="6771465"/>
            <a:ext cx="16806853" cy="2036893"/>
            <a:chOff x="0" y="0"/>
            <a:chExt cx="22409137" cy="271585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409150" cy="2715895"/>
            </a:xfrm>
            <a:custGeom>
              <a:avLst/>
              <a:gdLst/>
              <a:ahLst/>
              <a:cxnLst/>
              <a:rect r="r" b="b" t="t" l="l"/>
              <a:pathLst>
                <a:path h="2715895" w="2240915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22224366" y="0"/>
                  </a:lnTo>
                  <a:cubicBezTo>
                    <a:pt x="22326346" y="0"/>
                    <a:pt x="22409150" y="82677"/>
                    <a:pt x="22409150" y="184785"/>
                  </a:cubicBezTo>
                  <a:lnTo>
                    <a:pt x="22409150" y="2531110"/>
                  </a:lnTo>
                  <a:cubicBezTo>
                    <a:pt x="22409150" y="2633091"/>
                    <a:pt x="22326473" y="2715895"/>
                    <a:pt x="22224366" y="2715895"/>
                  </a:cubicBezTo>
                  <a:lnTo>
                    <a:pt x="184785" y="2715895"/>
                  </a:lnTo>
                  <a:cubicBezTo>
                    <a:pt x="82677" y="2715895"/>
                    <a:pt x="0" y="2633091"/>
                    <a:pt x="0" y="253111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7EF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754971" y="6781000"/>
            <a:ext cx="178451" cy="2017833"/>
            <a:chOff x="0" y="0"/>
            <a:chExt cx="237934" cy="269044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37871" cy="2690495"/>
            </a:xfrm>
            <a:custGeom>
              <a:avLst/>
              <a:gdLst/>
              <a:ahLst/>
              <a:cxnLst/>
              <a:rect r="r" b="b" t="t" l="l"/>
              <a:pathLst>
                <a:path h="2690495" w="237871">
                  <a:moveTo>
                    <a:pt x="0" y="0"/>
                  </a:moveTo>
                  <a:lnTo>
                    <a:pt x="237871" y="0"/>
                  </a:lnTo>
                  <a:lnTo>
                    <a:pt x="237871" y="2690495"/>
                  </a:lnTo>
                  <a:lnTo>
                    <a:pt x="0" y="2690495"/>
                  </a:lnTo>
                  <a:close/>
                </a:path>
              </a:pathLst>
            </a:custGeom>
            <a:solidFill>
              <a:srgbClr val="1B8A5A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166774" y="7028078"/>
            <a:ext cx="3019882" cy="549069"/>
            <a:chOff x="0" y="0"/>
            <a:chExt cx="4026510" cy="7320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026506" cy="732092"/>
            </a:xfrm>
            <a:custGeom>
              <a:avLst/>
              <a:gdLst/>
              <a:ahLst/>
              <a:cxnLst/>
              <a:rect r="r" b="b" t="t" l="l"/>
              <a:pathLst>
                <a:path h="732092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4026510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Snapchat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66774" y="7604608"/>
            <a:ext cx="3019882" cy="411804"/>
            <a:chOff x="0" y="0"/>
            <a:chExt cx="4026510" cy="54907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026506" cy="549069"/>
            </a:xfrm>
            <a:custGeom>
              <a:avLst/>
              <a:gdLst/>
              <a:ahLst/>
              <a:cxnLst/>
              <a:rect r="r" b="b" t="t" l="l"/>
              <a:pathLst>
                <a:path h="549069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4026510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426" i="true">
                  <a:solidFill>
                    <a:srgbClr val="1B8A5A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Local Pulse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258214" y="8121234"/>
            <a:ext cx="2974267" cy="67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8A94A6"/>
                </a:solidFill>
                <a:latin typeface="Poppins Bold"/>
                <a:ea typeface="Poppins Bold"/>
                <a:cs typeface="Poppins Bold"/>
                <a:sym typeface="Poppins Bold"/>
              </a:rPr>
              <a:t>FORMAT  </a:t>
            </a:r>
            <a:r>
              <a:rPr lang="en-US" sz="1275">
                <a:solidFill>
                  <a:srgbClr val="5C6879"/>
                </a:solidFill>
                <a:latin typeface="Poppins"/>
                <a:ea typeface="Poppins"/>
                <a:cs typeface="Poppins"/>
                <a:sym typeface="Poppins"/>
              </a:rPr>
              <a:t>Short vertical video / ads · campaign-based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4529823" y="7000627"/>
            <a:ext cx="3980755" cy="343167"/>
            <a:chOff x="0" y="0"/>
            <a:chExt cx="5307673" cy="45755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307667" cy="457557"/>
            </a:xfrm>
            <a:custGeom>
              <a:avLst/>
              <a:gdLst/>
              <a:ahLst/>
              <a:cxnLst/>
              <a:rect r="r" b="b" t="t" l="l"/>
              <a:pathLst>
                <a:path h="457557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5307673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b="true" sz="1275" spc="75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BESTUNE</a:t>
              </a: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4621263" y="7366264"/>
            <a:ext cx="3729238" cy="135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275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Tactical campaign support, seasonal offers.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8716470" y="7000627"/>
            <a:ext cx="3980755" cy="343167"/>
            <a:chOff x="0" y="0"/>
            <a:chExt cx="5307673" cy="45755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307667" cy="457557"/>
            </a:xfrm>
            <a:custGeom>
              <a:avLst/>
              <a:gdLst/>
              <a:ahLst/>
              <a:cxnLst/>
              <a:rect r="r" b="b" t="t" l="l"/>
              <a:pathLst>
                <a:path h="457557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5307673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b="true" sz="1275" spc="75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212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8807910" y="7366264"/>
            <a:ext cx="3729238" cy="135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275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Priority — statement seekers, launch moments.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12903117" y="7000627"/>
            <a:ext cx="3980755" cy="343167"/>
            <a:chOff x="0" y="0"/>
            <a:chExt cx="5307673" cy="4575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307667" cy="457557"/>
            </a:xfrm>
            <a:custGeom>
              <a:avLst/>
              <a:gdLst/>
              <a:ahLst/>
              <a:cxnLst/>
              <a:rect r="r" b="b" t="t" l="l"/>
              <a:pathLst>
                <a:path h="457557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5307673" cy="467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b="true" sz="1275" spc="75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MOTOR SOUQ</a:t>
              </a: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12994557" y="7366264"/>
            <a:ext cx="3729238" cy="135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275">
                <a:solidFill>
                  <a:srgbClr val="141A28"/>
                </a:solidFill>
                <a:latin typeface="Poppins"/>
                <a:ea typeface="Poppins"/>
                <a:cs typeface="Poppins"/>
                <a:sym typeface="Poppins"/>
              </a:rPr>
              <a:t>Priority — active shoppers, geo-targeted offers.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46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68696"/>
            <a:ext cx="219627" cy="219627"/>
            <a:chOff x="0" y="0"/>
            <a:chExt cx="292837" cy="292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892C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9314" y="754971"/>
            <a:ext cx="12354049" cy="411804"/>
            <a:chOff x="0" y="0"/>
            <a:chExt cx="16472065" cy="549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2069" cy="549069"/>
            </a:xfrm>
            <a:custGeom>
              <a:avLst/>
              <a:gdLst/>
              <a:ahLst/>
              <a:cxnLst/>
              <a:rect r="r" b="b" t="t" l="l"/>
              <a:pathLst>
                <a:path h="549069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0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72065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450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06 · CHANNELS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333" y="1180500"/>
            <a:ext cx="16883872" cy="988324"/>
            <a:chOff x="0" y="0"/>
            <a:chExt cx="22511830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11827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511830" cy="135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41A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Channels Approach — Full Matrix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54971" y="2608078"/>
            <a:ext cx="16787784" cy="754971"/>
            <a:chOff x="0" y="0"/>
            <a:chExt cx="22383712" cy="10066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383750" cy="1006602"/>
            </a:xfrm>
            <a:custGeom>
              <a:avLst/>
              <a:gdLst/>
              <a:ahLst/>
              <a:cxnLst/>
              <a:rect r="r" b="b" t="t" l="l"/>
              <a:pathLst>
                <a:path h="1006602" w="22383750">
                  <a:moveTo>
                    <a:pt x="0" y="0"/>
                  </a:moveTo>
                  <a:lnTo>
                    <a:pt x="22383750" y="0"/>
                  </a:lnTo>
                  <a:lnTo>
                    <a:pt x="22383750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0F142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29500" y="2608078"/>
            <a:ext cx="2127647" cy="754971"/>
            <a:chOff x="0" y="0"/>
            <a:chExt cx="2836862" cy="100662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36856" cy="1006626"/>
            </a:xfrm>
            <a:custGeom>
              <a:avLst/>
              <a:gdLst/>
              <a:ahLst/>
              <a:cxnLst/>
              <a:rect r="r" b="b" t="t" l="l"/>
              <a:pathLst>
                <a:path h="1006626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2" r="0" b="-491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836862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Channel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225784" y="2608078"/>
            <a:ext cx="1853108" cy="754971"/>
            <a:chOff x="0" y="0"/>
            <a:chExt cx="2470810" cy="10066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70810" cy="1006626"/>
            </a:xfrm>
            <a:custGeom>
              <a:avLst/>
              <a:gdLst/>
              <a:ahLst/>
              <a:cxnLst/>
              <a:rect r="r" b="b" t="t" l="l"/>
              <a:pathLst>
                <a:path h="1006626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71" t="0" r="-2271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470810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Role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147520" y="2608078"/>
            <a:ext cx="3363049" cy="754971"/>
            <a:chOff x="0" y="0"/>
            <a:chExt cx="4484065" cy="100662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84063" cy="1006626"/>
            </a:xfrm>
            <a:custGeom>
              <a:avLst/>
              <a:gdLst/>
              <a:ahLst/>
              <a:cxnLst/>
              <a:rect r="r" b="b" t="t" l="l"/>
              <a:pathLst>
                <a:path h="1006626" w="4484063">
                  <a:moveTo>
                    <a:pt x="0" y="0"/>
                  </a:moveTo>
                  <a:lnTo>
                    <a:pt x="4484063" y="0"/>
                  </a:lnTo>
                  <a:lnTo>
                    <a:pt x="4484063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96" r="0" b="-3679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4484065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Content Type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579206" y="2608078"/>
            <a:ext cx="3088510" cy="754971"/>
            <a:chOff x="0" y="0"/>
            <a:chExt cx="4118013" cy="100662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18017" cy="1006626"/>
            </a:xfrm>
            <a:custGeom>
              <a:avLst/>
              <a:gdLst/>
              <a:ahLst/>
              <a:cxnLst/>
              <a:rect r="r" b="b" t="t" l="l"/>
              <a:pathLst>
                <a:path h="1006626" w="4118017">
                  <a:moveTo>
                    <a:pt x="0" y="0"/>
                  </a:moveTo>
                  <a:lnTo>
                    <a:pt x="4118017" y="0"/>
                  </a:lnTo>
                  <a:lnTo>
                    <a:pt x="4118017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4118013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Format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736353" y="2608078"/>
            <a:ext cx="1853108" cy="754971"/>
            <a:chOff x="0" y="0"/>
            <a:chExt cx="2470810" cy="100662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70810" cy="1006626"/>
            </a:xfrm>
            <a:custGeom>
              <a:avLst/>
              <a:gdLst/>
              <a:ahLst/>
              <a:cxnLst/>
              <a:rect r="r" b="b" t="t" l="l"/>
              <a:pathLst>
                <a:path h="1006626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71" t="0" r="-2271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2470810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Language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658088" y="2608078"/>
            <a:ext cx="2127647" cy="754971"/>
            <a:chOff x="0" y="0"/>
            <a:chExt cx="2836862" cy="100662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36856" cy="1006626"/>
            </a:xfrm>
            <a:custGeom>
              <a:avLst/>
              <a:gdLst/>
              <a:ahLst/>
              <a:cxnLst/>
              <a:rect r="r" b="b" t="t" l="l"/>
              <a:pathLst>
                <a:path h="1006626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2" r="0" b="-491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2836862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Cadence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854362" y="2608078"/>
            <a:ext cx="1921745" cy="754971"/>
            <a:chOff x="0" y="0"/>
            <a:chExt cx="2562327" cy="100662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62322" cy="1006626"/>
            </a:xfrm>
            <a:custGeom>
              <a:avLst/>
              <a:gdLst/>
              <a:ahLst/>
              <a:cxnLst/>
              <a:rect r="r" b="b" t="t" l="l"/>
              <a:pathLst>
                <a:path h="1006626" w="2562322">
                  <a:moveTo>
                    <a:pt x="0" y="0"/>
                  </a:moveTo>
                  <a:lnTo>
                    <a:pt x="2562322" y="0"/>
                  </a:lnTo>
                  <a:lnTo>
                    <a:pt x="2562322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4" t="0" r="-405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2562327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Priority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9500" y="3363049"/>
            <a:ext cx="2127647" cy="905961"/>
            <a:chOff x="0" y="0"/>
            <a:chExt cx="2836862" cy="120794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836856" cy="1207952"/>
            </a:xfrm>
            <a:custGeom>
              <a:avLst/>
              <a:gdLst/>
              <a:ahLst/>
              <a:cxnLst/>
              <a:rect r="r" b="b" t="t" l="l"/>
              <a:pathLst>
                <a:path h="1207952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32" t="0" r="-4632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2836862" cy="12174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TikTok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225784" y="3363049"/>
            <a:ext cx="1853108" cy="905961"/>
            <a:chOff x="0" y="0"/>
            <a:chExt cx="2470810" cy="120794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470810" cy="1207952"/>
            </a:xfrm>
            <a:custGeom>
              <a:avLst/>
              <a:gdLst/>
              <a:ahLst/>
              <a:cxnLst/>
              <a:rect r="r" b="b" t="t" l="l"/>
              <a:pathLst>
                <a:path h="1207952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25" t="0" r="-12725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2470810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 i="true">
                  <a:solidFill>
                    <a:srgbClr val="5C6879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The Arena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147520" y="3363049"/>
            <a:ext cx="3363049" cy="905961"/>
            <a:chOff x="0" y="0"/>
            <a:chExt cx="4484065" cy="120794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484063" cy="1207952"/>
            </a:xfrm>
            <a:custGeom>
              <a:avLst/>
              <a:gdLst/>
              <a:ahLst/>
              <a:cxnLst/>
              <a:rect r="r" b="b" t="t" l="l"/>
              <a:pathLst>
                <a:path h="1207952" w="4484063">
                  <a:moveTo>
                    <a:pt x="0" y="0"/>
                  </a:moveTo>
                  <a:lnTo>
                    <a:pt x="4484063" y="0"/>
                  </a:lnTo>
                  <a:lnTo>
                    <a:pt x="4484063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31" r="0" b="-2233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4484065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Edutainment, Lifestyle, Capability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579206" y="3363049"/>
            <a:ext cx="3088510" cy="905961"/>
            <a:chOff x="0" y="0"/>
            <a:chExt cx="4118013" cy="120794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118017" cy="1207952"/>
            </a:xfrm>
            <a:custGeom>
              <a:avLst/>
              <a:gdLst/>
              <a:ahLst/>
              <a:cxnLst/>
              <a:rect r="r" b="b" t="t" l="l"/>
              <a:pathLst>
                <a:path h="1207952" w="4118017">
                  <a:moveTo>
                    <a:pt x="0" y="0"/>
                  </a:moveTo>
                  <a:lnTo>
                    <a:pt x="4118017" y="0"/>
                  </a:lnTo>
                  <a:lnTo>
                    <a:pt x="4118017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4118013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Vertical video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736353" y="3363049"/>
            <a:ext cx="1853108" cy="905961"/>
            <a:chOff x="0" y="0"/>
            <a:chExt cx="2470810" cy="120794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70810" cy="1207952"/>
            </a:xfrm>
            <a:custGeom>
              <a:avLst/>
              <a:gdLst/>
              <a:ahLst/>
              <a:cxnLst/>
              <a:rect r="r" b="b" t="t" l="l"/>
              <a:pathLst>
                <a:path h="1207952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25" t="0" r="-12725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2470810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80/20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658088" y="3363049"/>
            <a:ext cx="2127647" cy="905961"/>
            <a:chOff x="0" y="0"/>
            <a:chExt cx="2836862" cy="120794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836856" cy="1207952"/>
            </a:xfrm>
            <a:custGeom>
              <a:avLst/>
              <a:gdLst/>
              <a:ahLst/>
              <a:cxnLst/>
              <a:rect r="r" b="b" t="t" l="l"/>
              <a:pathLst>
                <a:path h="1207952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32" t="0" r="-4632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2836862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3–4×/wk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5854362" y="3363049"/>
            <a:ext cx="1921745" cy="905961"/>
            <a:chOff x="0" y="0"/>
            <a:chExt cx="2562327" cy="12079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562322" cy="1207952"/>
            </a:xfrm>
            <a:custGeom>
              <a:avLst/>
              <a:gdLst/>
              <a:ahLst/>
              <a:cxnLst/>
              <a:rect r="r" b="b" t="t" l="l"/>
              <a:pathLst>
                <a:path h="1207952" w="2562322">
                  <a:moveTo>
                    <a:pt x="0" y="0"/>
                  </a:moveTo>
                  <a:lnTo>
                    <a:pt x="2562322" y="0"/>
                  </a:lnTo>
                  <a:lnTo>
                    <a:pt x="2562322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485" t="0" r="-10485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2562327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 b="true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212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54971" y="4269010"/>
            <a:ext cx="16787784" cy="905961"/>
            <a:chOff x="0" y="0"/>
            <a:chExt cx="22383712" cy="120794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383750" cy="1207897"/>
            </a:xfrm>
            <a:custGeom>
              <a:avLst/>
              <a:gdLst/>
              <a:ahLst/>
              <a:cxnLst/>
              <a:rect r="r" b="b" t="t" l="l"/>
              <a:pathLst>
                <a:path h="1207897" w="22383750">
                  <a:moveTo>
                    <a:pt x="0" y="0"/>
                  </a:moveTo>
                  <a:lnTo>
                    <a:pt x="22383750" y="0"/>
                  </a:lnTo>
                  <a:lnTo>
                    <a:pt x="22383750" y="1207897"/>
                  </a:lnTo>
                  <a:lnTo>
                    <a:pt x="0" y="1207897"/>
                  </a:lnTo>
                  <a:close/>
                </a:path>
              </a:pathLst>
            </a:custGeom>
            <a:solidFill>
              <a:srgbClr val="F1F4F8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029500" y="4269010"/>
            <a:ext cx="2127647" cy="905961"/>
            <a:chOff x="0" y="0"/>
            <a:chExt cx="2836862" cy="120794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836856" cy="1207952"/>
            </a:xfrm>
            <a:custGeom>
              <a:avLst/>
              <a:gdLst/>
              <a:ahLst/>
              <a:cxnLst/>
              <a:rect r="r" b="b" t="t" l="l"/>
              <a:pathLst>
                <a:path h="1207952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32" t="0" r="-4632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2836862" cy="12174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Instagram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3225784" y="4269010"/>
            <a:ext cx="1853108" cy="905961"/>
            <a:chOff x="0" y="0"/>
            <a:chExt cx="2470810" cy="120794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470810" cy="1207952"/>
            </a:xfrm>
            <a:custGeom>
              <a:avLst/>
              <a:gdLst/>
              <a:ahLst/>
              <a:cxnLst/>
              <a:rect r="r" b="b" t="t" l="l"/>
              <a:pathLst>
                <a:path h="1207952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25" t="0" r="-12725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2470810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 i="true">
                  <a:solidFill>
                    <a:srgbClr val="5C6879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The Showcase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147520" y="4269010"/>
            <a:ext cx="3363049" cy="905961"/>
            <a:chOff x="0" y="0"/>
            <a:chExt cx="4484065" cy="120794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484063" cy="1207952"/>
            </a:xfrm>
            <a:custGeom>
              <a:avLst/>
              <a:gdLst/>
              <a:ahLst/>
              <a:cxnLst/>
              <a:rect r="r" b="b" t="t" l="l"/>
              <a:pathLst>
                <a:path h="1207952" w="4484063">
                  <a:moveTo>
                    <a:pt x="0" y="0"/>
                  </a:moveTo>
                  <a:lnTo>
                    <a:pt x="4484063" y="0"/>
                  </a:lnTo>
                  <a:lnTo>
                    <a:pt x="4484063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31" r="0" b="-2233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4484065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All pillars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8579206" y="4269010"/>
            <a:ext cx="3088510" cy="905961"/>
            <a:chOff x="0" y="0"/>
            <a:chExt cx="4118013" cy="120794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118017" cy="1207952"/>
            </a:xfrm>
            <a:custGeom>
              <a:avLst/>
              <a:gdLst/>
              <a:ahLst/>
              <a:cxnLst/>
              <a:rect r="r" b="b" t="t" l="l"/>
              <a:pathLst>
                <a:path h="1207952" w="4118017">
                  <a:moveTo>
                    <a:pt x="0" y="0"/>
                  </a:moveTo>
                  <a:lnTo>
                    <a:pt x="4118017" y="0"/>
                  </a:lnTo>
                  <a:lnTo>
                    <a:pt x="4118017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4118013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Reels, carousels, stories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736353" y="4269010"/>
            <a:ext cx="1853108" cy="905961"/>
            <a:chOff x="0" y="0"/>
            <a:chExt cx="2470810" cy="120794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470810" cy="1207952"/>
            </a:xfrm>
            <a:custGeom>
              <a:avLst/>
              <a:gdLst/>
              <a:ahLst/>
              <a:cxnLst/>
              <a:rect r="r" b="b" t="t" l="l"/>
              <a:pathLst>
                <a:path h="1207952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25" t="0" r="-12725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2470810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80/20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3658088" y="4269010"/>
            <a:ext cx="2127647" cy="905961"/>
            <a:chOff x="0" y="0"/>
            <a:chExt cx="2836862" cy="120794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836856" cy="1207952"/>
            </a:xfrm>
            <a:custGeom>
              <a:avLst/>
              <a:gdLst/>
              <a:ahLst/>
              <a:cxnLst/>
              <a:rect r="r" b="b" t="t" l="l"/>
              <a:pathLst>
                <a:path h="1207952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32" t="0" r="-4632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2836862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5×/wk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5854362" y="4269010"/>
            <a:ext cx="1921745" cy="905961"/>
            <a:chOff x="0" y="0"/>
            <a:chExt cx="2562327" cy="120794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562322" cy="1207952"/>
            </a:xfrm>
            <a:custGeom>
              <a:avLst/>
              <a:gdLst/>
              <a:ahLst/>
              <a:cxnLst/>
              <a:rect r="r" b="b" t="t" l="l"/>
              <a:pathLst>
                <a:path h="1207952" w="2562322">
                  <a:moveTo>
                    <a:pt x="0" y="0"/>
                  </a:moveTo>
                  <a:lnTo>
                    <a:pt x="2562322" y="0"/>
                  </a:lnTo>
                  <a:lnTo>
                    <a:pt x="2562322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485" t="0" r="-10485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2562327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 b="true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All three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29500" y="5174971"/>
            <a:ext cx="2127647" cy="905961"/>
            <a:chOff x="0" y="0"/>
            <a:chExt cx="2836862" cy="120794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836856" cy="1207952"/>
            </a:xfrm>
            <a:custGeom>
              <a:avLst/>
              <a:gdLst/>
              <a:ahLst/>
              <a:cxnLst/>
              <a:rect r="r" b="b" t="t" l="l"/>
              <a:pathLst>
                <a:path h="1207952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32" t="0" r="-4632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2836862" cy="12174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3225784" y="5174971"/>
            <a:ext cx="1853108" cy="905961"/>
            <a:chOff x="0" y="0"/>
            <a:chExt cx="2470810" cy="120794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470810" cy="1207952"/>
            </a:xfrm>
            <a:custGeom>
              <a:avLst/>
              <a:gdLst/>
              <a:ahLst/>
              <a:cxnLst/>
              <a:rect r="r" b="b" t="t" l="l"/>
              <a:pathLst>
                <a:path h="1207952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25" t="0" r="-12725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2470810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 i="true">
                  <a:solidFill>
                    <a:srgbClr val="5C6879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The Conversation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5147520" y="5174971"/>
            <a:ext cx="3363049" cy="905961"/>
            <a:chOff x="0" y="0"/>
            <a:chExt cx="4484065" cy="120794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484063" cy="1207952"/>
            </a:xfrm>
            <a:custGeom>
              <a:avLst/>
              <a:gdLst/>
              <a:ahLst/>
              <a:cxnLst/>
              <a:rect r="r" b="b" t="t" l="l"/>
              <a:pathLst>
                <a:path h="1207952" w="4484063">
                  <a:moveTo>
                    <a:pt x="0" y="0"/>
                  </a:moveTo>
                  <a:lnTo>
                    <a:pt x="4484063" y="0"/>
                  </a:lnTo>
                  <a:lnTo>
                    <a:pt x="4484063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31" r="0" b="-2233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4484065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Community, real-time, comparisons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8579206" y="5174971"/>
            <a:ext cx="3088510" cy="905961"/>
            <a:chOff x="0" y="0"/>
            <a:chExt cx="4118013" cy="120794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118017" cy="1207952"/>
            </a:xfrm>
            <a:custGeom>
              <a:avLst/>
              <a:gdLst/>
              <a:ahLst/>
              <a:cxnLst/>
              <a:rect r="r" b="b" t="t" l="l"/>
              <a:pathLst>
                <a:path h="1207952" w="4118017">
                  <a:moveTo>
                    <a:pt x="0" y="0"/>
                  </a:moveTo>
                  <a:lnTo>
                    <a:pt x="4118017" y="0"/>
                  </a:lnTo>
                  <a:lnTo>
                    <a:pt x="4118017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4118013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Text, polls, threads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1736353" y="5174971"/>
            <a:ext cx="1853108" cy="905961"/>
            <a:chOff x="0" y="0"/>
            <a:chExt cx="2470810" cy="120794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470810" cy="1207952"/>
            </a:xfrm>
            <a:custGeom>
              <a:avLst/>
              <a:gdLst/>
              <a:ahLst/>
              <a:cxnLst/>
              <a:rect r="r" b="b" t="t" l="l"/>
              <a:pathLst>
                <a:path h="1207952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25" t="0" r="-12725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2470810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80/20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3658088" y="5174971"/>
            <a:ext cx="2127647" cy="905961"/>
            <a:chOff x="0" y="0"/>
            <a:chExt cx="2836862" cy="120794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836856" cy="1207952"/>
            </a:xfrm>
            <a:custGeom>
              <a:avLst/>
              <a:gdLst/>
              <a:ahLst/>
              <a:cxnLst/>
              <a:rect r="r" b="b" t="t" l="l"/>
              <a:pathLst>
                <a:path h="1207952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32" t="0" r="-4632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2836862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3–5×/wk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5854362" y="5174971"/>
            <a:ext cx="1921745" cy="905961"/>
            <a:chOff x="0" y="0"/>
            <a:chExt cx="2562327" cy="120794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562322" cy="1207952"/>
            </a:xfrm>
            <a:custGeom>
              <a:avLst/>
              <a:gdLst/>
              <a:ahLst/>
              <a:cxnLst/>
              <a:rect r="r" b="b" t="t" l="l"/>
              <a:pathLst>
                <a:path h="1207952" w="2562322">
                  <a:moveTo>
                    <a:pt x="0" y="0"/>
                  </a:moveTo>
                  <a:lnTo>
                    <a:pt x="2562322" y="0"/>
                  </a:lnTo>
                  <a:lnTo>
                    <a:pt x="2562322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485" t="0" r="-10485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19050"/>
              <a:ext cx="2562327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 b="true">
                  <a:solidFill>
                    <a:srgbClr val="1892C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Motor Souq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754971" y="6080941"/>
            <a:ext cx="16787784" cy="905961"/>
            <a:chOff x="0" y="0"/>
            <a:chExt cx="22383712" cy="120794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2383750" cy="1207897"/>
            </a:xfrm>
            <a:custGeom>
              <a:avLst/>
              <a:gdLst/>
              <a:ahLst/>
              <a:cxnLst/>
              <a:rect r="r" b="b" t="t" l="l"/>
              <a:pathLst>
                <a:path h="1207897" w="22383750">
                  <a:moveTo>
                    <a:pt x="0" y="0"/>
                  </a:moveTo>
                  <a:lnTo>
                    <a:pt x="22383750" y="0"/>
                  </a:lnTo>
                  <a:lnTo>
                    <a:pt x="22383750" y="1207897"/>
                  </a:lnTo>
                  <a:lnTo>
                    <a:pt x="0" y="1207897"/>
                  </a:lnTo>
                  <a:close/>
                </a:path>
              </a:pathLst>
            </a:custGeom>
            <a:solidFill>
              <a:srgbClr val="F1F4F8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029500" y="6080941"/>
            <a:ext cx="2127647" cy="905961"/>
            <a:chOff x="0" y="0"/>
            <a:chExt cx="2836862" cy="120794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836856" cy="1207952"/>
            </a:xfrm>
            <a:custGeom>
              <a:avLst/>
              <a:gdLst/>
              <a:ahLst/>
              <a:cxnLst/>
              <a:rect r="r" b="b" t="t" l="l"/>
              <a:pathLst>
                <a:path h="1207952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32" t="0" r="-4632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9525"/>
              <a:ext cx="2836862" cy="12174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B887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YouTube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3225784" y="6080941"/>
            <a:ext cx="1853108" cy="905961"/>
            <a:chOff x="0" y="0"/>
            <a:chExt cx="2470810" cy="120794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470810" cy="1207952"/>
            </a:xfrm>
            <a:custGeom>
              <a:avLst/>
              <a:gdLst/>
              <a:ahLst/>
              <a:cxnLst/>
              <a:rect r="r" b="b" t="t" l="l"/>
              <a:pathLst>
                <a:path h="1207952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25" t="0" r="-12725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19050"/>
              <a:ext cx="2470810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 i="true">
                  <a:solidFill>
                    <a:srgbClr val="5C6879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The Storyteller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147520" y="6080941"/>
            <a:ext cx="3363049" cy="905961"/>
            <a:chOff x="0" y="0"/>
            <a:chExt cx="4484065" cy="120794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484063" cy="1207952"/>
            </a:xfrm>
            <a:custGeom>
              <a:avLst/>
              <a:gdLst/>
              <a:ahLst/>
              <a:cxnLst/>
              <a:rect r="r" b="b" t="t" l="l"/>
              <a:pathLst>
                <a:path h="1207952" w="4484063">
                  <a:moveTo>
                    <a:pt x="0" y="0"/>
                  </a:moveTo>
                  <a:lnTo>
                    <a:pt x="4484063" y="0"/>
                  </a:lnTo>
                  <a:lnTo>
                    <a:pt x="4484063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31" r="0" b="-2233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19050"/>
              <a:ext cx="4484065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Heritage, reviews, guides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8579206" y="6080941"/>
            <a:ext cx="3088510" cy="905961"/>
            <a:chOff x="0" y="0"/>
            <a:chExt cx="4118013" cy="120794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118017" cy="1207952"/>
            </a:xfrm>
            <a:custGeom>
              <a:avLst/>
              <a:gdLst/>
              <a:ahLst/>
              <a:cxnLst/>
              <a:rect r="r" b="b" t="t" l="l"/>
              <a:pathLst>
                <a:path h="1207952" w="4118017">
                  <a:moveTo>
                    <a:pt x="0" y="0"/>
                  </a:moveTo>
                  <a:lnTo>
                    <a:pt x="4118017" y="0"/>
                  </a:lnTo>
                  <a:lnTo>
                    <a:pt x="4118017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19050"/>
              <a:ext cx="4118013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Shorts + long video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1736353" y="6080941"/>
            <a:ext cx="1853108" cy="905961"/>
            <a:chOff x="0" y="0"/>
            <a:chExt cx="2470810" cy="120794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470810" cy="1207952"/>
            </a:xfrm>
            <a:custGeom>
              <a:avLst/>
              <a:gdLst/>
              <a:ahLst/>
              <a:cxnLst/>
              <a:rect r="r" b="b" t="t" l="l"/>
              <a:pathLst>
                <a:path h="1207952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25" t="0" r="-12725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19050"/>
              <a:ext cx="2470810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80/20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3658088" y="6080941"/>
            <a:ext cx="2127647" cy="905961"/>
            <a:chOff x="0" y="0"/>
            <a:chExt cx="2836862" cy="120794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836856" cy="1207952"/>
            </a:xfrm>
            <a:custGeom>
              <a:avLst/>
              <a:gdLst/>
              <a:ahLst/>
              <a:cxnLst/>
              <a:rect r="r" b="b" t="t" l="l"/>
              <a:pathLst>
                <a:path h="1207952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32" t="0" r="-4632" b="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19050"/>
              <a:ext cx="2836862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On availability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5854362" y="6080941"/>
            <a:ext cx="1921745" cy="905961"/>
            <a:chOff x="0" y="0"/>
            <a:chExt cx="2562327" cy="120794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562322" cy="1207952"/>
            </a:xfrm>
            <a:custGeom>
              <a:avLst/>
              <a:gdLst/>
              <a:ahLst/>
              <a:cxnLst/>
              <a:rect r="r" b="b" t="t" l="l"/>
              <a:pathLst>
                <a:path h="1207952" w="2562322">
                  <a:moveTo>
                    <a:pt x="0" y="0"/>
                  </a:moveTo>
                  <a:lnTo>
                    <a:pt x="2562322" y="0"/>
                  </a:lnTo>
                  <a:lnTo>
                    <a:pt x="2562322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485" t="0" r="-10485" b="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19050"/>
              <a:ext cx="2562327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 b="true">
                  <a:solidFill>
                    <a:srgbClr val="B887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212 / Bestune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029500" y="6986902"/>
            <a:ext cx="2127647" cy="905961"/>
            <a:chOff x="0" y="0"/>
            <a:chExt cx="2836862" cy="120794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836856" cy="1207952"/>
            </a:xfrm>
            <a:custGeom>
              <a:avLst/>
              <a:gdLst/>
              <a:ahLst/>
              <a:cxnLst/>
              <a:rect r="r" b="b" t="t" l="l"/>
              <a:pathLst>
                <a:path h="1207952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32" t="0" r="-4632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9525"/>
              <a:ext cx="2836862" cy="12174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Facebook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3225784" y="6986902"/>
            <a:ext cx="1853108" cy="905961"/>
            <a:chOff x="0" y="0"/>
            <a:chExt cx="2470810" cy="1207948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470810" cy="1207952"/>
            </a:xfrm>
            <a:custGeom>
              <a:avLst/>
              <a:gdLst/>
              <a:ahLst/>
              <a:cxnLst/>
              <a:rect r="r" b="b" t="t" l="l"/>
              <a:pathLst>
                <a:path h="1207952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25" t="0" r="-12725" b="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19050"/>
              <a:ext cx="2470810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 i="true">
                  <a:solidFill>
                    <a:srgbClr val="5C6879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Reach Extender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5147520" y="6986902"/>
            <a:ext cx="3363049" cy="905961"/>
            <a:chOff x="0" y="0"/>
            <a:chExt cx="4484065" cy="120794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484063" cy="1207952"/>
            </a:xfrm>
            <a:custGeom>
              <a:avLst/>
              <a:gdLst/>
              <a:ahLst/>
              <a:cxnLst/>
              <a:rect r="r" b="b" t="t" l="l"/>
              <a:pathLst>
                <a:path h="1207952" w="4484063">
                  <a:moveTo>
                    <a:pt x="0" y="0"/>
                  </a:moveTo>
                  <a:lnTo>
                    <a:pt x="4484063" y="0"/>
                  </a:lnTo>
                  <a:lnTo>
                    <a:pt x="4484063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31" r="0" b="-2233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19050"/>
              <a:ext cx="4484065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Mirrors IG, offers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8579206" y="6986902"/>
            <a:ext cx="3088510" cy="905961"/>
            <a:chOff x="0" y="0"/>
            <a:chExt cx="4118013" cy="1207948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4118017" cy="1207952"/>
            </a:xfrm>
            <a:custGeom>
              <a:avLst/>
              <a:gdLst/>
              <a:ahLst/>
              <a:cxnLst/>
              <a:rect r="r" b="b" t="t" l="l"/>
              <a:pathLst>
                <a:path h="1207952" w="4118017">
                  <a:moveTo>
                    <a:pt x="0" y="0"/>
                  </a:moveTo>
                  <a:lnTo>
                    <a:pt x="4118017" y="0"/>
                  </a:lnTo>
                  <a:lnTo>
                    <a:pt x="4118017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19050"/>
              <a:ext cx="4118013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Text, images, video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1736353" y="6986902"/>
            <a:ext cx="1853108" cy="905961"/>
            <a:chOff x="0" y="0"/>
            <a:chExt cx="2470810" cy="120794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470810" cy="1207952"/>
            </a:xfrm>
            <a:custGeom>
              <a:avLst/>
              <a:gdLst/>
              <a:ahLst/>
              <a:cxnLst/>
              <a:rect r="r" b="b" t="t" l="l"/>
              <a:pathLst>
                <a:path h="1207952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25" t="0" r="-12725" b="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19050"/>
              <a:ext cx="2470810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50/50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3658088" y="6986902"/>
            <a:ext cx="2127647" cy="905961"/>
            <a:chOff x="0" y="0"/>
            <a:chExt cx="2836862" cy="1207948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836856" cy="1207952"/>
            </a:xfrm>
            <a:custGeom>
              <a:avLst/>
              <a:gdLst/>
              <a:ahLst/>
              <a:cxnLst/>
              <a:rect r="r" b="b" t="t" l="l"/>
              <a:pathLst>
                <a:path h="1207952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32" t="0" r="-4632" b="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19050"/>
              <a:ext cx="2836862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5×/wk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5854362" y="6986902"/>
            <a:ext cx="1921745" cy="905961"/>
            <a:chOff x="0" y="0"/>
            <a:chExt cx="2562327" cy="1207948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562322" cy="1207952"/>
            </a:xfrm>
            <a:custGeom>
              <a:avLst/>
              <a:gdLst/>
              <a:ahLst/>
              <a:cxnLst/>
              <a:rect r="r" b="b" t="t" l="l"/>
              <a:pathLst>
                <a:path h="1207952" w="2562322">
                  <a:moveTo>
                    <a:pt x="0" y="0"/>
                  </a:moveTo>
                  <a:lnTo>
                    <a:pt x="2562322" y="0"/>
                  </a:lnTo>
                  <a:lnTo>
                    <a:pt x="2562322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485" t="0" r="-10485" b="0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19050"/>
              <a:ext cx="2562327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 b="true">
                  <a:solidFill>
                    <a:srgbClr val="3C63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Bestune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754971" y="7892863"/>
            <a:ext cx="16787784" cy="905961"/>
            <a:chOff x="0" y="0"/>
            <a:chExt cx="22383712" cy="1207948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2383750" cy="1207897"/>
            </a:xfrm>
            <a:custGeom>
              <a:avLst/>
              <a:gdLst/>
              <a:ahLst/>
              <a:cxnLst/>
              <a:rect r="r" b="b" t="t" l="l"/>
              <a:pathLst>
                <a:path h="1207897" w="22383750">
                  <a:moveTo>
                    <a:pt x="0" y="0"/>
                  </a:moveTo>
                  <a:lnTo>
                    <a:pt x="22383750" y="0"/>
                  </a:lnTo>
                  <a:lnTo>
                    <a:pt x="22383750" y="1207897"/>
                  </a:lnTo>
                  <a:lnTo>
                    <a:pt x="0" y="1207897"/>
                  </a:lnTo>
                  <a:close/>
                </a:path>
              </a:pathLst>
            </a:custGeom>
            <a:solidFill>
              <a:srgbClr val="F1F4F8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1029500" y="7892863"/>
            <a:ext cx="2127647" cy="905961"/>
            <a:chOff x="0" y="0"/>
            <a:chExt cx="2836862" cy="1207948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2836856" cy="1207952"/>
            </a:xfrm>
            <a:custGeom>
              <a:avLst/>
              <a:gdLst/>
              <a:ahLst/>
              <a:cxnLst/>
              <a:rect r="r" b="b" t="t" l="l"/>
              <a:pathLst>
                <a:path h="1207952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32" t="0" r="-4632" b="0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9525"/>
              <a:ext cx="2836862" cy="12174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Snapchat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3225784" y="7892863"/>
            <a:ext cx="1853108" cy="905961"/>
            <a:chOff x="0" y="0"/>
            <a:chExt cx="2470810" cy="1207948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2470810" cy="1207952"/>
            </a:xfrm>
            <a:custGeom>
              <a:avLst/>
              <a:gdLst/>
              <a:ahLst/>
              <a:cxnLst/>
              <a:rect r="r" b="b" t="t" l="l"/>
              <a:pathLst>
                <a:path h="1207952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25" t="0" r="-12725" b="0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19050"/>
              <a:ext cx="2470810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 i="true">
                  <a:solidFill>
                    <a:srgbClr val="5C6879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Local Pulse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5147520" y="7892863"/>
            <a:ext cx="3363049" cy="905961"/>
            <a:chOff x="0" y="0"/>
            <a:chExt cx="4484065" cy="1207948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4484063" cy="1207952"/>
            </a:xfrm>
            <a:custGeom>
              <a:avLst/>
              <a:gdLst/>
              <a:ahLst/>
              <a:cxnLst/>
              <a:rect r="r" b="b" t="t" l="l"/>
              <a:pathLst>
                <a:path h="1207952" w="4484063">
                  <a:moveTo>
                    <a:pt x="0" y="0"/>
                  </a:moveTo>
                  <a:lnTo>
                    <a:pt x="4484063" y="0"/>
                  </a:lnTo>
                  <a:lnTo>
                    <a:pt x="4484063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31" r="0" b="-22330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19050"/>
              <a:ext cx="4484065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Tactical, launches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8579206" y="7892863"/>
            <a:ext cx="3088510" cy="905961"/>
            <a:chOff x="0" y="0"/>
            <a:chExt cx="4118013" cy="1207948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4118017" cy="1207952"/>
            </a:xfrm>
            <a:custGeom>
              <a:avLst/>
              <a:gdLst/>
              <a:ahLst/>
              <a:cxnLst/>
              <a:rect r="r" b="b" t="t" l="l"/>
              <a:pathLst>
                <a:path h="1207952" w="4118017">
                  <a:moveTo>
                    <a:pt x="0" y="0"/>
                  </a:moveTo>
                  <a:lnTo>
                    <a:pt x="4118017" y="0"/>
                  </a:lnTo>
                  <a:lnTo>
                    <a:pt x="4118017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19050"/>
              <a:ext cx="4118013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Short video / ads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11736353" y="7892863"/>
            <a:ext cx="1853108" cy="905961"/>
            <a:chOff x="0" y="0"/>
            <a:chExt cx="2470810" cy="1207948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2470810" cy="1207952"/>
            </a:xfrm>
            <a:custGeom>
              <a:avLst/>
              <a:gdLst/>
              <a:ahLst/>
              <a:cxnLst/>
              <a:rect r="r" b="b" t="t" l="l"/>
              <a:pathLst>
                <a:path h="1207952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25" t="0" r="-12725" b="0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19050"/>
              <a:ext cx="2470810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80/20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13658088" y="7892863"/>
            <a:ext cx="2127647" cy="905961"/>
            <a:chOff x="0" y="0"/>
            <a:chExt cx="2836862" cy="1207948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2836856" cy="1207952"/>
            </a:xfrm>
            <a:custGeom>
              <a:avLst/>
              <a:gdLst/>
              <a:ahLst/>
              <a:cxnLst/>
              <a:rect r="r" b="b" t="t" l="l"/>
              <a:pathLst>
                <a:path h="1207952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32" t="0" r="-4632" b="0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19050"/>
              <a:ext cx="2836862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141A28"/>
                  </a:solidFill>
                  <a:latin typeface="Poppins"/>
                  <a:ea typeface="Poppins"/>
                  <a:cs typeface="Poppins"/>
                  <a:sym typeface="Poppins"/>
                </a:rPr>
                <a:t>Campaign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15854362" y="7892863"/>
            <a:ext cx="1921745" cy="905961"/>
            <a:chOff x="0" y="0"/>
            <a:chExt cx="2562327" cy="1207948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2562322" cy="1207952"/>
            </a:xfrm>
            <a:custGeom>
              <a:avLst/>
              <a:gdLst/>
              <a:ahLst/>
              <a:cxnLst/>
              <a:rect r="r" b="b" t="t" l="l"/>
              <a:pathLst>
                <a:path h="1207952" w="2562322">
                  <a:moveTo>
                    <a:pt x="0" y="0"/>
                  </a:moveTo>
                  <a:lnTo>
                    <a:pt x="2562322" y="0"/>
                  </a:lnTo>
                  <a:lnTo>
                    <a:pt x="2562322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485" t="0" r="-10485" b="0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19050"/>
              <a:ext cx="2562327" cy="1226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 b="true">
                  <a:solidFill>
                    <a:srgbClr val="1B8A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212 / M.Souq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782422" y="9073363"/>
            <a:ext cx="16472068" cy="549069"/>
            <a:chOff x="0" y="0"/>
            <a:chExt cx="21962758" cy="732092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21962759" cy="732092"/>
            </a:xfrm>
            <a:custGeom>
              <a:avLst/>
              <a:gdLst/>
              <a:ahLst/>
              <a:cxnLst/>
              <a:rect r="r" b="b" t="t" l="l"/>
              <a:pathLst>
                <a:path h="732092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68" id="168"/>
            <p:cNvSpPr txBox="true"/>
            <p:nvPr/>
          </p:nvSpPr>
          <p:spPr>
            <a:xfrm>
              <a:off x="0" y="-19050"/>
              <a:ext cx="21962758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 i="true">
                  <a:solidFill>
                    <a:srgbClr val="5C6879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Note: Frequency scales up during campaigns and seasonal peaks — Ramadan, National Day, salary season, off-road season.</a:t>
              </a:r>
            </a:p>
          </p:txBody>
        </p:sp>
      </p:grpSp>
      <p:grpSp>
        <p:nvGrpSpPr>
          <p:cNvPr name="Group 169" id="169"/>
          <p:cNvGrpSpPr/>
          <p:nvPr/>
        </p:nvGrpSpPr>
        <p:grpSpPr>
          <a:xfrm rot="0">
            <a:off x="754971" y="9718519"/>
            <a:ext cx="6863363" cy="411804"/>
            <a:chOff x="0" y="0"/>
            <a:chExt cx="9151150" cy="549072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9151149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9525"/>
              <a:ext cx="915115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spc="15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emotion®  ×  Taajeer Group</a:t>
              </a:r>
            </a:p>
          </p:txBody>
        </p:sp>
      </p:grpSp>
      <p:grpSp>
        <p:nvGrpSpPr>
          <p:cNvPr name="Group 172" id="172"/>
          <p:cNvGrpSpPr/>
          <p:nvPr/>
        </p:nvGrpSpPr>
        <p:grpSpPr>
          <a:xfrm rot="0">
            <a:off x="16883872" y="9718519"/>
            <a:ext cx="686333" cy="411804"/>
            <a:chOff x="0" y="0"/>
            <a:chExt cx="915111" cy="549072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915115" cy="549069"/>
            </a:xfrm>
            <a:custGeom>
              <a:avLst/>
              <a:gdLst/>
              <a:ahLst/>
              <a:cxnLst/>
              <a:rect r="r" b="b" t="t" l="l"/>
              <a:pathLst>
                <a:path h="5490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-9525"/>
              <a:ext cx="91511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8A94A6"/>
                  </a:solidFill>
                  <a:latin typeface="Poppins"/>
                  <a:ea typeface="Poppins"/>
                  <a:cs typeface="Poppins"/>
                  <a:sym typeface="Poppins"/>
                </a:rPr>
                <a:t>47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971" y="754971"/>
            <a:ext cx="2333539" cy="1382497"/>
            <a:chOff x="0" y="0"/>
            <a:chExt cx="3111386" cy="1843329"/>
          </a:xfrm>
        </p:grpSpPr>
        <p:sp>
          <p:nvSpPr>
            <p:cNvPr name="Freeform 4" id="4" descr="/tmp/build/emotion.png"/>
            <p:cNvSpPr/>
            <p:nvPr/>
          </p:nvSpPr>
          <p:spPr>
            <a:xfrm flipH="false" flipV="false" rot="0">
              <a:off x="0" y="0"/>
              <a:ext cx="3111373" cy="1843278"/>
            </a:xfrm>
            <a:custGeom>
              <a:avLst/>
              <a:gdLst/>
              <a:ahLst/>
              <a:cxnLst/>
              <a:rect r="r" b="b" t="t" l="l"/>
              <a:pathLst>
                <a:path h="1843278" w="3111373">
                  <a:moveTo>
                    <a:pt x="0" y="0"/>
                  </a:moveTo>
                  <a:lnTo>
                    <a:pt x="3111373" y="0"/>
                  </a:lnTo>
                  <a:lnTo>
                    <a:pt x="3111373" y="1843278"/>
                  </a:lnTo>
                  <a:lnTo>
                    <a:pt x="0" y="1843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86333" y="3706216"/>
            <a:ext cx="16472068" cy="1372676"/>
            <a:chOff x="0" y="0"/>
            <a:chExt cx="21962758" cy="18302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62759" cy="1830230"/>
            </a:xfrm>
            <a:custGeom>
              <a:avLst/>
              <a:gdLst/>
              <a:ahLst/>
              <a:cxnLst/>
              <a:rect r="r" b="b" t="t" l="l"/>
              <a:pathLst>
                <a:path h="1830230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21962758" cy="1925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808"/>
                </a:lnSpc>
              </a:pPr>
              <a:r>
                <a:rPr lang="en-US" sz="9007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THANK YOU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2422" y="5284784"/>
            <a:ext cx="16472068" cy="686333"/>
            <a:chOff x="0" y="0"/>
            <a:chExt cx="21962758" cy="9151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62759" cy="915115"/>
            </a:xfrm>
            <a:custGeom>
              <a:avLst/>
              <a:gdLst/>
              <a:ahLst/>
              <a:cxnLst/>
              <a:rect r="r" b="b" t="t" l="l"/>
              <a:pathLst>
                <a:path h="915115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7641" r="0" b="-41764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1962758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878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Taajeer Automotive Portfolio</a:t>
              </a:r>
              <a:r>
                <a:rPr lang="en-US" sz="2251">
                  <a:solidFill>
                    <a:srgbClr val="9AA6BD"/>
                  </a:solidFill>
                  <a:latin typeface="Poppins"/>
                  <a:ea typeface="Poppins"/>
                  <a:cs typeface="Poppins"/>
                  <a:sym typeface="Poppins"/>
                </a:rPr>
                <a:t>   ·   Social Media Strategy &amp; Creative Proposal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54971" y="7412431"/>
            <a:ext cx="10569578" cy="1372676"/>
            <a:chOff x="0" y="0"/>
            <a:chExt cx="14092771" cy="1830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092682" cy="1830197"/>
            </a:xfrm>
            <a:custGeom>
              <a:avLst/>
              <a:gdLst/>
              <a:ahLst/>
              <a:cxnLst/>
              <a:rect r="r" b="b" t="t" l="l"/>
              <a:pathLst>
                <a:path h="1830197" w="14092682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13873099" y="0"/>
                  </a:lnTo>
                  <a:cubicBezTo>
                    <a:pt x="13994385" y="0"/>
                    <a:pt x="14092682" y="98298"/>
                    <a:pt x="14092682" y="219583"/>
                  </a:cubicBezTo>
                  <a:lnTo>
                    <a:pt x="14092682" y="1610614"/>
                  </a:lnTo>
                  <a:cubicBezTo>
                    <a:pt x="14092682" y="1731899"/>
                    <a:pt x="13994385" y="1830197"/>
                    <a:pt x="13873099" y="1830197"/>
                  </a:cubicBezTo>
                  <a:lnTo>
                    <a:pt x="219583" y="1830197"/>
                  </a:lnTo>
                  <a:cubicBezTo>
                    <a:pt x="98298" y="1830197"/>
                    <a:pt x="0" y="1731899"/>
                    <a:pt x="0" y="161061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66774" y="7686961"/>
            <a:ext cx="9745970" cy="1433227"/>
            <a:chOff x="0" y="0"/>
            <a:chExt cx="12994627" cy="1910969"/>
          </a:xfrm>
        </p:grpSpPr>
        <p:sp>
          <p:nvSpPr>
            <p:cNvPr name="Freeform 14" id="14" descr="/tmp/build/brands_strip.png"/>
            <p:cNvSpPr/>
            <p:nvPr/>
          </p:nvSpPr>
          <p:spPr>
            <a:xfrm flipH="false" flipV="false" rot="0">
              <a:off x="0" y="0"/>
              <a:ext cx="12994640" cy="1910969"/>
            </a:xfrm>
            <a:custGeom>
              <a:avLst/>
              <a:gdLst/>
              <a:ahLst/>
              <a:cxnLst/>
              <a:rect r="r" b="b" t="t" l="l"/>
              <a:pathLst>
                <a:path h="1910969" w="12994640">
                  <a:moveTo>
                    <a:pt x="0" y="0"/>
                  </a:moveTo>
                  <a:lnTo>
                    <a:pt x="12994640" y="0"/>
                  </a:lnTo>
                  <a:lnTo>
                    <a:pt x="12994640" y="1910969"/>
                  </a:lnTo>
                  <a:lnTo>
                    <a:pt x="0" y="1910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804980" y="7892863"/>
            <a:ext cx="5627961" cy="549069"/>
            <a:chOff x="0" y="0"/>
            <a:chExt cx="7503947" cy="7320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03943" cy="732092"/>
            </a:xfrm>
            <a:custGeom>
              <a:avLst/>
              <a:gdLst/>
              <a:ahLst/>
              <a:cxnLst/>
              <a:rect r="r" b="b" t="t" l="l"/>
              <a:pathLst>
                <a:path h="732092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7503947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41"/>
                </a:lnSpc>
              </a:pPr>
              <a:r>
                <a:rPr lang="en-US" sz="1951">
                  <a:solidFill>
                    <a:srgbClr val="9AA6BD"/>
                  </a:solidFill>
                  <a:latin typeface="Poppins"/>
                  <a:ea typeface="Poppins"/>
                  <a:cs typeface="Poppins"/>
                  <a:sym typeface="Poppins"/>
                </a:rPr>
                <a:t>V1  ·  13 July 2026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DAHPNUpE8pU</dc:identifier>
  <dcterms:modified xsi:type="dcterms:W3CDTF">2011-08-01T06:04:30Z</dcterms:modified>
  <cp:revision>1</cp:revision>
  <dc:title>Taajeer Automotive</dc:title>
</cp:coreProperties>
</file>
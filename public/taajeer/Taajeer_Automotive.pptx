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8288000" cy="10287000" type="custom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B0E13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emotion-lock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514350"/>
            <a:ext cx="1039810" cy="590550"/>
          </a:xfrm>
          <a:prstGeom prst="rect">
            <a:avLst/>
          </a:prstGeom>
        </p:spPr>
      </p:pic>
      <p:pic>
        <p:nvPicPr>
          <p:cNvPr id="4" name="Picture 3" descr="taaje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6976" y="554745"/>
            <a:ext cx="1364224" cy="4907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066800" y="1409700"/>
            <a:ext cx="16154400" cy="9525"/>
          </a:xfrm>
          <a:prstGeom prst="rect">
            <a:avLst/>
          </a:prstGeom>
          <a:solidFill>
            <a:srgbClr val="FFFFFF">
              <a:alpha val="14902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ounded Rectangle 5"/>
          <p:cNvSpPr/>
          <p:nvPr/>
        </p:nvSpPr>
        <p:spPr>
          <a:xfrm>
            <a:off x="1066800" y="35909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7FB3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19200" y="354330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7FB3D5"/>
                </a:solidFill>
                <a:latin typeface="Calibri"/>
              </a:rPr>
              <a:t>SOCIAL MEDIA STRATEGY  ·  CREATIVE PROPOSAL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943350"/>
            <a:ext cx="14287500" cy="3810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 spc="-150">
                <a:solidFill>
                  <a:srgbClr val="FFFFFF"/>
                </a:solidFill>
                <a:latin typeface="Cambria"/>
              </a:rPr>
              <a:t>A unified social strategy</a:t>
            </a:r>
          </a:p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 spc="-150">
                <a:solidFill>
                  <a:srgbClr val="FFFFFF"/>
                </a:solidFill>
                <a:latin typeface="Cambria"/>
              </a:rPr>
              <a:t>for three brands,</a:t>
            </a:r>
          </a:p>
          <a:p>
            <a:pPr algn="l">
              <a:lnSpc>
                <a:spcPts val="8400"/>
              </a:lnSpc>
              <a:spcBef>
                <a:spcPts val="0"/>
              </a:spcBef>
              <a:spcAft>
                <a:spcPts val="0"/>
              </a:spcAft>
            </a:pPr>
            <a:r>
              <a:rPr sz="7800" b="0" i="0" spc="-150">
                <a:solidFill>
                  <a:srgbClr val="FFFFFF"/>
                </a:solidFill>
                <a:latin typeface="Cambria"/>
              </a:rPr>
              <a:t/>
            </a:r>
            <a:r>
              <a:rPr sz="7800" b="0" i="1" spc="-150">
                <a:solidFill>
                  <a:srgbClr val="FFFFFF"/>
                </a:solidFill>
                <a:latin typeface="Cambria"/>
              </a:rPr>
              <a:t>one group</a:t>
            </a:r>
            <a:r>
              <a:rPr sz="7800" b="0" i="0" spc="-150">
                <a:solidFill>
                  <a:srgbClr val="FFFFFF"/>
                </a:solidFill>
                <a:latin typeface="Cambria"/>
              </a:rPr>
              <a:t>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66800" y="8305800"/>
            <a:ext cx="419100" cy="28575"/>
          </a:xfrm>
          <a:prstGeom prst="rect">
            <a:avLst/>
          </a:prstGeom>
          <a:solidFill>
            <a:srgbClr val="C7CC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066800" y="8534400"/>
            <a:ext cx="381000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FFFFFF"/>
                </a:solidFill>
                <a:latin typeface="Cambria"/>
              </a:rPr>
              <a:t>Bestune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8896350"/>
            <a:ext cx="4191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A3B5"/>
                </a:solidFill>
                <a:latin typeface="Calibri Light"/>
              </a:rPr>
              <a:t>FAW family SUVs &amp; sedans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7950" y="8305800"/>
            <a:ext cx="419100" cy="28575"/>
          </a:xfrm>
          <a:prstGeom prst="rect">
            <a:avLst/>
          </a:prstGeom>
          <a:solidFill>
            <a:srgbClr val="3E9E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457950" y="8534400"/>
            <a:ext cx="381000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FFFFFF"/>
                </a:solidFill>
                <a:latin typeface="Cambria"/>
              </a:rPr>
              <a:t>212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7950" y="8896350"/>
            <a:ext cx="4191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A3B5"/>
                </a:solidFill>
                <a:latin typeface="Calibri Light"/>
              </a:rPr>
              <a:t>Retro heritage off-roader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849100" y="8305800"/>
            <a:ext cx="419100" cy="28575"/>
          </a:xfrm>
          <a:prstGeom prst="rect">
            <a:avLst/>
          </a:prstGeom>
          <a:solidFill>
            <a:srgbClr val="4FA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49100" y="8534400"/>
            <a:ext cx="3810000" cy="2857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0" i="0">
                <a:solidFill>
                  <a:srgbClr val="FFFFFF"/>
                </a:solidFill>
                <a:latin typeface="Cambria"/>
              </a:rPr>
              <a:t>Motor Souq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49100" y="8896350"/>
            <a:ext cx="4191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8FA3B5"/>
                </a:solidFill>
                <a:latin typeface="Calibri Light"/>
              </a:rPr>
              <a:t>Multi-brand dealer, 7 branches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66800" y="9582150"/>
            <a:ext cx="16154400" cy="9525"/>
          </a:xfrm>
          <a:prstGeom prst="rect">
            <a:avLst/>
          </a:prstGeom>
          <a:solidFill>
            <a:srgbClr val="FFFFFF">
              <a:alpha val="12157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66800" y="9772650"/>
            <a:ext cx="57150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July 2026  ·  V1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8700" y="9772650"/>
            <a:ext cx="857250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5D6B7A"/>
                </a:solidFill>
                <a:latin typeface="Calibri Light"/>
              </a:rPr>
              <a:t>Copyright © Emotion Group.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" y="6381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8D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19200" y="5905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8D96A3"/>
                </a:solidFill>
                <a:latin typeface="Calibri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95821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9C0C9"/>
                </a:solidFill>
                <a:latin typeface="Calibri"/>
              </a:rPr>
              <a:t>emotion®  ×  Taajeer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63950" y="9525000"/>
            <a:ext cx="8572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C0C9"/>
                </a:solidFill>
                <a:latin typeface="Calibri Light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219200"/>
            <a:ext cx="16154400" cy="792099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5208"/>
              </a:lnSpc>
              <a:spcBef>
                <a:spcPts val="0"/>
              </a:spcBef>
              <a:spcAft>
                <a:spcPts val="0"/>
              </a:spcAft>
            </a:pPr>
            <a:r>
              <a:rPr sz="4650" b="0" i="0" spc="-65">
                <a:solidFill>
                  <a:srgbClr val="0E1117"/>
                </a:solidFill>
                <a:latin typeface="Cambria"/>
              </a:rPr>
              <a:t>What's </a:t>
            </a:r>
            <a:r>
              <a:rPr sz="4650" b="0" i="1" spc="-65">
                <a:solidFill>
                  <a:srgbClr val="003C60"/>
                </a:solidFill>
                <a:latin typeface="Cambria"/>
              </a:rPr>
              <a:t>inside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66800" y="2857500"/>
            <a:ext cx="5105400" cy="26289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86450" y="2895600"/>
            <a:ext cx="2476500" cy="137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0" b="1" i="0" spc="-270">
                <a:solidFill>
                  <a:srgbClr val="003C60">
                    <a:alpha val="10196"/>
                  </a:srgbClr>
                </a:solidFill>
                <a:latin typeface="Cambria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90650" y="3238500"/>
            <a:ext cx="476250" cy="476250"/>
          </a:xfrm>
          <a:prstGeom prst="roundRect">
            <a:avLst>
              <a:gd name="adj" fmla="val 30000"/>
            </a:avLst>
          </a:prstGeom>
          <a:solidFill>
            <a:srgbClr val="003C60">
              <a:alpha val="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compass-taaje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475" y="3362325"/>
            <a:ext cx="228600" cy="2286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390650" y="3981450"/>
            <a:ext cx="44577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38">
                <a:solidFill>
                  <a:srgbClr val="0E1117"/>
                </a:solidFill>
                <a:latin typeface="Cambria"/>
              </a:rPr>
              <a:t>Overview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90650" y="4495800"/>
            <a:ext cx="42291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Portfolio map, market moment &amp; the strategic thesis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90650" y="5124450"/>
            <a:ext cx="285750" cy="28575"/>
          </a:xfrm>
          <a:prstGeom prst="rect">
            <a:avLst/>
          </a:prstGeom>
          <a:solidFill>
            <a:srgbClr val="003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591300" y="2857500"/>
            <a:ext cx="5105400" cy="26289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410950" y="2895600"/>
            <a:ext cx="2476500" cy="137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0" b="1" i="0" spc="-270">
                <a:solidFill>
                  <a:srgbClr val="1F242B">
                    <a:alpha val="10196"/>
                  </a:srgbClr>
                </a:solidFill>
                <a:latin typeface="Cambria"/>
              </a:rPr>
              <a:t>02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5150" y="3238500"/>
            <a:ext cx="476250" cy="476250"/>
          </a:xfrm>
          <a:prstGeom prst="roundRect">
            <a:avLst>
              <a:gd name="adj" fmla="val 30000"/>
            </a:avLst>
          </a:prstGeom>
          <a:solidFill>
            <a:srgbClr val="1F242B">
              <a:alpha val="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search-best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975" y="3362325"/>
            <a:ext cx="22860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915150" y="3981450"/>
            <a:ext cx="44577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38">
                <a:solidFill>
                  <a:srgbClr val="0E1117"/>
                </a:solidFill>
                <a:latin typeface="Cambria"/>
              </a:rPr>
              <a:t>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15150" y="4495800"/>
            <a:ext cx="42291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Audit, listening, competitors &amp; benchmarks — per brand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15150" y="5124450"/>
            <a:ext cx="285750" cy="28575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12115800" y="2857500"/>
            <a:ext cx="5105400" cy="26289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6935450" y="2895600"/>
            <a:ext cx="2476500" cy="137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0" b="1" i="0" spc="-270">
                <a:solidFill>
                  <a:srgbClr val="00543C">
                    <a:alpha val="10196"/>
                  </a:srgbClr>
                </a:solidFill>
                <a:latin typeface="Cambria"/>
              </a:rPr>
              <a:t>03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439650" y="3238500"/>
            <a:ext cx="476250" cy="476250"/>
          </a:xfrm>
          <a:prstGeom prst="roundRect">
            <a:avLst>
              <a:gd name="adj" fmla="val 30000"/>
            </a:avLst>
          </a:prstGeom>
          <a:solidFill>
            <a:srgbClr val="00543C">
              <a:alpha val="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layers-b2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3475" y="3362325"/>
            <a:ext cx="228600" cy="2286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439650" y="3981450"/>
            <a:ext cx="44577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38">
                <a:solidFill>
                  <a:srgbClr val="0E1117"/>
                </a:solidFill>
                <a:latin typeface="Cambria"/>
              </a:rPr>
              <a:t>Approach &amp; Methodology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9650" y="4495800"/>
            <a:ext cx="42291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How we work: one model, three priorities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39650" y="5124450"/>
            <a:ext cx="285750" cy="28575"/>
          </a:xfrm>
          <a:prstGeom prst="rect">
            <a:avLst/>
          </a:prstGeom>
          <a:solidFill>
            <a:srgbClr val="00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066800" y="5924550"/>
            <a:ext cx="5105400" cy="26289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886450" y="5962650"/>
            <a:ext cx="2476500" cy="137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0" b="1" i="0" spc="-270">
                <a:solidFill>
                  <a:srgbClr val="0C6CB4">
                    <a:alpha val="10196"/>
                  </a:srgbClr>
                </a:solidFill>
                <a:latin typeface="Cambria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90650" y="6305550"/>
            <a:ext cx="476250" cy="476250"/>
          </a:xfrm>
          <a:prstGeom prst="roundRect">
            <a:avLst>
              <a:gd name="adj" fmla="val 30000"/>
            </a:avLst>
          </a:prstGeom>
          <a:solidFill>
            <a:srgbClr val="0C6CB4">
              <a:alpha val="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1" name="Picture 30" descr="users-souq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14475" y="6429375"/>
            <a:ext cx="228600" cy="2286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390650" y="7048500"/>
            <a:ext cx="44577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38">
                <a:solidFill>
                  <a:srgbClr val="0E1117"/>
                </a:solidFill>
                <a:latin typeface="Cambria"/>
              </a:rPr>
              <a:t>Target Audience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90650" y="7562850"/>
            <a:ext cx="42291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Who each brand is really talking to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90650" y="8191500"/>
            <a:ext cx="285750" cy="28575"/>
          </a:xfrm>
          <a:prstGeom prst="rect">
            <a:avLst/>
          </a:prstGeom>
          <a:solidFill>
            <a:srgbClr val="0C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6591300" y="5924550"/>
            <a:ext cx="5105400" cy="26289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1410950" y="5962650"/>
            <a:ext cx="2476500" cy="137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0" b="1" i="0" spc="-270">
                <a:solidFill>
                  <a:srgbClr val="003C60">
                    <a:alpha val="10196"/>
                  </a:srgbClr>
                </a:solidFill>
                <a:latin typeface="Cambria"/>
              </a:rPr>
              <a:t>05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15150" y="6305550"/>
            <a:ext cx="476250" cy="476250"/>
          </a:xfrm>
          <a:prstGeom prst="roundRect">
            <a:avLst>
              <a:gd name="adj" fmla="val 30000"/>
            </a:avLst>
          </a:prstGeom>
          <a:solidFill>
            <a:srgbClr val="003C60">
              <a:alpha val="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8" name="Picture 37" descr="flag-taaje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38975" y="6429375"/>
            <a:ext cx="228600" cy="22860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915150" y="7048500"/>
            <a:ext cx="44577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38">
                <a:solidFill>
                  <a:srgbClr val="0E1117"/>
                </a:solidFill>
                <a:latin typeface="Cambria"/>
              </a:rPr>
              <a:t>Social Media Strategy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15150" y="7562850"/>
            <a:ext cx="42291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Archetypes, positioning, pillars &amp; tone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15150" y="8191500"/>
            <a:ext cx="285750" cy="28575"/>
          </a:xfrm>
          <a:prstGeom prst="rect">
            <a:avLst/>
          </a:prstGeom>
          <a:solidFill>
            <a:srgbClr val="003C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12115800" y="5924550"/>
            <a:ext cx="5105400" cy="2628900"/>
          </a:xfrm>
          <a:prstGeom prst="roundRect">
            <a:avLst>
              <a:gd name="adj" fmla="val 6521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16935450" y="5962650"/>
            <a:ext cx="2476500" cy="1371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0" b="1" i="0" spc="-270">
                <a:solidFill>
                  <a:srgbClr val="1F242B">
                    <a:alpha val="10196"/>
                  </a:srgbClr>
                </a:solidFill>
                <a:latin typeface="Cambria"/>
              </a:rPr>
              <a:t>06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2439650" y="6305550"/>
            <a:ext cx="476250" cy="476250"/>
          </a:xfrm>
          <a:prstGeom prst="roundRect">
            <a:avLst>
              <a:gd name="adj" fmla="val 30000"/>
            </a:avLst>
          </a:prstGeom>
          <a:solidFill>
            <a:srgbClr val="1F242B">
              <a:alpha val="7843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megaphone-bestu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63475" y="6429375"/>
            <a:ext cx="228600" cy="228600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2439650" y="7048500"/>
            <a:ext cx="4457700" cy="4191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0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 spc="-38">
                <a:solidFill>
                  <a:srgbClr val="0E1117"/>
                </a:solidFill>
                <a:latin typeface="Cambria"/>
              </a:rPr>
              <a:t>Channels Strategy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39650" y="7562850"/>
            <a:ext cx="42291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Every platform, every brand, mapped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439650" y="8191500"/>
            <a:ext cx="285750" cy="28575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009650" y="1600200"/>
            <a:ext cx="6667500" cy="2857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19500"/>
              </a:lnSpc>
              <a:spcBef>
                <a:spcPts val="0"/>
              </a:spcBef>
              <a:spcAft>
                <a:spcPts val="0"/>
              </a:spcAft>
            </a:pPr>
            <a:r>
              <a:rPr sz="19500" b="1" i="0" spc="-750">
                <a:solidFill>
                  <a:srgbClr val="191E26"/>
                </a:solidFill>
                <a:latin typeface="Cambria"/>
              </a:rPr>
              <a:t>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66800" y="4048125"/>
            <a:ext cx="66675" cy="66675"/>
          </a:xfrm>
          <a:prstGeom prst="roundRect">
            <a:avLst>
              <a:gd name="adj" fmla="val 50000"/>
            </a:avLst>
          </a:prstGeom>
          <a:solidFill>
            <a:srgbClr val="4FA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219200" y="400050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4FA3DE"/>
                </a:solidFill>
                <a:latin typeface="Calibri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4305300"/>
            <a:ext cx="10477500" cy="12382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7350"/>
              </a:lnSpc>
              <a:spcBef>
                <a:spcPts val="0"/>
              </a:spcBef>
              <a:spcAft>
                <a:spcPts val="0"/>
              </a:spcAft>
            </a:pPr>
            <a:r>
              <a:rPr sz="6900" b="0" i="0" spc="-120">
                <a:solidFill>
                  <a:srgbClr val="FFFFFF"/>
                </a:solidFill>
                <a:latin typeface="Cambria"/>
              </a:rPr>
              <a:t>Overview </a:t>
            </a:r>
            <a:r>
              <a:rPr sz="6900" b="0" i="1" spc="-120">
                <a:solidFill>
                  <a:srgbClr val="4FA3DE"/>
                </a:solidFill>
                <a:latin typeface="Cambria"/>
              </a:rPr>
              <a:t>the thesis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5772150"/>
            <a:ext cx="6667500" cy="6667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FA3B5"/>
                </a:solidFill>
                <a:latin typeface="Calibri Light"/>
              </a:rPr>
              <a:t>Portfolio map, market moment</a:t>
            </a:r>
          </a:p>
          <a:p>
            <a:pPr algn="l">
              <a:lnSpc>
                <a:spcPts val="255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8FA3B5"/>
                </a:solidFill>
                <a:latin typeface="Calibri Light"/>
              </a:rPr>
              <a:t>&amp; the strategic thesis.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53700" y="3771900"/>
            <a:ext cx="5715000" cy="9525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553700" y="3962400"/>
            <a:ext cx="381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A3DE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10900" y="3952875"/>
            <a:ext cx="5334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CDD6"/>
                </a:solidFill>
                <a:latin typeface="Calibri"/>
              </a:rPr>
              <a:t>Three brands, one group, zero shared content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53700" y="4362450"/>
            <a:ext cx="5715000" cy="9525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53700" y="4552950"/>
            <a:ext cx="381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A3DE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10900" y="4543425"/>
            <a:ext cx="5334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CDD6"/>
                </a:solidFill>
                <a:latin typeface="Calibri"/>
              </a:rPr>
              <a:t>The Chinese shift already happened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53700" y="4953000"/>
            <a:ext cx="5715000" cy="9525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553700" y="5143500"/>
            <a:ext cx="381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A3D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0900" y="5133975"/>
            <a:ext cx="5334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CDD6"/>
                </a:solidFill>
                <a:latin typeface="Calibri"/>
              </a:rPr>
              <a:t>Same group. Three different games.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53700" y="5543550"/>
            <a:ext cx="5715000" cy="9525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553700" y="5734050"/>
            <a:ext cx="381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FA3DE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10900" y="5724525"/>
            <a:ext cx="53340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C4CDD6"/>
                </a:solidFill>
                <a:latin typeface="Calibri"/>
              </a:rPr>
              <a:t>This category is won on content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53700" y="6134100"/>
            <a:ext cx="5715000" cy="9525"/>
          </a:xfrm>
          <a:prstGeom prst="rect">
            <a:avLst/>
          </a:prstGeom>
          <a:solidFill>
            <a:srgbClr val="232A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66800" y="95821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4A5666"/>
                </a:solidFill>
                <a:latin typeface="Calibri"/>
              </a:rPr>
              <a:t>emotion®  ×  Taajeer Group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" y="6381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8D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19200" y="5905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8D96A3"/>
                </a:solidFill>
                <a:latin typeface="Calibri"/>
              </a:rPr>
              <a:t>01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95821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9C0C9"/>
                </a:solidFill>
                <a:latin typeface="Calibri"/>
              </a:rPr>
              <a:t>emotion®  ×  Taajeer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63950" y="9525000"/>
            <a:ext cx="8572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C0C9"/>
                </a:solidFill>
                <a:latin typeface="Calibri Light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219200"/>
            <a:ext cx="16154400" cy="1399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872"/>
              </a:lnSpc>
              <a:spcBef>
                <a:spcPts val="0"/>
              </a:spcBef>
              <a:spcAft>
                <a:spcPts val="0"/>
              </a:spcAft>
            </a:pPr>
            <a:r>
              <a:rPr sz="4350" b="0" i="0" spc="-61">
                <a:solidFill>
                  <a:srgbClr val="0E1117"/>
                </a:solidFill>
                <a:latin typeface="Cambria"/>
              </a:rPr>
              <a:t>Three brands, one group,</a:t>
            </a:r>
          </a:p>
          <a:p>
            <a:pPr algn="l">
              <a:lnSpc>
                <a:spcPts val="4872"/>
              </a:lnSpc>
              <a:spcBef>
                <a:spcPts val="0"/>
              </a:spcBef>
              <a:spcAft>
                <a:spcPts val="0"/>
              </a:spcAft>
            </a:pPr>
            <a:r>
              <a:rPr sz="4350" b="0" i="0" spc="-61">
                <a:solidFill>
                  <a:srgbClr val="0E1117"/>
                </a:solidFill>
                <a:latin typeface="Cambria"/>
              </a:rPr>
              <a:t/>
            </a:r>
            <a:r>
              <a:rPr sz="4350" b="0" i="1" spc="-61">
                <a:solidFill>
                  <a:srgbClr val="B23A2E"/>
                </a:solidFill>
                <a:latin typeface="Cambria"/>
              </a:rPr>
              <a:t>zero shared content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895600"/>
            <a:ext cx="1095375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C5563"/>
                </a:solidFill>
                <a:latin typeface="Calibri Light"/>
              </a:rPr>
              <a:t>Taajeer Group runs three separate accounts as if they were three unrelated companies — while two of them share the same hotline.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800" y="3924300"/>
            <a:ext cx="51054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CDD3DA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1238250" y="3924300"/>
            <a:ext cx="4762500" cy="28575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1390650" y="43053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E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users-bestu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22" y="4424172"/>
            <a:ext cx="219456" cy="219456"/>
          </a:xfrm>
          <a:prstGeom prst="rect">
            <a:avLst/>
          </a:prstGeom>
        </p:spPr>
      </p:pic>
      <p:pic>
        <p:nvPicPr>
          <p:cNvPr id="12" name="Picture 11" descr="best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002" y="4343400"/>
            <a:ext cx="879231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0650" y="5086350"/>
            <a:ext cx="445770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1F242B"/>
                </a:solidFill>
                <a:latin typeface="Cambria"/>
              </a:rPr>
              <a:t>@bestune_sa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0650" y="5524500"/>
            <a:ext cx="44577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FAW passenger-vehicle franchise — SUVs and sedans.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90650" y="6286500"/>
            <a:ext cx="4457700" cy="9525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90650" y="6534150"/>
            <a:ext cx="44577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117"/>
                </a:solidFill>
                <a:latin typeface="Cambria"/>
              </a:rPr>
              <a:t>The portfolio's largest account.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90650" y="7277100"/>
            <a:ext cx="142875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spc="-38">
                <a:solidFill>
                  <a:srgbClr val="1F242B"/>
                </a:solidFill>
                <a:latin typeface="Cambria"/>
              </a:rPr>
              <a:t>32K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90650" y="7658100"/>
            <a:ext cx="228600" cy="19050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390650" y="7791450"/>
            <a:ext cx="1428750" cy="166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127">
                <a:solidFill>
                  <a:srgbClr val="8D96A3"/>
                </a:solidFill>
                <a:latin typeface="Calibri"/>
              </a:rPr>
              <a:t>FOLLOWERS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6550" y="7277100"/>
            <a:ext cx="142875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spc="-38">
                <a:solidFill>
                  <a:srgbClr val="1F242B"/>
                </a:solidFill>
                <a:latin typeface="Cambria"/>
              </a:rPr>
              <a:t>2,217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76550" y="7658100"/>
            <a:ext cx="228600" cy="19050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2876550" y="7791450"/>
            <a:ext cx="1428750" cy="166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127">
                <a:solidFill>
                  <a:srgbClr val="8D96A3"/>
                </a:solidFill>
                <a:latin typeface="Calibri"/>
              </a:rPr>
              <a:t>POSTS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91300" y="3924300"/>
            <a:ext cx="51054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BFD6CB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ctangle 23"/>
          <p:cNvSpPr/>
          <p:nvPr/>
        </p:nvSpPr>
        <p:spPr>
          <a:xfrm>
            <a:off x="6762750" y="3924300"/>
            <a:ext cx="4762500" cy="28575"/>
          </a:xfrm>
          <a:prstGeom prst="rect">
            <a:avLst/>
          </a:prstGeom>
          <a:solidFill>
            <a:srgbClr val="00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915150" y="43053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A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6" name="Picture 25" descr="mountain-b2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022" y="4424172"/>
            <a:ext cx="219456" cy="219456"/>
          </a:xfrm>
          <a:prstGeom prst="rect">
            <a:avLst/>
          </a:prstGeom>
        </p:spPr>
      </p:pic>
      <p:pic>
        <p:nvPicPr>
          <p:cNvPr id="27" name="Picture 26" descr="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3151" y="4362450"/>
            <a:ext cx="789597" cy="3429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15150" y="5086350"/>
            <a:ext cx="445770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0543C"/>
                </a:solidFill>
                <a:latin typeface="Cambria"/>
              </a:rPr>
              <a:t>@212_saudi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5150" y="5524500"/>
            <a:ext cx="44577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BAW retro off-road 4×4 franchise.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15150" y="6286500"/>
            <a:ext cx="4457700" cy="9525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915150" y="6534150"/>
            <a:ext cx="44577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117"/>
                </a:solidFill>
                <a:latin typeface="Cambria"/>
              </a:rPr>
              <a:t>The newest account, the strongest story.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15150" y="7277100"/>
            <a:ext cx="142875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spc="-38">
                <a:solidFill>
                  <a:srgbClr val="00543C"/>
                </a:solidFill>
                <a:latin typeface="Cambria"/>
              </a:rPr>
              <a:t>Smallest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15150" y="7658100"/>
            <a:ext cx="228600" cy="19050"/>
          </a:xfrm>
          <a:prstGeom prst="rect">
            <a:avLst/>
          </a:prstGeom>
          <a:solidFill>
            <a:srgbClr val="00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915150" y="7791450"/>
            <a:ext cx="1428750" cy="166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127">
                <a:solidFill>
                  <a:srgbClr val="8D96A3"/>
                </a:solidFill>
                <a:latin typeface="Calibri"/>
              </a:rPr>
              <a:t>FOOTPRINT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01050" y="7277100"/>
            <a:ext cx="142875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spc="-38">
                <a:solidFill>
                  <a:srgbClr val="00543C"/>
                </a:solidFill>
                <a:latin typeface="Cambria"/>
              </a:rPr>
              <a:t>Richest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01050" y="7658100"/>
            <a:ext cx="228600" cy="19050"/>
          </a:xfrm>
          <a:prstGeom prst="rect">
            <a:avLst/>
          </a:prstGeom>
          <a:solidFill>
            <a:srgbClr val="00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01050" y="7791450"/>
            <a:ext cx="1428750" cy="166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127">
                <a:solidFill>
                  <a:srgbClr val="8D96A3"/>
                </a:solidFill>
                <a:latin typeface="Calibri"/>
              </a:rPr>
              <a:t>HERITAGE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115800" y="3924300"/>
            <a:ext cx="5105400" cy="4305300"/>
          </a:xfrm>
          <a:prstGeom prst="roundRect">
            <a:avLst>
              <a:gd name="adj" fmla="val 3982"/>
            </a:avLst>
          </a:prstGeom>
          <a:solidFill>
            <a:srgbClr val="FFFFFF"/>
          </a:solidFill>
          <a:ln w="9525">
            <a:solidFill>
              <a:srgbClr val="B4D2EA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12287250" y="3924300"/>
            <a:ext cx="4762500" cy="28575"/>
          </a:xfrm>
          <a:prstGeom prst="rect">
            <a:avLst/>
          </a:prstGeom>
          <a:solidFill>
            <a:srgbClr val="0C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Rounded Rectangle 39"/>
          <p:cNvSpPr/>
          <p:nvPr/>
        </p:nvSpPr>
        <p:spPr>
          <a:xfrm>
            <a:off x="12439650" y="43053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E9F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1" name="Picture 40" descr="store-sou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8522" y="4424172"/>
            <a:ext cx="219456" cy="219456"/>
          </a:xfrm>
          <a:prstGeom prst="rect">
            <a:avLst/>
          </a:prstGeom>
        </p:spPr>
      </p:pic>
      <p:pic>
        <p:nvPicPr>
          <p:cNvPr id="42" name="Picture 41" descr="motorsou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80638" y="4314825"/>
            <a:ext cx="816552" cy="438150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439650" y="5086350"/>
            <a:ext cx="445770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75" b="1" i="0">
                <a:solidFill>
                  <a:srgbClr val="0C6CB4"/>
                </a:solidFill>
                <a:latin typeface="Cambria"/>
              </a:rPr>
              <a:t>@motorsouq_sa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439650" y="5524500"/>
            <a:ext cx="4457700" cy="5524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87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Multi-brand dealer — seven physical branches.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2439650" y="6286500"/>
            <a:ext cx="4457700" cy="9525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12439650" y="6534150"/>
            <a:ext cx="4457700" cy="571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117"/>
                </a:solidFill>
                <a:latin typeface="Cambria"/>
              </a:rPr>
              <a:t>A sales channel, not a brand voice.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439650" y="7277100"/>
            <a:ext cx="142875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spc="-38">
                <a:solidFill>
                  <a:srgbClr val="0C6CB4"/>
                </a:solidFill>
                <a:latin typeface="Cambria"/>
              </a:rPr>
              <a:t>78K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2439650" y="7658100"/>
            <a:ext cx="228600" cy="19050"/>
          </a:xfrm>
          <a:prstGeom prst="rect">
            <a:avLst/>
          </a:prstGeom>
          <a:solidFill>
            <a:srgbClr val="0C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2439650" y="7791450"/>
            <a:ext cx="1428750" cy="166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127">
                <a:solidFill>
                  <a:srgbClr val="8D96A3"/>
                </a:solidFill>
                <a:latin typeface="Calibri"/>
              </a:rPr>
              <a:t>ON X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3925550" y="7277100"/>
            <a:ext cx="1428750" cy="3238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0" i="0" spc="-38">
                <a:solidFill>
                  <a:srgbClr val="0C6CB4"/>
                </a:solidFill>
                <a:latin typeface="Cambria"/>
              </a:rPr>
              <a:t>≈0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3925550" y="7658100"/>
            <a:ext cx="228600" cy="19050"/>
          </a:xfrm>
          <a:prstGeom prst="rect">
            <a:avLst/>
          </a:prstGeom>
          <a:solidFill>
            <a:srgbClr val="0C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13925550" y="7791450"/>
            <a:ext cx="1428750" cy="166688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1" i="0" spc="127">
                <a:solidFill>
                  <a:srgbClr val="8D96A3"/>
                </a:solidFill>
                <a:latin typeface="Calibri"/>
              </a:rPr>
              <a:t>ENGAGEMENT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19500" y="8515350"/>
            <a:ext cx="9525" cy="247650"/>
          </a:xfrm>
          <a:prstGeom prst="rect">
            <a:avLst/>
          </a:prstGeom>
          <a:solidFill>
            <a:srgbClr val="B9C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4" name="Rectangle 53"/>
          <p:cNvSpPr/>
          <p:nvPr/>
        </p:nvSpPr>
        <p:spPr>
          <a:xfrm>
            <a:off x="14668500" y="8515350"/>
            <a:ext cx="9525" cy="247650"/>
          </a:xfrm>
          <a:prstGeom prst="rect">
            <a:avLst/>
          </a:prstGeom>
          <a:solidFill>
            <a:srgbClr val="B9C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Rectangle 54"/>
          <p:cNvSpPr/>
          <p:nvPr/>
        </p:nvSpPr>
        <p:spPr>
          <a:xfrm>
            <a:off x="3619500" y="8763000"/>
            <a:ext cx="3486150" cy="9525"/>
          </a:xfrm>
          <a:prstGeom prst="rect">
            <a:avLst/>
          </a:prstGeom>
          <a:solidFill>
            <a:srgbClr val="B9C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11182350" y="8763000"/>
            <a:ext cx="3486150" cy="9525"/>
          </a:xfrm>
          <a:prstGeom prst="rect">
            <a:avLst/>
          </a:prstGeom>
          <a:solidFill>
            <a:srgbClr val="B9C0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Rounded Rectangle 56"/>
          <p:cNvSpPr/>
          <p:nvPr/>
        </p:nvSpPr>
        <p:spPr>
          <a:xfrm>
            <a:off x="7105650" y="8591550"/>
            <a:ext cx="342900" cy="342900"/>
          </a:xfrm>
          <a:prstGeom prst="roundRect">
            <a:avLst>
              <a:gd name="adj" fmla="val 3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8" name="Picture 57" descr="phone-mut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94804" y="8680704"/>
            <a:ext cx="164592" cy="164592"/>
          </a:xfrm>
          <a:prstGeom prst="rect">
            <a:avLst/>
          </a:prstGeom>
        </p:spPr>
      </p:pic>
      <p:sp>
        <p:nvSpPr>
          <p:cNvPr id="59" name="TextBox 58"/>
          <p:cNvSpPr txBox="1"/>
          <p:nvPr/>
        </p:nvSpPr>
        <p:spPr>
          <a:xfrm>
            <a:off x="7524750" y="8648700"/>
            <a:ext cx="36576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8D96A3"/>
                </a:solidFill>
                <a:latin typeface="Calibri"/>
              </a:rPr>
              <a:t>Same hotline · 800 749 8888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" y="6381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8D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19200" y="5905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8D96A3"/>
                </a:solidFill>
                <a:latin typeface="Calibri"/>
              </a:rPr>
              <a:t>01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95821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9C0C9"/>
                </a:solidFill>
                <a:latin typeface="Calibri"/>
              </a:rPr>
              <a:t>emotion®  ×  Taajeer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63950" y="9525000"/>
            <a:ext cx="8572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C0C9"/>
                </a:solidFill>
                <a:latin typeface="Calibri Light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219200"/>
            <a:ext cx="16154400" cy="13091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4050" b="0" i="0" spc="-57">
                <a:solidFill>
                  <a:srgbClr val="0E1117"/>
                </a:solidFill>
                <a:latin typeface="Cambria"/>
              </a:rPr>
              <a:t>The Chinese shift already happened.</a:t>
            </a:r>
          </a:p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4050" b="0" i="0" spc="-57">
                <a:solidFill>
                  <a:srgbClr val="0E1117"/>
                </a:solidFill>
                <a:latin typeface="Cambria"/>
              </a:rPr>
              <a:t/>
            </a:r>
            <a:r>
              <a:rPr sz="4050" b="0" i="1" spc="-57">
                <a:solidFill>
                  <a:srgbClr val="B23A2E"/>
                </a:solidFill>
                <a:latin typeface="Cambria"/>
              </a:rPr>
              <a:t>The content shift didn't</a:t>
            </a:r>
            <a:r>
              <a:rPr sz="4050" b="0" i="0" spc="-57">
                <a:solidFill>
                  <a:srgbClr val="0E1117"/>
                </a:solidFill>
                <a:latin typeface="Cambri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781300"/>
            <a:ext cx="990600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C5563"/>
                </a:solidFill>
                <a:latin typeface="Calibri Light"/>
              </a:rPr>
              <a:t>The Saudi buyer no longer sees Chinese brands as a budget alternative — yet these brands still speak in the language of the spec sheet.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800" y="3848100"/>
            <a:ext cx="4762500" cy="2209800"/>
          </a:xfrm>
          <a:prstGeom prst="roundRect">
            <a:avLst>
              <a:gd name="adj" fmla="val 7758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371600" y="4152900"/>
            <a:ext cx="4000500" cy="781812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5940"/>
              </a:lnSpc>
              <a:spcBef>
                <a:spcPts val="0"/>
              </a:spcBef>
              <a:spcAft>
                <a:spcPts val="0"/>
              </a:spcAft>
            </a:pPr>
            <a:r>
              <a:rPr sz="5400" b="0" i="0" spc="-108">
                <a:solidFill>
                  <a:srgbClr val="0E1117"/>
                </a:solidFill>
                <a:latin typeface="Cambria"/>
              </a:rPr>
              <a:t>5th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5017008"/>
            <a:ext cx="323850" cy="28575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371600" y="5188458"/>
            <a:ext cx="4000500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8D96A3"/>
                </a:solidFill>
                <a:latin typeface="Calibri"/>
              </a:rPr>
              <a:t>LARGEST EXPORT MARKET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95900"/>
            <a:ext cx="41529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563"/>
                </a:solidFill>
                <a:latin typeface="Calibri Light"/>
              </a:rPr>
              <a:t>Saudi Arabia is now the world's 5th-largest market for Chinese cars — projected to cross 30% of new-car sales by end-2026.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6800" y="6286500"/>
            <a:ext cx="4762500" cy="2209800"/>
          </a:xfrm>
          <a:prstGeom prst="roundRect">
            <a:avLst>
              <a:gd name="adj" fmla="val 7758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71600" y="6591300"/>
            <a:ext cx="4000500" cy="499491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lnSpc>
                <a:spcPts val="3795"/>
              </a:lnSpc>
              <a:spcBef>
                <a:spcPts val="0"/>
              </a:spcBef>
              <a:spcAft>
                <a:spcPts val="0"/>
              </a:spcAft>
            </a:pPr>
            <a:r>
              <a:rPr sz="3450" b="0" i="0" spc="-69">
                <a:solidFill>
                  <a:srgbClr val="0E1117"/>
                </a:solidFill>
                <a:latin typeface="Cambria"/>
              </a:rPr>
              <a:t>APEAL '25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7143369"/>
            <a:ext cx="323850" cy="28575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71600" y="7314819"/>
            <a:ext cx="4000500" cy="180975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8D96A3"/>
                </a:solidFill>
                <a:latin typeface="Calibri"/>
              </a:rPr>
              <a:t>DIRECT CROSS-SHOP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7543800"/>
            <a:ext cx="4152900" cy="609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165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C5563"/>
                </a:solidFill>
                <a:latin typeface="Calibri Light"/>
              </a:rPr>
              <a:t>J.D. Power 2025 placed Chinese brands in direct competition with Japanese and Korean rivals on design and cabin tech.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600" y="3848100"/>
            <a:ext cx="10896600" cy="4648200"/>
          </a:xfrm>
          <a:prstGeom prst="roundRect">
            <a:avLst>
              <a:gd name="adj" fmla="val 3688"/>
            </a:avLst>
          </a:prstGeom>
          <a:solidFill>
            <a:srgbClr val="FFFFFF"/>
          </a:solidFill>
          <a:ln w="9525">
            <a:solidFill>
              <a:srgbClr val="E6E9ED"/>
            </a:solidFill>
          </a:ln>
          <a:effectLst>
            <a:outerShdw blurRad="190500" dist="57150" dir="5400000" rotWithShape="0">
              <a:srgbClr val="0E1117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6629400" y="4152900"/>
            <a:ext cx="400050" cy="400050"/>
          </a:xfrm>
          <a:prstGeom prst="roundRect">
            <a:avLst>
              <a:gd name="adj" fmla="val 30000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icture 19" descr="play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413" y="4256913"/>
            <a:ext cx="192024" cy="19202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143750" y="4229100"/>
            <a:ext cx="666750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117"/>
                </a:solidFill>
                <a:latin typeface="Cambria"/>
              </a:rPr>
              <a:t>Weekly time spent per user — Saudi platforms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05375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TikTok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39100" y="4876800"/>
            <a:ext cx="7639050" cy="247650"/>
          </a:xfrm>
          <a:prstGeom prst="roundRect">
            <a:avLst>
              <a:gd name="adj" fmla="val 15384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5811500" y="4895850"/>
            <a:ext cx="190500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34h 48m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5362575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Platform 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39100" y="5334000"/>
            <a:ext cx="2502447" cy="247650"/>
          </a:xfrm>
          <a:prstGeom prst="roundRect">
            <a:avLst>
              <a:gd name="adj" fmla="val 15384"/>
            </a:avLst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0674897" y="5353050"/>
            <a:ext cx="190500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D5DC"/>
                </a:solidFill>
                <a:latin typeface="Calibri"/>
              </a:rPr>
              <a:t>11h 24m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5819775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Platform 3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39100" y="5791200"/>
            <a:ext cx="2085373" cy="247650"/>
          </a:xfrm>
          <a:prstGeom prst="roundRect">
            <a:avLst>
              <a:gd name="adj" fmla="val 15384"/>
            </a:avLst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0257823" y="5810250"/>
            <a:ext cx="190500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D5DC"/>
                </a:solidFill>
                <a:latin typeface="Calibri"/>
              </a:rPr>
              <a:t>9h 30m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6276975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Platform 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39100" y="6248400"/>
            <a:ext cx="1800006" cy="247650"/>
          </a:xfrm>
          <a:prstGeom prst="roundRect">
            <a:avLst>
              <a:gd name="adj" fmla="val 15384"/>
            </a:avLst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9972456" y="6267450"/>
            <a:ext cx="190500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D5DC"/>
                </a:solidFill>
                <a:latin typeface="Calibri"/>
              </a:rPr>
              <a:t>8h 12m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6734175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Platform 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39100" y="6705600"/>
            <a:ext cx="1404883" cy="247650"/>
          </a:xfrm>
          <a:prstGeom prst="roundRect">
            <a:avLst>
              <a:gd name="adj" fmla="val 15384"/>
            </a:avLst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577333" y="6724650"/>
            <a:ext cx="190500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D5DC"/>
                </a:solidFill>
                <a:latin typeface="Calibri"/>
              </a:rPr>
              <a:t>6h 24m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7191375"/>
            <a:ext cx="1238250" cy="1905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Platform 6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39100" y="7162800"/>
            <a:ext cx="1141467" cy="247650"/>
          </a:xfrm>
          <a:prstGeom prst="roundRect">
            <a:avLst>
              <a:gd name="adj" fmla="val 15384"/>
            </a:avLst>
          </a:prstGeom>
          <a:solidFill>
            <a:srgbClr val="CFD5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9313917" y="7181850"/>
            <a:ext cx="1905000" cy="2095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FD5DC"/>
                </a:solidFill>
                <a:latin typeface="Calibri"/>
              </a:rPr>
              <a:t>5h 12m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29400" y="7734300"/>
            <a:ext cx="10287000" cy="9525"/>
          </a:xfrm>
          <a:prstGeom prst="rect">
            <a:avLst/>
          </a:prstGeom>
          <a:solidFill>
            <a:srgbClr val="E6E9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629400" y="7962900"/>
            <a:ext cx="8572500" cy="2286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E1117"/>
                </a:solidFill>
                <a:latin typeface="Calibri"/>
              </a:rPr>
              <a:t>TikTok leads — and all three brands are dormant on it.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66800" y="8915400"/>
            <a:ext cx="16154400" cy="800100"/>
          </a:xfrm>
          <a:prstGeom prst="roundRect">
            <a:avLst>
              <a:gd name="adj" fmla="val 16666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1066800" y="906780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371600" y="9172575"/>
            <a:ext cx="1548765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117"/>
                </a:solidFill>
                <a:latin typeface="Calibri"/>
              </a:rPr>
              <a:t>The takeaway</a:t>
            </a:r>
            <a:r>
              <a:rPr sz="1350" b="0" i="0">
                <a:solidFill>
                  <a:srgbClr val="4C5563"/>
                </a:solidFill>
                <a:latin typeface="Calibri"/>
              </a:rPr>
              <a:t>   The shift in buying behaviour is complete. The shift in content has not begun. That gap is the opportunity.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" y="6381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8D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19200" y="5905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8D96A3"/>
                </a:solidFill>
                <a:latin typeface="Calibri"/>
              </a:rPr>
              <a:t>01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95821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9C0C9"/>
                </a:solidFill>
                <a:latin typeface="Calibri"/>
              </a:rPr>
              <a:t>emotion®  ×  Taajeer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63950" y="9525000"/>
            <a:ext cx="8572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C0C9"/>
                </a:solidFill>
                <a:latin typeface="Calibri Light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219200"/>
            <a:ext cx="16154400" cy="13091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4050" b="0" i="0" spc="-57">
                <a:solidFill>
                  <a:srgbClr val="0E1117"/>
                </a:solidFill>
                <a:latin typeface="Cambria"/>
              </a:rPr>
              <a:t>Same group.</a:t>
            </a:r>
          </a:p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4050" b="0" i="0" spc="-57">
                <a:solidFill>
                  <a:srgbClr val="0E1117"/>
                </a:solidFill>
                <a:latin typeface="Cambria"/>
              </a:rPr>
              <a:t/>
            </a:r>
            <a:r>
              <a:rPr sz="4050" b="0" i="1" spc="-57">
                <a:solidFill>
                  <a:srgbClr val="00543C"/>
                </a:solidFill>
                <a:latin typeface="Cambria"/>
              </a:rPr>
              <a:t>Three completely different games</a:t>
            </a:r>
            <a:r>
              <a:rPr sz="4050" b="0" i="0" spc="-57">
                <a:solidFill>
                  <a:srgbClr val="0E1117"/>
                </a:solidFill>
                <a:latin typeface="Cambria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781300"/>
            <a:ext cx="1066800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C5563"/>
                </a:solidFill>
                <a:latin typeface="Calibri Light"/>
              </a:rPr>
              <a:t>The greatest risk in this portfolio is marketing all three brands in the same voice. They are not copies.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800" y="3810000"/>
            <a:ext cx="5105400" cy="4210050"/>
          </a:xfrm>
          <a:prstGeom prst="roundRect">
            <a:avLst>
              <a:gd name="adj" fmla="val 4072"/>
            </a:avLst>
          </a:prstGeom>
          <a:solidFill>
            <a:srgbClr val="EEF1F4"/>
          </a:solidFill>
          <a:ln w="9525">
            <a:solidFill>
              <a:srgbClr val="CDD3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86450" y="3943350"/>
            <a:ext cx="2476500" cy="1143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0" b="1" i="0" spc="-225">
                <a:solidFill>
                  <a:srgbClr val="FFFFFF"/>
                </a:solidFill>
                <a:latin typeface="Cambria"/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90650" y="4191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1" name="Picture 10" descr="shield-check-bestu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22" y="4309872"/>
            <a:ext cx="219456" cy="219456"/>
          </a:xfrm>
          <a:prstGeom prst="rect">
            <a:avLst/>
          </a:prstGeom>
        </p:spPr>
      </p:pic>
      <p:pic>
        <p:nvPicPr>
          <p:cNvPr id="12" name="Picture 11" descr="bestu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9002" y="4229100"/>
            <a:ext cx="879231" cy="381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90650" y="4933950"/>
            <a:ext cx="4457700" cy="819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30">
                <a:solidFill>
                  <a:srgbClr val="1F242B"/>
                </a:solidFill>
                <a:latin typeface="Cambria"/>
              </a:rPr>
              <a:t>The family-trust game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90650" y="5867400"/>
            <a:ext cx="285750" cy="19050"/>
          </a:xfrm>
          <a:prstGeom prst="rect">
            <a:avLst/>
          </a:prstGeom>
          <a:solidFill>
            <a:srgbClr val="1F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90650" y="6134100"/>
            <a:ext cx="440055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SUVs and sedans for the family that cross-shops the Creta and the Camry. The game: justify the price gap over the lower Chinese tier — SAR 83K against 40–45K — anchored by a 5-year / 150,000 km warranty and FAW's 68-year story.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91300" y="3810000"/>
            <a:ext cx="5105400" cy="4210050"/>
          </a:xfrm>
          <a:prstGeom prst="roundRect">
            <a:avLst>
              <a:gd name="adj" fmla="val 4072"/>
            </a:avLst>
          </a:prstGeom>
          <a:solidFill>
            <a:srgbClr val="EAF2EE"/>
          </a:solidFill>
          <a:ln w="9525">
            <a:solidFill>
              <a:srgbClr val="BFD6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1410950" y="3943350"/>
            <a:ext cx="2476500" cy="1143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0" b="1" i="0" spc="-225">
                <a:solidFill>
                  <a:srgbClr val="FFFFFF"/>
                </a:solidFill>
                <a:latin typeface="Cambria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15150" y="4191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ountain-b2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022" y="4309872"/>
            <a:ext cx="219456" cy="219456"/>
          </a:xfrm>
          <a:prstGeom prst="rect">
            <a:avLst/>
          </a:prstGeom>
        </p:spPr>
      </p:pic>
      <p:pic>
        <p:nvPicPr>
          <p:cNvPr id="20" name="Picture 19" descr="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83151" y="4248150"/>
            <a:ext cx="789597" cy="3429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915150" y="4933950"/>
            <a:ext cx="4457700" cy="819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30">
                <a:solidFill>
                  <a:srgbClr val="00543C"/>
                </a:solidFill>
                <a:latin typeface="Cambria"/>
              </a:rPr>
              <a:t>The identity &amp; adventure game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15150" y="5867400"/>
            <a:ext cx="285750" cy="19050"/>
          </a:xfrm>
          <a:prstGeom prst="rect">
            <a:avLst/>
          </a:prstGeom>
          <a:solidFill>
            <a:srgbClr val="005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915150" y="6134100"/>
            <a:ext cx="440055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Not a family car — an enthusiast's tool. It sells heritage (a 1960s military model) and off-road capability, not practicality. The game: own the retro off-roader conversation before Tank 300 locks it down.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15800" y="3810000"/>
            <a:ext cx="5105400" cy="4210050"/>
          </a:xfrm>
          <a:prstGeom prst="roundRect">
            <a:avLst>
              <a:gd name="adj" fmla="val 4072"/>
            </a:avLst>
          </a:prstGeom>
          <a:solidFill>
            <a:srgbClr val="E9F2FA"/>
          </a:solidFill>
          <a:ln w="9525">
            <a:solidFill>
              <a:srgbClr val="B4D2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6935450" y="3943350"/>
            <a:ext cx="2476500" cy="11430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500" b="1" i="0" spc="-225">
                <a:solidFill>
                  <a:srgbClr val="FFFFFF"/>
                </a:solidFill>
                <a:latin typeface="Cambria"/>
              </a:rP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2439650" y="41910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hand-coins-sou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8522" y="4309872"/>
            <a:ext cx="219456" cy="219456"/>
          </a:xfrm>
          <a:prstGeom prst="rect">
            <a:avLst/>
          </a:prstGeom>
        </p:spPr>
      </p:pic>
      <p:pic>
        <p:nvPicPr>
          <p:cNvPr id="28" name="Picture 27" descr="motorsou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80638" y="4200525"/>
            <a:ext cx="816552" cy="43815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439650" y="4933950"/>
            <a:ext cx="4457700" cy="8191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7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30">
                <a:solidFill>
                  <a:srgbClr val="0C6CB4"/>
                </a:solidFill>
                <a:latin typeface="Cambria"/>
              </a:rPr>
              <a:t>Not a brand game at all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439650" y="5867400"/>
            <a:ext cx="285750" cy="19050"/>
          </a:xfrm>
          <a:prstGeom prst="rect">
            <a:avLst/>
          </a:prstGeom>
          <a:solidFill>
            <a:srgbClr val="0C6C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439650" y="6134100"/>
            <a:ext cx="4400550" cy="1714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A retail entity. The game is different: not personality-building, but converting purchase intent into sales — and activating an under-used asset (seven branches) that feeds the sister brands.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6800" y="8534400"/>
            <a:ext cx="16154400" cy="800100"/>
          </a:xfrm>
          <a:prstGeom prst="roundRect">
            <a:avLst>
              <a:gd name="adj" fmla="val 16666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066800" y="868680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371600" y="8791575"/>
            <a:ext cx="1548765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117"/>
                </a:solidFill>
                <a:latin typeface="Calibri"/>
              </a:rPr>
              <a:t>The insight</a:t>
            </a:r>
            <a:r>
              <a:rPr sz="1350" b="0" i="0">
                <a:solidFill>
                  <a:srgbClr val="4C5563"/>
                </a:solidFill>
                <a:latin typeface="Calibri"/>
              </a:rPr>
              <a:t>   Three games demand three content strategies. The adventure tone that fits 212 undermines the reassurance Bestune is built on. Unified in management — never in message.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66800" y="638175"/>
            <a:ext cx="66675" cy="66675"/>
          </a:xfrm>
          <a:prstGeom prst="roundRect">
            <a:avLst>
              <a:gd name="adj" fmla="val 50000"/>
            </a:avLst>
          </a:prstGeom>
          <a:solidFill>
            <a:srgbClr val="8D96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219200" y="590550"/>
            <a:ext cx="85725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75" b="1" i="0" spc="127">
                <a:solidFill>
                  <a:srgbClr val="8D96A3"/>
                </a:solidFill>
                <a:latin typeface="Calibri"/>
              </a:rPr>
              <a:t>01 ·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6800" y="9582150"/>
            <a:ext cx="4953000" cy="1714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2" b="0" i="0">
                <a:solidFill>
                  <a:srgbClr val="B9C0C9"/>
                </a:solidFill>
                <a:latin typeface="Calibri"/>
              </a:rPr>
              <a:t>emotion®  ×  Taajeer Group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363950" y="9525000"/>
            <a:ext cx="857250" cy="24765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B9C0C9"/>
                </a:solidFill>
                <a:latin typeface="Calibri Light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1219200"/>
            <a:ext cx="16154400" cy="130911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4050" b="0" i="0" spc="-57">
                <a:solidFill>
                  <a:srgbClr val="0E1117"/>
                </a:solidFill>
                <a:latin typeface="Cambria"/>
              </a:rPr>
              <a:t>This category is won on </a:t>
            </a:r>
            <a:r>
              <a:rPr sz="4050" b="0" i="1" spc="-57">
                <a:solidFill>
                  <a:srgbClr val="0C6CB4"/>
                </a:solidFill>
                <a:latin typeface="Cambria"/>
              </a:rPr>
              <a:t>content</a:t>
            </a:r>
            <a:r>
              <a:rPr sz="4050" b="0" i="0" spc="-57">
                <a:solidFill>
                  <a:srgbClr val="0E1117"/>
                </a:solidFill>
                <a:latin typeface="Cambria"/>
              </a:rPr>
              <a:t>,</a:t>
            </a:r>
          </a:p>
          <a:p>
            <a:pPr algn="l">
              <a:lnSpc>
                <a:spcPts val="4536"/>
              </a:lnSpc>
              <a:spcBef>
                <a:spcPts val="0"/>
              </a:spcBef>
              <a:spcAft>
                <a:spcPts val="0"/>
              </a:spcAft>
            </a:pPr>
            <a:r>
              <a:rPr sz="4050" b="0" i="0" spc="-57">
                <a:solidFill>
                  <a:srgbClr val="0E1117"/>
                </a:solidFill>
                <a:latin typeface="Cambria"/>
              </a:rPr>
              <a:t>not spec sheets.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6800" y="2781300"/>
            <a:ext cx="11239500" cy="10287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63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4C5563"/>
                </a:solidFill>
                <a:latin typeface="Calibri Light"/>
              </a:rPr>
              <a:t>Every Chinese brand in the Saudi market says the same thing — price, warranty, specs. The winning brand won't be the one with the best specs; it will be the one with the best story.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66800" y="4095750"/>
            <a:ext cx="5105400" cy="3771900"/>
          </a:xfrm>
          <a:prstGeom prst="roundRect">
            <a:avLst>
              <a:gd name="adj" fmla="val 4545"/>
            </a:avLst>
          </a:prstGeom>
          <a:solidFill>
            <a:srgbClr val="F6F8FA"/>
          </a:solidFill>
          <a:ln w="9525">
            <a:solidFill>
              <a:srgbClr val="E6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1390650" y="44577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0" name="Picture 9" descr="trending-up-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9522" y="4576572"/>
            <a:ext cx="219456" cy="219456"/>
          </a:xfrm>
          <a:prstGeom prst="rect">
            <a:avLst/>
          </a:prstGeom>
        </p:spPr>
      </p:pic>
      <p:pic>
        <p:nvPicPr>
          <p:cNvPr id="11" name="Picture 10" descr="jetou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7723" y="4568190"/>
            <a:ext cx="708660" cy="2362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390650" y="5219700"/>
            <a:ext cx="44577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30">
                <a:solidFill>
                  <a:srgbClr val="0E1117"/>
                </a:solidFill>
                <a:latin typeface="Cambria"/>
              </a:rPr>
              <a:t>Won on content, not 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90650" y="6076950"/>
            <a:ext cx="285750" cy="1905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390650" y="6343650"/>
            <a:ext cx="440055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Despite an entry price higher than several rivals, Jetour led Chinese-brand sales in the UAE in 2024 by selling a journey, not a car.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91300" y="4095750"/>
            <a:ext cx="5105400" cy="3771900"/>
          </a:xfrm>
          <a:prstGeom prst="roundRect">
            <a:avLst>
              <a:gd name="adj" fmla="val 4545"/>
            </a:avLst>
          </a:prstGeom>
          <a:solidFill>
            <a:srgbClr val="F6F8FA"/>
          </a:solidFill>
          <a:ln w="9525">
            <a:solidFill>
              <a:srgbClr val="E6E9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6915150" y="44577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7" name="Picture 16" descr="mountain-in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34022" y="4576572"/>
            <a:ext cx="219456" cy="219456"/>
          </a:xfrm>
          <a:prstGeom prst="rect">
            <a:avLst/>
          </a:prstGeom>
        </p:spPr>
      </p:pic>
      <p:pic>
        <p:nvPicPr>
          <p:cNvPr id="18" name="Picture 17" descr="tank3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13948" y="4457700"/>
            <a:ext cx="358616" cy="4572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15150" y="5219700"/>
            <a:ext cx="44577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30">
                <a:solidFill>
                  <a:srgbClr val="0E1117"/>
                </a:solidFill>
                <a:latin typeface="Cambria"/>
              </a:rPr>
              <a:t>Proof, not price ads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15150" y="6076950"/>
            <a:ext cx="285750" cy="19050"/>
          </a:xfrm>
          <a:prstGeom prst="rect">
            <a:avLst/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915150" y="6343650"/>
            <a:ext cx="440055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Tank is locking down the KSA off-road conversation through community content and desert capability — not price advertising.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115800" y="4095750"/>
            <a:ext cx="5105400" cy="3771900"/>
          </a:xfrm>
          <a:prstGeom prst="roundRect">
            <a:avLst>
              <a:gd name="adj" fmla="val 4545"/>
            </a:avLst>
          </a:prstGeom>
          <a:solidFill>
            <a:srgbClr val="FAEFED"/>
          </a:solidFill>
          <a:ln w="9525">
            <a:solidFill>
              <a:srgbClr val="EBD3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2439650" y="4457700"/>
            <a:ext cx="457200" cy="4572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trending-down-ne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58522" y="4576572"/>
            <a:ext cx="219456" cy="21945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182850" y="4552950"/>
            <a:ext cx="1714500" cy="266700"/>
          </a:xfrm>
          <a:prstGeom prst="rect">
            <a:avLst/>
          </a:prstGeom>
          <a:noFill/>
        </p:spPr>
        <p:txBody>
          <a:bodyPr wrap="non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2" b="1" i="0" spc="75">
                <a:solidFill>
                  <a:srgbClr val="B23A2E"/>
                </a:solidFill>
                <a:latin typeface="Calibri"/>
              </a:rPr>
              <a:t>BESTUNE · 212 · MOTOR SOUQ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439650" y="5219700"/>
            <a:ext cx="4457700" cy="74295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625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 spc="-30">
                <a:solidFill>
                  <a:srgbClr val="0E1117"/>
                </a:solidFill>
                <a:latin typeface="Cambria"/>
              </a:rPr>
              <a:t>Static in a video market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439650" y="6076950"/>
            <a:ext cx="285750" cy="19050"/>
          </a:xfrm>
          <a:prstGeom prst="rect">
            <a:avLst/>
          </a:prstGeom>
          <a:solidFill>
            <a:srgbClr val="B2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439650" y="6343650"/>
            <a:ext cx="4400550" cy="13335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4C5563"/>
                </a:solidFill>
                <a:latin typeface="Calibri Light"/>
              </a:rPr>
              <a:t>All three brands spend their energy on static offer posts, in a market watching vertical video 34 hours a week. That gap is ours.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66800" y="8439150"/>
            <a:ext cx="16154400" cy="800100"/>
          </a:xfrm>
          <a:prstGeom prst="roundRect">
            <a:avLst>
              <a:gd name="adj" fmla="val 16666"/>
            </a:avLst>
          </a:prstGeom>
          <a:solidFill>
            <a:srgbClr val="F6F8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1066800" y="8591550"/>
            <a:ext cx="38100" cy="495300"/>
          </a:xfrm>
          <a:prstGeom prst="roundRect">
            <a:avLst>
              <a:gd name="adj" fmla="val 50000"/>
            </a:avLst>
          </a:prstGeom>
          <a:solidFill>
            <a:srgbClr val="0E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371600" y="8696325"/>
            <a:ext cx="15487650" cy="304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0E1117"/>
                </a:solidFill>
                <a:latin typeface="Calibri"/>
              </a:rPr>
              <a:t>The principle</a:t>
            </a:r>
            <a:r>
              <a:rPr sz="1350" b="0" i="0">
                <a:solidFill>
                  <a:srgbClr val="4C5563"/>
                </a:solidFill>
                <a:latin typeface="Calibri"/>
              </a:rPr>
              <a:t>   Everything that follows rests on one idea: stop selling specs, and start building three stories.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